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73255e191114820" /><Relationship Type="http://schemas.openxmlformats.org/officeDocument/2006/relationships/extended-properties" Target="/docProps/app.xml" Id="R72c9b1c94f634bcb" /><Relationship Type="http://schemas.openxmlformats.org/officeDocument/2006/relationships/officeDocument" Target="/ppt/presentation.xml" Id="Re3362a5a24824f8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0a770ac3a4f4a4e"/>
  </p:sldMasterIdLst>
  <p:notesMasterIdLst>
    <p:notesMasterId xmlns:r="http://schemas.openxmlformats.org/officeDocument/2006/relationships" r:id="Rf0c4633e98f64b82"/>
  </p:notesMasterIdLst>
  <p:sldIdLst>
    <p:sldId xmlns:r="http://schemas.openxmlformats.org/officeDocument/2006/relationships" id="256" r:id="Rdde35d90167f4181"/>
    <p:sldId xmlns:r="http://schemas.openxmlformats.org/officeDocument/2006/relationships" id="257" r:id="R95e7443d9b07406e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e09e336656d47ab" /><Relationship Type="http://schemas.openxmlformats.org/officeDocument/2006/relationships/slideMaster" Target="/ppt/slideMasters/slideMaster1.xml" Id="R00a770ac3a4f4a4e" /><Relationship Type="http://schemas.openxmlformats.org/officeDocument/2006/relationships/notesMaster" Target="/ppt/notesMasters/notesMaster1.xml" Id="Rf0c4633e98f64b82" /><Relationship Type="http://schemas.openxmlformats.org/officeDocument/2006/relationships/presProps" Target="/ppt/presProps.xml" Id="Rdf943412d0544480" /><Relationship Type="http://schemas.openxmlformats.org/officeDocument/2006/relationships/tableStyles" Target="/ppt/tableStyles.xml" Id="Reab483dfc5fe4346" /><Relationship Type="http://schemas.openxmlformats.org/officeDocument/2006/relationships/slide" Target="/ppt/slides/slide1.xml" Id="Rdde35d90167f4181" /><Relationship Type="http://schemas.openxmlformats.org/officeDocument/2006/relationships/slide" Target="/ppt/slides/slide2.xml" Id="R95e7443d9b07406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2ce5e3607d8495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189abd550f6464f" /><Relationship Type="http://schemas.openxmlformats.org/officeDocument/2006/relationships/notesMaster" Target="/ppt/notesMasters/notesMaster1.xml" Id="R67be73b2d2044fe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36fba232c114f6f" /><Relationship Type="http://schemas.openxmlformats.org/officeDocument/2006/relationships/notesMaster" Target="/ppt/notesMasters/notesMaster1.xml" Id="Rcf330646b6f6466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93b0aba25594cd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f59d02c6bf64851" /><Relationship Type="http://schemas.openxmlformats.org/officeDocument/2006/relationships/slideLayout" Target="/ppt/slideLayouts/slideLayout1.xml" Id="R8a648710ff6a441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a648710ff6a441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1245ee6dd64e18" /><Relationship Type="http://schemas.openxmlformats.org/officeDocument/2006/relationships/image" Target="/ppt/media/image.jpeg" Id="Rb377f4512b614a65" /><Relationship Type="http://schemas.openxmlformats.org/officeDocument/2006/relationships/notesSlide" Target="/ppt/notesSlides/notesSlide1.xml" Id="Red22e3b5fb12499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a61d2d857b492d" /><Relationship Type="http://schemas.openxmlformats.org/officeDocument/2006/relationships/image" Target="/ppt/media/image.png" Id="R348f0e0d58e1494b" /><Relationship Type="http://schemas.openxmlformats.org/officeDocument/2006/relationships/chart" Target="/ppt/slides/charts/chart1.xml" Id="Rda32f11783384c8d" /><Relationship Type="http://schemas.openxmlformats.org/officeDocument/2006/relationships/notesSlide" Target="/ppt/notesSlides/notesSlide2.xml" Id="R0456089bac334f9c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Faster R-CNN HBB</c:v>
          </c:tx>
          <c:spPr>
            <a:solidFill xmlns:a="http://schemas.openxmlformats.org/drawingml/2006/main">
              <a:srgbClr val="A7ADB7"/>
            </a:solidFill>
          </c:spPr>
          <c:cat>
            <c:strLit>
              <c:ptCount val="2"/>
              <c:pt idx="0">
                <c:v>F1</c:v>
              </c:pt>
              <c:pt idx="1">
                <c:v>mAP50-95</c:v>
              </c:pt>
            </c:strLit>
          </c:cat>
          <c:val>
            <c:numLit>
              <c:formatCode>0.000</c:formatCode>
              <c:ptCount val="2"/>
              <c:pt idx="0">
                <c:v>0.213</c:v>
              </c:pt>
              <c:pt idx="1">
                <c:v>0.06</c:v>
              </c:pt>
            </c:numLit>
          </c:val>
        </c:ser>
        <c:ser>
          <c:idx val="1"/>
          <c:order val="1"/>
          <c:tx>
            <c:v>YOLO26n-OBB-1024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2"/>
              <c:pt idx="0">
                <c:v>F1</c:v>
              </c:pt>
              <c:pt idx="1">
                <c:v>mAP50-95</c:v>
              </c:pt>
            </c:strLit>
          </c:cat>
          <c:val>
            <c:numLit>
              <c:formatCode>0.000</c:formatCode>
              <c:ptCount val="2"/>
              <c:pt idx="0">
                <c:v>0.386</c:v>
              </c:pt>
              <c:pt idx="1">
                <c:v>0.185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 b="1">
                  <a:solidFill>
                    <a:srgbClr val="000000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2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00000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0.4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4E6EA"/>
              </a:solidFill>
              <a:prstDash val="solid"/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0">
            <a:noFill/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D6470"/>
                </a:solidFill>
              </a:defRPr>
            </a:pPr>
          </a:p>
        </c:txPr>
        <c:crossAx val="48650112"/>
        <c:crossBetween val="between"/>
        <c:majorUnit val="0.1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75">
              <a:solidFill>
                <a:srgbClr val="5D6470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6B89773-78E2-486A-9BB0-B5919B8C4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3919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YOLO-OBB suit l’orientation des objets DOTA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23DEF5-AAB5-4DC3-B8D2-C7A4869AC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00150"/>
            <a:ext cx="54292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Pourquoi ce choix 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BEFFD8-2DC2-4502-A613-C3A06833B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81150"/>
            <a:ext cx="54292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t>Petits objets  •  orientations libres  •  scènes denses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9B133D-662A-483B-8AD1-4B3E5018C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200150"/>
            <a:ext cx="14288" cy="474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206187-68BB-4B96-9DD3-1F0C70796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1200150"/>
            <a:ext cx="49530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Le pipeline en cinq étapes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8F0F92-C573-49B8-ABB8-DA2BF1C00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76875"/>
            <a:ext cx="54292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t>OBB : moins d’arrière-plan  •  1024 : plus de détail  •  nano : modèle compact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108A30-EBB8-46AC-BC02-90D388EC7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05550"/>
            <a:ext cx="5715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t>DOTA-v1.0 — modèle principal : YOLO26n-OBB-1024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770DAF-B400-4C73-ADCB-8EBA4F8C4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D8C9B0-1924-46E2-A76B-F7BBD867C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1790700"/>
            <a:ext cx="5524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34F134-C142-44AA-93B3-7517EC30E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790700"/>
            <a:ext cx="4238625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TUILE 1024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A35592-53C5-4311-BAD8-B42527654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085975"/>
            <a:ext cx="4238625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t>Préserver les petits détails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3D1086-B420-472D-9DFA-05BB91AA7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409825"/>
            <a:ext cx="423862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D2229E-22A2-40B6-A8F6-BB417DC02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2609850"/>
            <a:ext cx="5524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D54D67-CCF2-4CCB-97C3-A8EE8267E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609850"/>
            <a:ext cx="4238625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BACKBONE CNN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626157-51A5-4EC1-8CDA-6BC1B63FD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905125"/>
            <a:ext cx="4238625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t>Extraire les caractéristiques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56B7B6-98EB-49DD-8C26-5CEBD4629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228975"/>
            <a:ext cx="423862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F3F69F3-1D05-4710-97F6-97199810F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3429000"/>
            <a:ext cx="5524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E82B712-1AE4-4498-85BF-C56CE6F12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429000"/>
            <a:ext cx="4238625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NECK MULTI-ÉCHELLE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1D10011-9519-46C4-A962-DF0F1D1AC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724275"/>
            <a:ext cx="4238625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t>Fusionner plusieurs résolutions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57ADDA0-7809-4D50-904E-BCD86B592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048125"/>
            <a:ext cx="423862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8009644-2B46-49D5-8F67-CB5262E20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4248150"/>
            <a:ext cx="5524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E2C7AA4-8D03-45FD-8C5C-7384CA981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248150"/>
            <a:ext cx="4238625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TÊTE OBB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715F199-1AAF-4272-A5C0-B65FC9404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543425"/>
            <a:ext cx="4238625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t>Classe, confiance, position et angle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90EAE82-BB97-42A7-A891-5B33192DA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867275"/>
            <a:ext cx="423862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4886CCD-A36B-41B4-AF92-41F4EF309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5067300"/>
            <a:ext cx="5524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05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703021E-C1C3-4064-AEDE-41E4B4CED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5067300"/>
            <a:ext cx="4238625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FILTRAGE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884AF53-F5C2-4AAD-841F-26265C3DF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5362575"/>
            <a:ext cx="4238625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t>Confiance puis NMS orientée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C648E27-76FB-4C31-B7F0-432B81493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5686425"/>
            <a:ext cx="423862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</p:spPr>
      </p:sp>
      <p:pic>
        <p:nvPicPr>
          <p:cNvPr id="5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77f4512b614a65"/>
          <a:srcRect xmlns:a="http://schemas.openxmlformats.org/drawingml/2006/main" l="0" t="19737" r="0" b="1973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00050" y="2000250"/>
            <a:ext cx="5429250" cy="32861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690410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0A8B2B1-9D50-477E-B66E-6F6A4A33B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3919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L’IoU relie la géométrie aux résultats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1745AB-7443-4CB6-956B-4C1CA1D18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28700"/>
            <a:ext cx="113919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t>Même formule pour HBB et OBB ; seule l’intersection polygonale devient plus complexe.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4FA952-07C7-4D4B-B05D-1A505E4C1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43050"/>
            <a:ext cx="14288" cy="443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6F70A9-6F85-409F-A563-1513EA26F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2000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Intersection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CCC90E-617D-43BD-9202-2322EC7EC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2114550"/>
            <a:ext cx="2714625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IoU(A,B) = Aire(A ∩ B)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5CE196-9C61-4DEE-B1A4-AA2872B12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628900"/>
            <a:ext cx="2095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5B72D6-119A-4362-8493-CBAC80688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2743200"/>
            <a:ext cx="2790825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Aire(A) + Aire(B) − Aire(A ∩ B)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5B56BF-05BE-4102-BE9F-FB972089C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695700"/>
            <a:ext cx="257175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t>0 = aucune superposition
1 = superposition parfaite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D19EB3-DB7A-495A-8D4F-B68F7C1B7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05375"/>
            <a:ext cx="5286375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Exemple : 60 / (100 + 100 − 60) = 0,43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192A83-D3EC-464F-B0F5-01A208DA5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81625"/>
            <a:ext cx="5286375" cy="523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t>L’IoU sert à évaluer la localisation et à repérer les prédictions redondantes.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FAA7CC-648E-4070-B335-A97BBB3EC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581150"/>
            <a:ext cx="49530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Validation préliminaire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E005FB-2D87-4A2D-B328-4E6ECE268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591050"/>
            <a:ext cx="22860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7,9 ms/image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622D1C-6E00-42F8-AF98-BF46DFA46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676775"/>
            <a:ext cx="2762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t>contre 17,1 ms pour Faster R-CNN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0A1EF4-ED21-4F19-B5A7-26EE08127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219700"/>
            <a:ext cx="49530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YOLO-OBB est ≈ 2,2× plus rapide et obtient les meilleurs scores dans cette expérience.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C2C0E6-2AD3-4941-A498-F73941A1A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781675"/>
            <a:ext cx="49530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3137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t>Limite : rappel = 0,291 — une partie importante des objets reste manquée.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42CFEB-187E-4D32-94A7-7B9A06E0C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05550"/>
            <a:ext cx="6858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t>Source : validation locale exécutée dans projet_dota_soutenance.ipynb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3A6F670-237B-4FC7-9717-6E1BF5F6D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2</a:t>
            </a:r>
          </a:p>
        </p:txBody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8f0e0d58e1494b"/>
          <a:stretch xmlns:a="http://schemas.openxmlformats.org/drawingml/2006/main"/>
        </p:blipFill>
        <p:spPr>
          <a:xfrm xmlns:a="http://schemas.openxmlformats.org/drawingml/2006/main">
            <a:off x="457200" y="1943100"/>
            <a:ext cx="2724150" cy="2724150"/>
          </a:xfrm>
          <a:prstGeom xmlns:a="http://schemas.openxmlformats.org/drawingml/2006/main" prst="rect">
            <a:avLst/>
          </a:prstGeom>
        </p:spPr>
      </p:pic>
      <p:graphicFrame>
        <p:nvGraphicFramePr>
          <p:cNvPr id="38" name="Chart"/>
          <p:cNvGraphicFramePr/>
          <p:nvPr/>
        </p:nvGraphicFramePr>
        <p:xfrm>
          <a:off xmlns:a="http://schemas.openxmlformats.org/drawingml/2006/main" x="6477000" y="2076450"/>
          <a:ext xmlns:a="http://schemas.openxmlformats.org/drawingml/2006/main" cx="4953000" cy="23050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a32f11783384c8d"/>
          </a:graphicData>
        </a:graphic>
      </p:graphicFrame>
    </p:spTree>
    <p:extLst>
      <p:ext uri="{BB962C8B-B14F-4D97-AF65-F5344CB8AC3E}">
        <p14:creationId xmlns:p14="http://schemas.microsoft.com/office/powerpoint/2010/main" val="44765470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2026-08-06T18:13:39.5810000Z</dcterms:created>
  <dcterms:modified xsi:type="dcterms:W3CDTF">2026-08-06T18:13:39.5810000Z</dcterms:modified>
</coreProperties>
</file>