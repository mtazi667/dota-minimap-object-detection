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6ff2cd5fd04c86" /><Relationship Type="http://schemas.openxmlformats.org/officeDocument/2006/relationships/extended-properties" Target="/docProps/app.xml" Id="R1d37c84a7f5e4a5f" /><Relationship Type="http://schemas.openxmlformats.org/officeDocument/2006/relationships/officeDocument" Target="/ppt/presentation.xml" Id="R6acad9d70b614913" /></Relationships>
</file>

<file path=ppt/presentation.xml><?xml version="1.0" encoding="utf-8"?>
<p:presentation xmlns:p="http://schemas.openxmlformats.org/presentationml/2006/main">
  <p:sldMasterIdLst>
    <p:sldMasterId xmlns:r="http://schemas.openxmlformats.org/officeDocument/2006/relationships" id="2147483648" r:id="R7b01d20e34314167"/>
  </p:sldMasterIdLst>
  <p:notesMasterIdLst>
    <p:notesMasterId xmlns:r="http://schemas.openxmlformats.org/officeDocument/2006/relationships" r:id="Rce17ce73e71d429d"/>
  </p:notesMasterIdLst>
  <p:sldIdLst>
    <p:sldId xmlns:r="http://schemas.openxmlformats.org/officeDocument/2006/relationships" id="256" r:id="R2350d745194c4dd8"/>
    <p:sldId xmlns:r="http://schemas.openxmlformats.org/officeDocument/2006/relationships" id="257" r:id="R8e9c2a0c31f44cae"/>
    <p:sldId xmlns:r="http://schemas.openxmlformats.org/officeDocument/2006/relationships" id="258" r:id="Rb6ef0b237be047a6"/>
    <p:sldId xmlns:r="http://schemas.openxmlformats.org/officeDocument/2006/relationships" id="259" r:id="R96e19afa455147d0"/>
    <p:sldId xmlns:r="http://schemas.openxmlformats.org/officeDocument/2006/relationships" id="260" r:id="R91375d0be71a42d4"/>
    <p:sldId xmlns:r="http://schemas.openxmlformats.org/officeDocument/2006/relationships" id="261" r:id="R45b3655a83404af6"/>
    <p:sldId xmlns:r="http://schemas.openxmlformats.org/officeDocument/2006/relationships" id="262" r:id="Ra201a47378924d3e"/>
    <p:sldId xmlns:r="http://schemas.openxmlformats.org/officeDocument/2006/relationships" id="263" r:id="R5b8add01403347de"/>
    <p:sldId xmlns:r="http://schemas.openxmlformats.org/officeDocument/2006/relationships" id="264" r:id="R7719b10945484df0"/>
    <p:sldId xmlns:r="http://schemas.openxmlformats.org/officeDocument/2006/relationships" id="265" r:id="R90cd6994e311412a"/>
    <p:sldId xmlns:r="http://schemas.openxmlformats.org/officeDocument/2006/relationships" id="266" r:id="R6528ea9fcfb444e3"/>
    <p:sldId xmlns:r="http://schemas.openxmlformats.org/officeDocument/2006/relationships" id="267" r:id="R78628a620fad4aa4"/>
    <p:sldId xmlns:r="http://schemas.openxmlformats.org/officeDocument/2006/relationships" id="268" r:id="Ra96d1ad44cb8498c"/>
    <p:sldId xmlns:r="http://schemas.openxmlformats.org/officeDocument/2006/relationships" id="269" r:id="R1dd8ea1190c64895"/>
    <p:sldId xmlns:r="http://schemas.openxmlformats.org/officeDocument/2006/relationships" id="270" r:id="R5e67f9e1c9de474a"/>
    <p:sldId xmlns:r="http://schemas.openxmlformats.org/officeDocument/2006/relationships" id="271" r:id="R48e481c350b143b0"/>
    <p:sldId xmlns:r="http://schemas.openxmlformats.org/officeDocument/2006/relationships" id="272" r:id="R9abe2c19a98f4ed8"/>
    <p:sldId xmlns:r="http://schemas.openxmlformats.org/officeDocument/2006/relationships" id="273" r:id="Re78c65de29a44ae5"/>
    <p:sldId xmlns:r="http://schemas.openxmlformats.org/officeDocument/2006/relationships" id="274" r:id="R48845dbcef8d4f93"/>
    <p:sldId xmlns:r="http://schemas.openxmlformats.org/officeDocument/2006/relationships" id="275" r:id="R7bc2d33b0ee2449c"/>
    <p:sldId xmlns:r="http://schemas.openxmlformats.org/officeDocument/2006/relationships" id="276" r:id="Rdf2b1fba0abe4927"/>
    <p:sldId xmlns:r="http://schemas.openxmlformats.org/officeDocument/2006/relationships" id="277" r:id="R583df450a63d419c"/>
    <p:sldId xmlns:r="http://schemas.openxmlformats.org/officeDocument/2006/relationships" id="278" r:id="R932209888b1c4795"/>
    <p:sldId xmlns:r="http://schemas.openxmlformats.org/officeDocument/2006/relationships" id="279" r:id="Re095477bbbd54e59"/>
    <p:sldId xmlns:r="http://schemas.openxmlformats.org/officeDocument/2006/relationships" id="280" r:id="Ra5903497b9344337"/>
    <p:sldId xmlns:r="http://schemas.openxmlformats.org/officeDocument/2006/relationships" id="281" r:id="Re681fc0ead11430a"/>
    <p:sldId xmlns:r="http://schemas.openxmlformats.org/officeDocument/2006/relationships" id="282" r:id="R432e40dff1a34e8f"/>
    <p:sldId xmlns:r="http://schemas.openxmlformats.org/officeDocument/2006/relationships" id="283" r:id="R4d3ae7fdd2e9453f"/>
    <p:sldId xmlns:r="http://schemas.openxmlformats.org/officeDocument/2006/relationships" id="284" r:id="R254bee7ec29f4c57"/>
    <p:sldId xmlns:r="http://schemas.openxmlformats.org/officeDocument/2006/relationships" id="285" r:id="R551f5da8231140f3"/>
    <p:sldId xmlns:r="http://schemas.openxmlformats.org/officeDocument/2006/relationships" id="286" r:id="R5e5c86d08b1348b2"/>
    <p:sldId xmlns:r="http://schemas.openxmlformats.org/officeDocument/2006/relationships" id="287" r:id="R8fe5f3d0fec94617"/>
    <p:sldId xmlns:r="http://schemas.openxmlformats.org/officeDocument/2006/relationships" id="288" r:id="R14fc0658618042f0"/>
    <p:sldId xmlns:r="http://schemas.openxmlformats.org/officeDocument/2006/relationships" id="289" r:id="R77cdfac7edd54d46"/>
    <p:sldId xmlns:r="http://schemas.openxmlformats.org/officeDocument/2006/relationships" id="290" r:id="Rf81e0c9a1c9e45f5"/>
    <p:sldId xmlns:r="http://schemas.openxmlformats.org/officeDocument/2006/relationships" id="291" r:id="Reeba79a28c364b1e"/>
    <p:sldId xmlns:r="http://schemas.openxmlformats.org/officeDocument/2006/relationships" id="292" r:id="Ra9aa70157c3b4d5b"/>
    <p:sldId xmlns:r="http://schemas.openxmlformats.org/officeDocument/2006/relationships" id="293" r:id="Rb94131b0986e44c9"/>
    <p:sldId xmlns:r="http://schemas.openxmlformats.org/officeDocument/2006/relationships" id="294" r:id="R5edf8067275c4c9a"/>
    <p:sldId xmlns:r="http://schemas.openxmlformats.org/officeDocument/2006/relationships" id="295" r:id="R324a26674b54424a"/>
    <p:sldId xmlns:r="http://schemas.openxmlformats.org/officeDocument/2006/relationships" id="296" r:id="Ra4d95e89191b4ef8"/>
    <p:sldId xmlns:r="http://schemas.openxmlformats.org/officeDocument/2006/relationships" id="297" r:id="R01cd3b3a55b542ee"/>
    <p:sldId xmlns:r="http://schemas.openxmlformats.org/officeDocument/2006/relationships" id="298" r:id="R0a14a10ced374dd7"/>
    <p:sldId xmlns:r="http://schemas.openxmlformats.org/officeDocument/2006/relationships" id="299" r:id="Rb501d5264ac34fe3"/>
    <p:sldId xmlns:r="http://schemas.openxmlformats.org/officeDocument/2006/relationships" id="300" r:id="R0291c6ab8ef74700"/>
    <p:sldId xmlns:r="http://schemas.openxmlformats.org/officeDocument/2006/relationships" id="301" r:id="Re69a5f9139e8488b"/>
    <p:sldId xmlns:r="http://schemas.openxmlformats.org/officeDocument/2006/relationships" id="302" r:id="Ree5394435747481f"/>
    <p:sldId xmlns:r="http://schemas.openxmlformats.org/officeDocument/2006/relationships" id="303" r:id="R51eb7eb6b2db4128"/>
    <p:sldId xmlns:r="http://schemas.openxmlformats.org/officeDocument/2006/relationships" id="304" r:id="R02546bca53e4440f"/>
    <p:sldId xmlns:r="http://schemas.openxmlformats.org/officeDocument/2006/relationships" id="305" r:id="R5831f30feed34dcc"/>
    <p:sldId xmlns:r="http://schemas.openxmlformats.org/officeDocument/2006/relationships" id="306" r:id="Rdb5e4596e94d4bd7"/>
    <p:sldId xmlns:r="http://schemas.openxmlformats.org/officeDocument/2006/relationships" id="307" r:id="Rd2cf32aeccee4011"/>
    <p:sldId xmlns:r="http://schemas.openxmlformats.org/officeDocument/2006/relationships" id="308" r:id="Rcb4e97c9b20c46ae"/>
    <p:sldId xmlns:r="http://schemas.openxmlformats.org/officeDocument/2006/relationships" id="309" r:id="R4113f1170ffe47ad"/>
    <p:sldId xmlns:r="http://schemas.openxmlformats.org/officeDocument/2006/relationships" id="310" r:id="Rb38eac7aa1784b91"/>
    <p:sldId xmlns:r="http://schemas.openxmlformats.org/officeDocument/2006/relationships" id="311" r:id="R805be2016a924e4d"/>
    <p:sldId xmlns:r="http://schemas.openxmlformats.org/officeDocument/2006/relationships" id="312" r:id="R559ab3556aff4344"/>
    <p:sldId xmlns:r="http://schemas.openxmlformats.org/officeDocument/2006/relationships" id="313" r:id="R12c6b22f466e4a09"/>
    <p:sldId xmlns:r="http://schemas.openxmlformats.org/officeDocument/2006/relationships" id="314" r:id="R9f2cc52002b9443e"/>
    <p:sldId xmlns:r="http://schemas.openxmlformats.org/officeDocument/2006/relationships" id="315" r:id="Rb9540e220c184478"/>
  </p:sldIdLst>
  <p:sldSz cx="10287000" cy="1828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0551b7fe064805" /><Relationship Type="http://schemas.openxmlformats.org/officeDocument/2006/relationships/slideMaster" Target="/ppt/slideMasters/slideMaster1.xml" Id="R7b01d20e34314167" /><Relationship Type="http://schemas.openxmlformats.org/officeDocument/2006/relationships/notesMaster" Target="/ppt/notesMasters/notesMaster1.xml" Id="Rce17ce73e71d429d" /><Relationship Type="http://schemas.openxmlformats.org/officeDocument/2006/relationships/presProps" Target="/ppt/presProps.xml" Id="R9dfb90faf2fc40a7" /><Relationship Type="http://schemas.openxmlformats.org/officeDocument/2006/relationships/tableStyles" Target="/ppt/tableStyles.xml" Id="R9fee2b202c624fdb" /><Relationship Type="http://schemas.openxmlformats.org/officeDocument/2006/relationships/slide" Target="/ppt/slides/slide1.xml" Id="R2350d745194c4dd8" /><Relationship Type="http://schemas.openxmlformats.org/officeDocument/2006/relationships/slide" Target="/ppt/slides/slide2.xml" Id="R8e9c2a0c31f44cae" /><Relationship Type="http://schemas.openxmlformats.org/officeDocument/2006/relationships/slide" Target="/ppt/slides/slide3.xml" Id="Rb6ef0b237be047a6" /><Relationship Type="http://schemas.openxmlformats.org/officeDocument/2006/relationships/slide" Target="/ppt/slides/slide4.xml" Id="R96e19afa455147d0" /><Relationship Type="http://schemas.openxmlformats.org/officeDocument/2006/relationships/slide" Target="/ppt/slides/slide5.xml" Id="R91375d0be71a42d4" /><Relationship Type="http://schemas.openxmlformats.org/officeDocument/2006/relationships/slide" Target="/ppt/slides/slide6.xml" Id="R45b3655a83404af6" /><Relationship Type="http://schemas.openxmlformats.org/officeDocument/2006/relationships/slide" Target="/ppt/slides/slide7.xml" Id="Ra201a47378924d3e" /><Relationship Type="http://schemas.openxmlformats.org/officeDocument/2006/relationships/slide" Target="/ppt/slides/slide8.xml" Id="R5b8add01403347de" /><Relationship Type="http://schemas.openxmlformats.org/officeDocument/2006/relationships/slide" Target="/ppt/slides/slide9.xml" Id="R7719b10945484df0" /><Relationship Type="http://schemas.openxmlformats.org/officeDocument/2006/relationships/slide" Target="/ppt/slides/slide10.xml" Id="R90cd6994e311412a" /><Relationship Type="http://schemas.openxmlformats.org/officeDocument/2006/relationships/slide" Target="/ppt/slides/slide11.xml" Id="R6528ea9fcfb444e3" /><Relationship Type="http://schemas.openxmlformats.org/officeDocument/2006/relationships/slide" Target="/ppt/slides/slide12.xml" Id="R78628a620fad4aa4" /><Relationship Type="http://schemas.openxmlformats.org/officeDocument/2006/relationships/slide" Target="/ppt/slides/slide13.xml" Id="Ra96d1ad44cb8498c" /><Relationship Type="http://schemas.openxmlformats.org/officeDocument/2006/relationships/slide" Target="/ppt/slides/slide14.xml" Id="R1dd8ea1190c64895" /><Relationship Type="http://schemas.openxmlformats.org/officeDocument/2006/relationships/slide" Target="/ppt/slides/slide15.xml" Id="R5e67f9e1c9de474a" /><Relationship Type="http://schemas.openxmlformats.org/officeDocument/2006/relationships/slide" Target="/ppt/slides/slide16.xml" Id="R48e481c350b143b0" /><Relationship Type="http://schemas.openxmlformats.org/officeDocument/2006/relationships/slide" Target="/ppt/slides/slide17.xml" Id="R9abe2c19a98f4ed8" /><Relationship Type="http://schemas.openxmlformats.org/officeDocument/2006/relationships/slide" Target="/ppt/slides/slide18.xml" Id="Re78c65de29a44ae5" /><Relationship Type="http://schemas.openxmlformats.org/officeDocument/2006/relationships/slide" Target="/ppt/slides/slide19.xml" Id="R48845dbcef8d4f93" /><Relationship Type="http://schemas.openxmlformats.org/officeDocument/2006/relationships/slide" Target="/ppt/slides/slide20.xml" Id="R7bc2d33b0ee2449c" /><Relationship Type="http://schemas.openxmlformats.org/officeDocument/2006/relationships/slide" Target="/ppt/slides/slide21.xml" Id="Rdf2b1fba0abe4927" /><Relationship Type="http://schemas.openxmlformats.org/officeDocument/2006/relationships/slide" Target="/ppt/slides/slide22.xml" Id="R583df450a63d419c" /><Relationship Type="http://schemas.openxmlformats.org/officeDocument/2006/relationships/slide" Target="/ppt/slides/slide23.xml" Id="R932209888b1c4795" /><Relationship Type="http://schemas.openxmlformats.org/officeDocument/2006/relationships/slide" Target="/ppt/slides/slide24.xml" Id="Re095477bbbd54e59" /><Relationship Type="http://schemas.openxmlformats.org/officeDocument/2006/relationships/slide" Target="/ppt/slides/slide25.xml" Id="Ra5903497b9344337" /><Relationship Type="http://schemas.openxmlformats.org/officeDocument/2006/relationships/slide" Target="/ppt/slides/slide26.xml" Id="Re681fc0ead11430a" /><Relationship Type="http://schemas.openxmlformats.org/officeDocument/2006/relationships/slide" Target="/ppt/slides/slide27.xml" Id="R432e40dff1a34e8f" /><Relationship Type="http://schemas.openxmlformats.org/officeDocument/2006/relationships/slide" Target="/ppt/slides/slide28.xml" Id="R4d3ae7fdd2e9453f" /><Relationship Type="http://schemas.openxmlformats.org/officeDocument/2006/relationships/slide" Target="/ppt/slides/slide29.xml" Id="R254bee7ec29f4c57" /><Relationship Type="http://schemas.openxmlformats.org/officeDocument/2006/relationships/slide" Target="/ppt/slides/slide30.xml" Id="R551f5da8231140f3" /><Relationship Type="http://schemas.openxmlformats.org/officeDocument/2006/relationships/slide" Target="/ppt/slides/slide31.xml" Id="R5e5c86d08b1348b2" /><Relationship Type="http://schemas.openxmlformats.org/officeDocument/2006/relationships/slide" Target="/ppt/slides/slide32.xml" Id="R8fe5f3d0fec94617" /><Relationship Type="http://schemas.openxmlformats.org/officeDocument/2006/relationships/slide" Target="/ppt/slides/slide33.xml" Id="R14fc0658618042f0" /><Relationship Type="http://schemas.openxmlformats.org/officeDocument/2006/relationships/slide" Target="/ppt/slides/slide34.xml" Id="R77cdfac7edd54d46" /><Relationship Type="http://schemas.openxmlformats.org/officeDocument/2006/relationships/slide" Target="/ppt/slides/slide35.xml" Id="Rf81e0c9a1c9e45f5" /><Relationship Type="http://schemas.openxmlformats.org/officeDocument/2006/relationships/slide" Target="/ppt/slides/slide36.xml" Id="Reeba79a28c364b1e" /><Relationship Type="http://schemas.openxmlformats.org/officeDocument/2006/relationships/slide" Target="/ppt/slides/slide37.xml" Id="Ra9aa70157c3b4d5b" /><Relationship Type="http://schemas.openxmlformats.org/officeDocument/2006/relationships/slide" Target="/ppt/slides/slide38.xml" Id="Rb94131b0986e44c9" /><Relationship Type="http://schemas.openxmlformats.org/officeDocument/2006/relationships/slide" Target="/ppt/slides/slide39.xml" Id="R5edf8067275c4c9a" /><Relationship Type="http://schemas.openxmlformats.org/officeDocument/2006/relationships/slide" Target="/ppt/slides/slide40.xml" Id="R324a26674b54424a" /><Relationship Type="http://schemas.openxmlformats.org/officeDocument/2006/relationships/slide" Target="/ppt/slides/slide41.xml" Id="Ra4d95e89191b4ef8" /><Relationship Type="http://schemas.openxmlformats.org/officeDocument/2006/relationships/slide" Target="/ppt/slides/slide42.xml" Id="R01cd3b3a55b542ee" /><Relationship Type="http://schemas.openxmlformats.org/officeDocument/2006/relationships/slide" Target="/ppt/slides/slide43.xml" Id="R0a14a10ced374dd7" /><Relationship Type="http://schemas.openxmlformats.org/officeDocument/2006/relationships/slide" Target="/ppt/slides/slide44.xml" Id="Rb501d5264ac34fe3" /><Relationship Type="http://schemas.openxmlformats.org/officeDocument/2006/relationships/slide" Target="/ppt/slides/slide45.xml" Id="R0291c6ab8ef74700" /><Relationship Type="http://schemas.openxmlformats.org/officeDocument/2006/relationships/slide" Target="/ppt/slides/slide46.xml" Id="Re69a5f9139e8488b" /><Relationship Type="http://schemas.openxmlformats.org/officeDocument/2006/relationships/slide" Target="/ppt/slides/slide47.xml" Id="Ree5394435747481f" /><Relationship Type="http://schemas.openxmlformats.org/officeDocument/2006/relationships/slide" Target="/ppt/slides/slide48.xml" Id="R51eb7eb6b2db4128" /><Relationship Type="http://schemas.openxmlformats.org/officeDocument/2006/relationships/slide" Target="/ppt/slides/slide49.xml" Id="R02546bca53e4440f" /><Relationship Type="http://schemas.openxmlformats.org/officeDocument/2006/relationships/slide" Target="/ppt/slides/slide50.xml" Id="R5831f30feed34dcc" /><Relationship Type="http://schemas.openxmlformats.org/officeDocument/2006/relationships/slide" Target="/ppt/slides/slide51.xml" Id="Rdb5e4596e94d4bd7" /><Relationship Type="http://schemas.openxmlformats.org/officeDocument/2006/relationships/slide" Target="/ppt/slides/slide52.xml" Id="Rd2cf32aeccee4011" /><Relationship Type="http://schemas.openxmlformats.org/officeDocument/2006/relationships/slide" Target="/ppt/slides/slide53.xml" Id="Rcb4e97c9b20c46ae" /><Relationship Type="http://schemas.openxmlformats.org/officeDocument/2006/relationships/slide" Target="/ppt/slides/slide54.xml" Id="R4113f1170ffe47ad" /><Relationship Type="http://schemas.openxmlformats.org/officeDocument/2006/relationships/slide" Target="/ppt/slides/slide55.xml" Id="Rb38eac7aa1784b91" /><Relationship Type="http://schemas.openxmlformats.org/officeDocument/2006/relationships/slide" Target="/ppt/slides/slide56.xml" Id="R805be2016a924e4d" /><Relationship Type="http://schemas.openxmlformats.org/officeDocument/2006/relationships/slide" Target="/ppt/slides/slide57.xml" Id="R559ab3556aff4344" /><Relationship Type="http://schemas.openxmlformats.org/officeDocument/2006/relationships/slide" Target="/ppt/slides/slide58.xml" Id="R12c6b22f466e4a09" /><Relationship Type="http://schemas.openxmlformats.org/officeDocument/2006/relationships/slide" Target="/ppt/slides/slide59.xml" Id="R9f2cc52002b9443e" /><Relationship Type="http://schemas.openxmlformats.org/officeDocument/2006/relationships/slide" Target="/ppt/slides/slide60.xml" Id="Rb9540e220c1844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aaef00afb948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a74803582d4551" /><Relationship Type="http://schemas.openxmlformats.org/officeDocument/2006/relationships/notesMaster" Target="/ppt/notesMasters/notesMaster1.xml" Id="R22bccb177b2644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5a794358274aab" /><Relationship Type="http://schemas.openxmlformats.org/officeDocument/2006/relationships/notesMaster" Target="/ppt/notesMasters/notesMaster1.xml" Id="R6193e5f7f6a746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af731afc7244af" /><Relationship Type="http://schemas.openxmlformats.org/officeDocument/2006/relationships/notesMaster" Target="/ppt/notesMasters/notesMaster1.xml" Id="R99f62092064b44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472b0406ba4927" /><Relationship Type="http://schemas.openxmlformats.org/officeDocument/2006/relationships/notesMaster" Target="/ppt/notesMasters/notesMaster1.xml" Id="R09fd12cc2f8a41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6cbe4ea6e0491c" /><Relationship Type="http://schemas.openxmlformats.org/officeDocument/2006/relationships/notesMaster" Target="/ppt/notesMasters/notesMaster1.xml" Id="R80f10251e69e43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4370bc0f704207" /><Relationship Type="http://schemas.openxmlformats.org/officeDocument/2006/relationships/notesMaster" Target="/ppt/notesMasters/notesMaster1.xml" Id="R6e2c108c5ea74c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5ccba0fc0f4174" /><Relationship Type="http://schemas.openxmlformats.org/officeDocument/2006/relationships/notesMaster" Target="/ppt/notesMasters/notesMaster1.xml" Id="R3ea9df0ce40541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7b4c8f96e741c4" /><Relationship Type="http://schemas.openxmlformats.org/officeDocument/2006/relationships/notesMaster" Target="/ppt/notesMasters/notesMaster1.xml" Id="R1037f1ddfaa64f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fbc9f08c83406f" /><Relationship Type="http://schemas.openxmlformats.org/officeDocument/2006/relationships/notesMaster" Target="/ppt/notesMasters/notesMaster1.xml" Id="Rdb2e7cd62fae4b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87b3da06ba04a88" /><Relationship Type="http://schemas.openxmlformats.org/officeDocument/2006/relationships/notesMaster" Target="/ppt/notesMasters/notesMaster1.xml" Id="R4e5fc779aed04e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17d5051721448e" /><Relationship Type="http://schemas.openxmlformats.org/officeDocument/2006/relationships/notesMaster" Target="/ppt/notesMasters/notesMaster1.xml" Id="Rff5f8ee6e28a45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094c22cc834b45" /><Relationship Type="http://schemas.openxmlformats.org/officeDocument/2006/relationships/notesMaster" Target="/ppt/notesMasters/notesMaster1.xml" Id="Re7cdf6c722eb46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a57766be12d480d" /><Relationship Type="http://schemas.openxmlformats.org/officeDocument/2006/relationships/notesMaster" Target="/ppt/notesMasters/notesMaster1.xml" Id="Rcd2129c9fefe4dc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8f3500458a42f0" /><Relationship Type="http://schemas.openxmlformats.org/officeDocument/2006/relationships/notesMaster" Target="/ppt/notesMasters/notesMaster1.xml" Id="Rf681a1a8322a4f2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e4e861101e4d12" /><Relationship Type="http://schemas.openxmlformats.org/officeDocument/2006/relationships/notesMaster" Target="/ppt/notesMasters/notesMaster1.xml" Id="Rf62a80c192d346d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99c590ba7146bc" /><Relationship Type="http://schemas.openxmlformats.org/officeDocument/2006/relationships/notesMaster" Target="/ppt/notesMasters/notesMaster1.xml" Id="R229d35713985454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21c3d53aea14124" /><Relationship Type="http://schemas.openxmlformats.org/officeDocument/2006/relationships/notesMaster" Target="/ppt/notesMasters/notesMaster1.xml" Id="R5aa2888633d2445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b2648060ead48c8" /><Relationship Type="http://schemas.openxmlformats.org/officeDocument/2006/relationships/notesMaster" Target="/ppt/notesMasters/notesMaster1.xml" Id="R03df34f78001498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3b0709f288048a2" /><Relationship Type="http://schemas.openxmlformats.org/officeDocument/2006/relationships/notesMaster" Target="/ppt/notesMasters/notesMaster1.xml" Id="R03e13615895d41c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a03b47381b14706" /><Relationship Type="http://schemas.openxmlformats.org/officeDocument/2006/relationships/notesMaster" Target="/ppt/notesMasters/notesMaster1.xml" Id="R3e63d4466e2a454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5e04dedd141456e" /><Relationship Type="http://schemas.openxmlformats.org/officeDocument/2006/relationships/notesMaster" Target="/ppt/notesMasters/notesMaster1.xml" Id="R4b47a03857ee4c1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ea86e929a634be2" /><Relationship Type="http://schemas.openxmlformats.org/officeDocument/2006/relationships/notesMaster" Target="/ppt/notesMasters/notesMaster1.xml" Id="R7966ee48ec324a2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944dde98c8d4b4d" /><Relationship Type="http://schemas.openxmlformats.org/officeDocument/2006/relationships/notesMaster" Target="/ppt/notesMasters/notesMaster1.xml" Id="R33b2655e7e914c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d2ae2d0f94c4d18" /><Relationship Type="http://schemas.openxmlformats.org/officeDocument/2006/relationships/notesMaster" Target="/ppt/notesMasters/notesMaster1.xml" Id="R9fefe2090ce44ca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e2269483fbb456e" /><Relationship Type="http://schemas.openxmlformats.org/officeDocument/2006/relationships/notesMaster" Target="/ppt/notesMasters/notesMaster1.xml" Id="R5426d739edef49f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0a19c58e3c04c61" /><Relationship Type="http://schemas.openxmlformats.org/officeDocument/2006/relationships/notesMaster" Target="/ppt/notesMasters/notesMaster1.xml" Id="R03a6ff107a9447b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ea474d7227f47b6" /><Relationship Type="http://schemas.openxmlformats.org/officeDocument/2006/relationships/notesMaster" Target="/ppt/notesMasters/notesMaster1.xml" Id="Rbc219febd2c840e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7c673a499c44ada" /><Relationship Type="http://schemas.openxmlformats.org/officeDocument/2006/relationships/notesMaster" Target="/ppt/notesMasters/notesMaster1.xml" Id="Re85e39833a32469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a849c34f329417b" /><Relationship Type="http://schemas.openxmlformats.org/officeDocument/2006/relationships/notesMaster" Target="/ppt/notesMasters/notesMaster1.xml" Id="R3c999c5ce6204b0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1662782b5c24124" /><Relationship Type="http://schemas.openxmlformats.org/officeDocument/2006/relationships/notesMaster" Target="/ppt/notesMasters/notesMaster1.xml" Id="R5614c082a4af413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e95ba6e8ef44046" /><Relationship Type="http://schemas.openxmlformats.org/officeDocument/2006/relationships/notesMaster" Target="/ppt/notesMasters/notesMaster1.xml" Id="R5fae6bd551784ee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6cd1c107138404c" /><Relationship Type="http://schemas.openxmlformats.org/officeDocument/2006/relationships/notesMaster" Target="/ppt/notesMasters/notesMaster1.xml" Id="Rc073a0d9e618464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18e94a7d29b4c0f" /><Relationship Type="http://schemas.openxmlformats.org/officeDocument/2006/relationships/notesMaster" Target="/ppt/notesMasters/notesMaster1.xml" Id="Re622e20bfe0a436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44d6b6ff29f4a6c" /><Relationship Type="http://schemas.openxmlformats.org/officeDocument/2006/relationships/notesMaster" Target="/ppt/notesMasters/notesMaster1.xml" Id="Rf93befcda3d3405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4db34ed945c43c0" /><Relationship Type="http://schemas.openxmlformats.org/officeDocument/2006/relationships/notesMaster" Target="/ppt/notesMasters/notesMaster1.xml" Id="R689cda6a4df443e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648822a1ec442d2" /><Relationship Type="http://schemas.openxmlformats.org/officeDocument/2006/relationships/notesMaster" Target="/ppt/notesMasters/notesMaster1.xml" Id="R2d1e654aaa114f0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b2d4203fdb04286" /><Relationship Type="http://schemas.openxmlformats.org/officeDocument/2006/relationships/notesMaster" Target="/ppt/notesMasters/notesMaster1.xml" Id="Rbfc483f550f4456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2d49b50633144d8" /><Relationship Type="http://schemas.openxmlformats.org/officeDocument/2006/relationships/notesMaster" Target="/ppt/notesMasters/notesMaster1.xml" Id="Rb794d957bbb84ab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0b6b16c0f33465f" /><Relationship Type="http://schemas.openxmlformats.org/officeDocument/2006/relationships/notesMaster" Target="/ppt/notesMasters/notesMaster1.xml" Id="R0ff0e50e3fa6451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fcda68ae4f44714" /><Relationship Type="http://schemas.openxmlformats.org/officeDocument/2006/relationships/notesMaster" Target="/ppt/notesMasters/notesMaster1.xml" Id="R94ce1ad89d93465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966c9c24ac84ac4" /><Relationship Type="http://schemas.openxmlformats.org/officeDocument/2006/relationships/notesMaster" Target="/ppt/notesMasters/notesMaster1.xml" Id="R5a21e024fe454aa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e382890ce6c4c11" /><Relationship Type="http://schemas.openxmlformats.org/officeDocument/2006/relationships/notesMaster" Target="/ppt/notesMasters/notesMaster1.xml" Id="R6a38be66d20740a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ad49367cd714344" /><Relationship Type="http://schemas.openxmlformats.org/officeDocument/2006/relationships/notesMaster" Target="/ppt/notesMasters/notesMaster1.xml" Id="Rae82a858cbb6411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37a5cb12d464c53" /><Relationship Type="http://schemas.openxmlformats.org/officeDocument/2006/relationships/notesMaster" Target="/ppt/notesMasters/notesMaster1.xml" Id="R56a68fbe2358468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83936e0f4194025" /><Relationship Type="http://schemas.openxmlformats.org/officeDocument/2006/relationships/notesMaster" Target="/ppt/notesMasters/notesMaster1.xml" Id="R9876dd26d9b142d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606ecd4804a41ea" /><Relationship Type="http://schemas.openxmlformats.org/officeDocument/2006/relationships/notesMaster" Target="/ppt/notesMasters/notesMaster1.xml" Id="R0d9572e38ac042f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7f98ed10f8d47c7" /><Relationship Type="http://schemas.openxmlformats.org/officeDocument/2006/relationships/notesMaster" Target="/ppt/notesMasters/notesMaster1.xml" Id="R0a00962b1a864de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3b366770fbc45f4" /><Relationship Type="http://schemas.openxmlformats.org/officeDocument/2006/relationships/notesMaster" Target="/ppt/notesMasters/notesMaster1.xml" Id="R7789a8df0bfd44e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f6ca78eafa645af" /><Relationship Type="http://schemas.openxmlformats.org/officeDocument/2006/relationships/notesMaster" Target="/ppt/notesMasters/notesMaster1.xml" Id="R9a879294847b4c8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1b041454a694a7a" /><Relationship Type="http://schemas.openxmlformats.org/officeDocument/2006/relationships/notesMaster" Target="/ppt/notesMasters/notesMaster1.xml" Id="Rdc2d6f0df95e491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b3fe49b70e14aac" /><Relationship Type="http://schemas.openxmlformats.org/officeDocument/2006/relationships/notesMaster" Target="/ppt/notesMasters/notesMaster1.xml" Id="R1fb9838495994d8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908874cbd8d4c8f" /><Relationship Type="http://schemas.openxmlformats.org/officeDocument/2006/relationships/notesMaster" Target="/ppt/notesMasters/notesMaster1.xml" Id="R17fef67590db453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63536eb014e4891" /><Relationship Type="http://schemas.openxmlformats.org/officeDocument/2006/relationships/notesMaster" Target="/ppt/notesMasters/notesMaster1.xml" Id="R0c3c054993c4431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98396292a39472f" /><Relationship Type="http://schemas.openxmlformats.org/officeDocument/2006/relationships/notesMaster" Target="/ppt/notesMasters/notesMaster1.xml" Id="R31094f983be7450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04d57f480f34c14" /><Relationship Type="http://schemas.openxmlformats.org/officeDocument/2006/relationships/notesMaster" Target="/ppt/notesMasters/notesMaster1.xml" Id="Rc43a7f29bd2b420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7881d964892545ad" /><Relationship Type="http://schemas.openxmlformats.org/officeDocument/2006/relationships/notesMaster" Target="/ppt/notesMasters/notesMaster1.xml" Id="R2ab64d1beac545b0"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65c54f7d19344c5" /><Relationship Type="http://schemas.openxmlformats.org/officeDocument/2006/relationships/notesMaster" Target="/ppt/notesMasters/notesMaster1.xml" Id="R4a3486e2e36a494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ae3b18da0ef4b61" /><Relationship Type="http://schemas.openxmlformats.org/officeDocument/2006/relationships/notesMaster" Target="/ppt/notesMasters/notesMaster1.xml" Id="R00e69e90f8704333"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3f13164cff94cb5" /><Relationship Type="http://schemas.openxmlformats.org/officeDocument/2006/relationships/notesMaster" Target="/ppt/notesMasters/notesMaster1.xml" Id="R96e0d221ac544323"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40138c7cd614d4d" /><Relationship Type="http://schemas.openxmlformats.org/officeDocument/2006/relationships/notesMaster" Target="/ppt/notesMasters/notesMaster1.xml" Id="R2936f39f376a47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12820365f34a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dade1c512341cd" /><Relationship Type="http://schemas.openxmlformats.org/officeDocument/2006/relationships/slideLayout" Target="/ppt/slideLayouts/slideLayout1.xml" Id="R6689d86cc41648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89d86cc41648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320cd128a64d77" /><Relationship Type="http://schemas.openxmlformats.org/officeDocument/2006/relationships/notesSlide" Target="/ppt/notesSlides/notesSlide1.xml" Id="R7c41e817c61947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8d2fcff28941ed" /><Relationship Type="http://schemas.openxmlformats.org/officeDocument/2006/relationships/notesSlide" Target="/ppt/notesSlides/notesSlide2.xml" Id="Ra3b15bc5652e43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8872dd9acb4ef0" /><Relationship Type="http://schemas.openxmlformats.org/officeDocument/2006/relationships/notesSlide" Target="/ppt/notesSlides/notesSlide3.xml" Id="Rd762e83e298c4a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611ceebd564b68" /><Relationship Type="http://schemas.openxmlformats.org/officeDocument/2006/relationships/notesSlide" Target="/ppt/notesSlides/notesSlide4.xml" Id="R596aba3881cd42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362309fa8e494b" /><Relationship Type="http://schemas.openxmlformats.org/officeDocument/2006/relationships/notesSlide" Target="/ppt/notesSlides/notesSlide5.xml" Id="Rfd821deef5c74d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9625f4cdde34667" /><Relationship Type="http://schemas.openxmlformats.org/officeDocument/2006/relationships/notesSlide" Target="/ppt/notesSlides/notesSlide6.xml" Id="R54b58741cfbb48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c426875b8824335" /><Relationship Type="http://schemas.openxmlformats.org/officeDocument/2006/relationships/notesSlide" Target="/ppt/notesSlides/notesSlide7.xml" Id="R53632caa348a4c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3b6ba7fbe274cd8" /><Relationship Type="http://schemas.openxmlformats.org/officeDocument/2006/relationships/notesSlide" Target="/ppt/notesSlides/notesSlide8.xml" Id="Rf79e8d1dc5c342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a2cc74b96e4a13" /><Relationship Type="http://schemas.openxmlformats.org/officeDocument/2006/relationships/notesSlide" Target="/ppt/notesSlides/notesSlide9.xml" Id="R7e138d0e8c52455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09f4638f8404439" /><Relationship Type="http://schemas.openxmlformats.org/officeDocument/2006/relationships/notesSlide" Target="/ppt/notesSlides/notesSlide10.xml" Id="Re049cc55453741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0a06b8186e043c2" /><Relationship Type="http://schemas.openxmlformats.org/officeDocument/2006/relationships/notesSlide" Target="/ppt/notesSlides/notesSlide11.xml" Id="R88853b091dfd49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dd5cc7964db4eb4" /><Relationship Type="http://schemas.openxmlformats.org/officeDocument/2006/relationships/notesSlide" Target="/ppt/notesSlides/notesSlide12.xml" Id="R6ddf7586885149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0447ea5d821401f" /><Relationship Type="http://schemas.openxmlformats.org/officeDocument/2006/relationships/notesSlide" Target="/ppt/notesSlides/notesSlide13.xml" Id="R885d218f2d5a44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a27efbcabd94594" /><Relationship Type="http://schemas.openxmlformats.org/officeDocument/2006/relationships/notesSlide" Target="/ppt/notesSlides/notesSlide14.xml" Id="Rdc78937cb56f465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4f04f99ead4438e" /><Relationship Type="http://schemas.openxmlformats.org/officeDocument/2006/relationships/notesSlide" Target="/ppt/notesSlides/notesSlide15.xml" Id="R3ed07231aa344d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5581191cafa4aef" /><Relationship Type="http://schemas.openxmlformats.org/officeDocument/2006/relationships/notesSlide" Target="/ppt/notesSlides/notesSlide16.xml" Id="Rc48c7d70d5ab45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04fcff4736441d0" /><Relationship Type="http://schemas.openxmlformats.org/officeDocument/2006/relationships/notesSlide" Target="/ppt/notesSlides/notesSlide17.xml" Id="R20043fb089d74e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16cfcbefce64d92" /><Relationship Type="http://schemas.openxmlformats.org/officeDocument/2006/relationships/notesSlide" Target="/ppt/notesSlides/notesSlide18.xml" Id="Rf55ae202ea9d42f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8474a6a964148ee" /><Relationship Type="http://schemas.openxmlformats.org/officeDocument/2006/relationships/notesSlide" Target="/ppt/notesSlides/notesSlide19.xml" Id="R7ebaabc75c0140b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2c48e9ed1a244ff" /><Relationship Type="http://schemas.openxmlformats.org/officeDocument/2006/relationships/notesSlide" Target="/ppt/notesSlides/notesSlide20.xml" Id="Raedd84c8f625488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4f1f1f36b9c47dc" /><Relationship Type="http://schemas.openxmlformats.org/officeDocument/2006/relationships/notesSlide" Target="/ppt/notesSlides/notesSlide21.xml" Id="Rf9aa0c2ddc28463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c34252872904c5c" /><Relationship Type="http://schemas.openxmlformats.org/officeDocument/2006/relationships/notesSlide" Target="/ppt/notesSlides/notesSlide22.xml" Id="Ra3724ff24f26472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031e8f9a1814733" /><Relationship Type="http://schemas.openxmlformats.org/officeDocument/2006/relationships/notesSlide" Target="/ppt/notesSlides/notesSlide23.xml" Id="R1466196137b7400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4df905c5f454cba" /><Relationship Type="http://schemas.openxmlformats.org/officeDocument/2006/relationships/notesSlide" Target="/ppt/notesSlides/notesSlide24.xml" Id="R4712e77c744f496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8eecca8913e4188" /><Relationship Type="http://schemas.openxmlformats.org/officeDocument/2006/relationships/notesSlide" Target="/ppt/notesSlides/notesSlide25.xml" Id="R974327a0fb1a499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f923c36023f4b64" /><Relationship Type="http://schemas.openxmlformats.org/officeDocument/2006/relationships/notesSlide" Target="/ppt/notesSlides/notesSlide26.xml" Id="Rc5b63a97208b410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38530abaaa645ce" /><Relationship Type="http://schemas.openxmlformats.org/officeDocument/2006/relationships/notesSlide" Target="/ppt/notesSlides/notesSlide27.xml" Id="Rc7bf66cc88b14cd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a7e1cffe4f84d34" /><Relationship Type="http://schemas.openxmlformats.org/officeDocument/2006/relationships/notesSlide" Target="/ppt/notesSlides/notesSlide28.xml" Id="Rf9bac5e835dd46c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d34159fcb534d5f" /><Relationship Type="http://schemas.openxmlformats.org/officeDocument/2006/relationships/notesSlide" Target="/ppt/notesSlides/notesSlide29.xml" Id="R36dae8e2de37477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06a88e1353b48f3" /><Relationship Type="http://schemas.openxmlformats.org/officeDocument/2006/relationships/notesSlide" Target="/ppt/notesSlides/notesSlide30.xml" Id="R0a5870dc09a3474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794bcff69284d4b" /><Relationship Type="http://schemas.openxmlformats.org/officeDocument/2006/relationships/notesSlide" Target="/ppt/notesSlides/notesSlide31.xml" Id="Rbded99d9bdf54c7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b03d27c0c3945fa" /><Relationship Type="http://schemas.openxmlformats.org/officeDocument/2006/relationships/notesSlide" Target="/ppt/notesSlides/notesSlide32.xml" Id="R815f56d99e6a453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c4193237fb74051" /><Relationship Type="http://schemas.openxmlformats.org/officeDocument/2006/relationships/notesSlide" Target="/ppt/notesSlides/notesSlide33.xml" Id="R892b9ed8779a4a1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58c9262cd7440cc" /><Relationship Type="http://schemas.openxmlformats.org/officeDocument/2006/relationships/notesSlide" Target="/ppt/notesSlides/notesSlide34.xml" Id="Rd51f221157df461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a3158d465dc46df" /><Relationship Type="http://schemas.openxmlformats.org/officeDocument/2006/relationships/notesSlide" Target="/ppt/notesSlides/notesSlide35.xml" Id="R002bda8637b1494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585f175d0024ca5" /><Relationship Type="http://schemas.openxmlformats.org/officeDocument/2006/relationships/notesSlide" Target="/ppt/notesSlides/notesSlide36.xml" Id="Refb00638492946c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711d3fd9bcb46ca" /><Relationship Type="http://schemas.openxmlformats.org/officeDocument/2006/relationships/notesSlide" Target="/ppt/notesSlides/notesSlide37.xml" Id="R03388eeaacb5410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6fcb8798c0e4886" /><Relationship Type="http://schemas.openxmlformats.org/officeDocument/2006/relationships/notesSlide" Target="/ppt/notesSlides/notesSlide38.xml" Id="R4680ff099ae7443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df7c280d3154352" /><Relationship Type="http://schemas.openxmlformats.org/officeDocument/2006/relationships/notesSlide" Target="/ppt/notesSlides/notesSlide39.xml" Id="R1c3eed78fc474be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fd48242a0bf47ee" /><Relationship Type="http://schemas.openxmlformats.org/officeDocument/2006/relationships/notesSlide" Target="/ppt/notesSlides/notesSlide40.xml" Id="Ra1dd0bce12f9406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51234461ea64c73" /><Relationship Type="http://schemas.openxmlformats.org/officeDocument/2006/relationships/notesSlide" Target="/ppt/notesSlides/notesSlide41.xml" Id="Re9e848d010004d7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69d84ce54c4a4dab" /><Relationship Type="http://schemas.openxmlformats.org/officeDocument/2006/relationships/notesSlide" Target="/ppt/notesSlides/notesSlide42.xml" Id="R0322bc1289b2477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7606757d05d4df8" /><Relationship Type="http://schemas.openxmlformats.org/officeDocument/2006/relationships/notesSlide" Target="/ppt/notesSlides/notesSlide43.xml" Id="R3d40687134504df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6f0f92c42e24f2a" /><Relationship Type="http://schemas.openxmlformats.org/officeDocument/2006/relationships/notesSlide" Target="/ppt/notesSlides/notesSlide44.xml" Id="Raf030a00c0bf44e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16c16e1faf134bde" /><Relationship Type="http://schemas.openxmlformats.org/officeDocument/2006/relationships/notesSlide" Target="/ppt/notesSlides/notesSlide45.xml" Id="Rbfd96aa2aaa545f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5b232fa155744569" /><Relationship Type="http://schemas.openxmlformats.org/officeDocument/2006/relationships/notesSlide" Target="/ppt/notesSlides/notesSlide46.xml" Id="Raa9d64e8eaa14a2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3f6151bd7a7942eb" /><Relationship Type="http://schemas.openxmlformats.org/officeDocument/2006/relationships/notesSlide" Target="/ppt/notesSlides/notesSlide47.xml" Id="R6dd7d39cc03645f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6aa1036919647a1" /><Relationship Type="http://schemas.openxmlformats.org/officeDocument/2006/relationships/notesSlide" Target="/ppt/notesSlides/notesSlide48.xml" Id="Rf2b2483ec23a4ac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fe672fc36a04aff" /><Relationship Type="http://schemas.openxmlformats.org/officeDocument/2006/relationships/notesSlide" Target="/ppt/notesSlides/notesSlide49.xml" Id="R817ad32997d34fe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e30e3e93eb514931" /><Relationship Type="http://schemas.openxmlformats.org/officeDocument/2006/relationships/notesSlide" Target="/ppt/notesSlides/notesSlide50.xml" Id="Rb78738fc5cb14aa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cae0bd8ef146408c" /><Relationship Type="http://schemas.openxmlformats.org/officeDocument/2006/relationships/notesSlide" Target="/ppt/notesSlides/notesSlide51.xml" Id="R2a5ca47b0d04445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2e2808cd2a304826" /><Relationship Type="http://schemas.openxmlformats.org/officeDocument/2006/relationships/notesSlide" Target="/ppt/notesSlides/notesSlide52.xml" Id="R246f1aa6a25f4f9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e625a469d16c45d1" /><Relationship Type="http://schemas.openxmlformats.org/officeDocument/2006/relationships/notesSlide" Target="/ppt/notesSlides/notesSlide53.xml" Id="R9f169bc6adb04f4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45dc59879be4a2a" /><Relationship Type="http://schemas.openxmlformats.org/officeDocument/2006/relationships/notesSlide" Target="/ppt/notesSlides/notesSlide54.xml" Id="Rebb641e66ef84d6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14dc6c4df89b4cdb" /><Relationship Type="http://schemas.openxmlformats.org/officeDocument/2006/relationships/notesSlide" Target="/ppt/notesSlides/notesSlide55.xml" Id="R72f9b492c9a5435d"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eb28250c29f42b0" /><Relationship Type="http://schemas.openxmlformats.org/officeDocument/2006/relationships/notesSlide" Target="/ppt/notesSlides/notesSlide56.xml" Id="Rae8967b577f849e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ba804298bcbd484b" /><Relationship Type="http://schemas.openxmlformats.org/officeDocument/2006/relationships/notesSlide" Target="/ppt/notesSlides/notesSlide57.xml" Id="R08af6eb5fe974d5f"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692f7cfaf8f4b3d" /><Relationship Type="http://schemas.openxmlformats.org/officeDocument/2006/relationships/notesSlide" Target="/ppt/notesSlides/notesSlide58.xml" Id="R23d50f02c8624bb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cc4ff1c9f61a45a8" /><Relationship Type="http://schemas.openxmlformats.org/officeDocument/2006/relationships/notesSlide" Target="/ppt/notesSlides/notesSlide59.xml" Id="R4c9d1f3a28f34c02"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5d5d85f530364279" /><Relationship Type="http://schemas.openxmlformats.org/officeDocument/2006/relationships/notesSlide" Target="/ppt/notesSlides/notesSlide60.xml" Id="Rab5e57c1099d43e4" /></Relationships>
</file>

<file path=ppt/slides/slide1.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1">
            <a:extLst xmlns:a="http://schemas.openxmlformats.org/drawingml/2006/main">
              <a:ext uri="{FF2B5EF4-FFF2-40B4-BE49-F238E27FC236}">
                <a16:creationId xmlns:a16="http://schemas.microsoft.com/office/drawing/2014/main" id="{C0765E8A-CB6C-4394-8D10-E17F51600175}"/>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INTRODUCTION</a:t>
            </a:r>
          </a:p>
        </p:txBody>
      </p:sp>
      <p:sp>
        <p:nvSpPr>
          <p:cNvPr id="2" name="progress-1">
            <a:extLst xmlns:a="http://schemas.openxmlformats.org/drawingml/2006/main">
              <a:ext uri="{FF2B5EF4-FFF2-40B4-BE49-F238E27FC236}">
                <a16:creationId xmlns:a16="http://schemas.microsoft.com/office/drawing/2014/main" id="{79A2AB92-64F3-41F0-8385-0D95114D2247}"/>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01 / 60</a:t>
            </a:r>
          </a:p>
        </p:txBody>
      </p:sp>
      <p:sp>
        <p:nvSpPr>
          <p:cNvPr id="3" name="title-1">
            <a:extLst xmlns:a="http://schemas.openxmlformats.org/drawingml/2006/main">
              <a:ext uri="{FF2B5EF4-FFF2-40B4-BE49-F238E27FC236}">
                <a16:creationId xmlns:a16="http://schemas.microsoft.com/office/drawing/2014/main" id="{D26D4ED4-402F-4453-A1EB-C1F9C1A60E1A}"/>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INTRODUCTION</a:t>
            </a:r>
          </a:p>
        </p:txBody>
      </p:sp>
      <p:sp>
        <p:nvSpPr>
          <p:cNvPr id="4" name="accent-1">
            <a:extLst xmlns:a="http://schemas.openxmlformats.org/drawingml/2006/main">
              <a:ext uri="{FF2B5EF4-FFF2-40B4-BE49-F238E27FC236}">
                <a16:creationId xmlns:a16="http://schemas.microsoft.com/office/drawing/2014/main" id="{34B98F64-F0C4-49F0-BBBC-A031003212B9}"/>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1">
            <a:extLst xmlns:a="http://schemas.openxmlformats.org/drawingml/2006/main">
              <a:ext uri="{FF2B5EF4-FFF2-40B4-BE49-F238E27FC236}">
                <a16:creationId xmlns:a16="http://schemas.microsoft.com/office/drawing/2014/main" id="{E192DAB1-C992-494F-868F-F9A9C8F87FD3}"/>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050" b="0">
                <a:solidFill>
                  <a:srgbClr val="F6FAFC"/>
                </a:solidFill>
                <a:latin typeface="Arial"/>
                <a:ea typeface="Arial"/>
                <a:cs typeface="Arial"/>
              </a:defRPr>
            </a:pPr>
            <a:r>
              <a:rPr sz="4050" b="0">
                <a:solidFill>
                  <a:srgbClr val="F6FAFC"/>
                </a:solidFill>
                <a:latin typeface="Arial"/>
                <a:ea typeface="Arial"/>
                <a:cs typeface="Arial"/>
              </a:rPr>
              <a:t>Alors, bonjour. Aujourd'hui, je vais vous présenter une partie de mon projet qui porte sur la détection d'objets dans des images aériennes.</a:t>
            </a:r>
          </a:p>
        </p:txBody>
      </p:sp>
      <p:sp>
        <p:nvSpPr>
          <p:cNvPr id="6" name="progress-track-1">
            <a:extLst xmlns:a="http://schemas.openxmlformats.org/drawingml/2006/main">
              <a:ext uri="{FF2B5EF4-FFF2-40B4-BE49-F238E27FC236}">
                <a16:creationId xmlns:a16="http://schemas.microsoft.com/office/drawing/2014/main" id="{4CD45B8F-DE04-43F0-9553-6FCB0FFA841F}"/>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1">
            <a:extLst xmlns:a="http://schemas.openxmlformats.org/drawingml/2006/main">
              <a:ext uri="{FF2B5EF4-FFF2-40B4-BE49-F238E27FC236}">
                <a16:creationId xmlns:a16="http://schemas.microsoft.com/office/drawing/2014/main" id="{F8F5C66F-F909-4EB7-9B3D-4D6638899781}"/>
              </a:ext>
            </a:extLst>
          </p:cNvPr>
          <p:cNvSpPr>
            <a:spLocks xmlns:a="http://schemas.openxmlformats.org/drawingml/2006/main" noGrp="1"/>
          </p:cNvSpPr>
          <p:nvPr/>
        </p:nvSpPr>
        <p:spPr>
          <a:xfrm xmlns:a="http://schemas.openxmlformats.org/drawingml/2006/main">
            <a:off x="952500" y="17002125"/>
            <a:ext cx="1397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1">
            <a:extLst xmlns:a="http://schemas.openxmlformats.org/drawingml/2006/main">
              <a:ext uri="{FF2B5EF4-FFF2-40B4-BE49-F238E27FC236}">
                <a16:creationId xmlns:a16="http://schemas.microsoft.com/office/drawing/2014/main" id="{8B65B6DA-71A9-4BA0-8E1A-B1E2D0E71DAA}"/>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777359005"/>
      </p:ext>
    </p:extLst>
  </p:cSld>
</p:sld>
</file>

<file path=ppt/slides/slide2.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2">
            <a:extLst xmlns:a="http://schemas.openxmlformats.org/drawingml/2006/main">
              <a:ext uri="{FF2B5EF4-FFF2-40B4-BE49-F238E27FC236}">
                <a16:creationId xmlns:a16="http://schemas.microsoft.com/office/drawing/2014/main" id="{53882E2B-E233-48A9-88DE-F9AFDCB198EE}"/>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INTRODUCTION</a:t>
            </a:r>
          </a:p>
        </p:txBody>
      </p:sp>
      <p:sp>
        <p:nvSpPr>
          <p:cNvPr id="2" name="progress-2">
            <a:extLst xmlns:a="http://schemas.openxmlformats.org/drawingml/2006/main">
              <a:ext uri="{FF2B5EF4-FFF2-40B4-BE49-F238E27FC236}">
                <a16:creationId xmlns:a16="http://schemas.microsoft.com/office/drawing/2014/main" id="{D5F9F210-DEEC-4781-BD53-4F02DB5797C0}"/>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02 / 60</a:t>
            </a:r>
          </a:p>
        </p:txBody>
      </p:sp>
      <p:sp>
        <p:nvSpPr>
          <p:cNvPr id="3" name="title-2">
            <a:extLst xmlns:a="http://schemas.openxmlformats.org/drawingml/2006/main">
              <a:ext uri="{FF2B5EF4-FFF2-40B4-BE49-F238E27FC236}">
                <a16:creationId xmlns:a16="http://schemas.microsoft.com/office/drawing/2014/main" id="{E1FABA99-4353-478D-8F8E-54F41F6FC248}"/>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DOTA 1.0</a:t>
            </a:r>
          </a:p>
        </p:txBody>
      </p:sp>
      <p:sp>
        <p:nvSpPr>
          <p:cNvPr id="4" name="accent-2">
            <a:extLst xmlns:a="http://schemas.openxmlformats.org/drawingml/2006/main">
              <a:ext uri="{FF2B5EF4-FFF2-40B4-BE49-F238E27FC236}">
                <a16:creationId xmlns:a16="http://schemas.microsoft.com/office/drawing/2014/main" id="{B17F8E5F-A987-44D9-96C3-96E48ABACDE5}"/>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2">
            <a:extLst xmlns:a="http://schemas.openxmlformats.org/drawingml/2006/main">
              <a:ext uri="{FF2B5EF4-FFF2-40B4-BE49-F238E27FC236}">
                <a16:creationId xmlns:a16="http://schemas.microsoft.com/office/drawing/2014/main" id="{3AF0886C-478C-4914-AEB1-01411BFCF597}"/>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Le jeu de données que j'ai utilisé, c'est celui de DOTA 1.0. Il contient des images aériennes de différents types, avec par exemple des avions, des navires, des ponts, etc. L'objectif, c'est d'avoir un modèle capable de localiser automatiquement ces objets et de les identifier.</a:t>
            </a:r>
          </a:p>
        </p:txBody>
      </p:sp>
      <p:sp>
        <p:nvSpPr>
          <p:cNvPr id="6" name="progress-track-2">
            <a:extLst xmlns:a="http://schemas.openxmlformats.org/drawingml/2006/main">
              <a:ext uri="{FF2B5EF4-FFF2-40B4-BE49-F238E27FC236}">
                <a16:creationId xmlns:a16="http://schemas.microsoft.com/office/drawing/2014/main" id="{97D24B52-8D7E-4573-8A75-73EFAC2B2D87}"/>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2">
            <a:extLst xmlns:a="http://schemas.openxmlformats.org/drawingml/2006/main">
              <a:ext uri="{FF2B5EF4-FFF2-40B4-BE49-F238E27FC236}">
                <a16:creationId xmlns:a16="http://schemas.microsoft.com/office/drawing/2014/main" id="{A5FE61BB-7BF5-469A-95C0-A63C9310E6DC}"/>
              </a:ext>
            </a:extLst>
          </p:cNvPr>
          <p:cNvSpPr>
            <a:spLocks xmlns:a="http://schemas.openxmlformats.org/drawingml/2006/main" noGrp="1"/>
          </p:cNvSpPr>
          <p:nvPr/>
        </p:nvSpPr>
        <p:spPr>
          <a:xfrm xmlns:a="http://schemas.openxmlformats.org/drawingml/2006/main">
            <a:off x="952500" y="17002125"/>
            <a:ext cx="2794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2">
            <a:extLst xmlns:a="http://schemas.openxmlformats.org/drawingml/2006/main">
              <a:ext uri="{FF2B5EF4-FFF2-40B4-BE49-F238E27FC236}">
                <a16:creationId xmlns:a16="http://schemas.microsoft.com/office/drawing/2014/main" id="{A3B99F87-C89A-4D88-BC53-00C5D99E7C9D}"/>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30748283"/>
      </p:ext>
    </p:extLst>
  </p:cSld>
</p:sld>
</file>

<file path=ppt/slides/slide3.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3">
            <a:extLst xmlns:a="http://schemas.openxmlformats.org/drawingml/2006/main">
              <a:ext uri="{FF2B5EF4-FFF2-40B4-BE49-F238E27FC236}">
                <a16:creationId xmlns:a16="http://schemas.microsoft.com/office/drawing/2014/main" id="{9BE32548-589F-4A1E-AF32-89E13440C4B4}"/>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INTRODUCTION</a:t>
            </a:r>
          </a:p>
        </p:txBody>
      </p:sp>
      <p:sp>
        <p:nvSpPr>
          <p:cNvPr id="2" name="progress-3">
            <a:extLst xmlns:a="http://schemas.openxmlformats.org/drawingml/2006/main">
              <a:ext uri="{FF2B5EF4-FFF2-40B4-BE49-F238E27FC236}">
                <a16:creationId xmlns:a16="http://schemas.microsoft.com/office/drawing/2014/main" id="{00B92C2C-6E3C-4986-8CDE-A9BDD9881269}"/>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03 / 60</a:t>
            </a:r>
          </a:p>
        </p:txBody>
      </p:sp>
      <p:sp>
        <p:nvSpPr>
          <p:cNvPr id="3" name="title-3">
            <a:extLst xmlns:a="http://schemas.openxmlformats.org/drawingml/2006/main">
              <a:ext uri="{FF2B5EF4-FFF2-40B4-BE49-F238E27FC236}">
                <a16:creationId xmlns:a16="http://schemas.microsoft.com/office/drawing/2014/main" id="{0CC531B5-A5E8-48E2-AEDD-88B2A28EBA87}"/>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MODÈLE RETENU</a:t>
            </a:r>
          </a:p>
        </p:txBody>
      </p:sp>
      <p:sp>
        <p:nvSpPr>
          <p:cNvPr id="4" name="accent-3">
            <a:extLst xmlns:a="http://schemas.openxmlformats.org/drawingml/2006/main">
              <a:ext uri="{FF2B5EF4-FFF2-40B4-BE49-F238E27FC236}">
                <a16:creationId xmlns:a16="http://schemas.microsoft.com/office/drawing/2014/main" id="{A957D8D5-7BF8-40D3-A581-78526F1D81ED}"/>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3">
            <a:extLst xmlns:a="http://schemas.openxmlformats.org/drawingml/2006/main">
              <a:ext uri="{FF2B5EF4-FFF2-40B4-BE49-F238E27FC236}">
                <a16:creationId xmlns:a16="http://schemas.microsoft.com/office/drawing/2014/main" id="{62F490EA-735C-4C2D-B21A-4D560CCD5D1B}"/>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Donc, pour cette présentation, je vais me concentrer sur le modèle que j'ai retenu : YOLO avec des boîtes orientées, en résolution 1024 par 1024. Pour le comparer, j'ai aussi utilisé Faster R-CNN avec des boîtes horizontales. Mais au final, YOLO avec des boîtes orientées m'a donné de meilleurs résultats.</a:t>
            </a:r>
          </a:p>
        </p:txBody>
      </p:sp>
      <p:sp>
        <p:nvSpPr>
          <p:cNvPr id="6" name="progress-track-3">
            <a:extLst xmlns:a="http://schemas.openxmlformats.org/drawingml/2006/main">
              <a:ext uri="{FF2B5EF4-FFF2-40B4-BE49-F238E27FC236}">
                <a16:creationId xmlns:a16="http://schemas.microsoft.com/office/drawing/2014/main" id="{C1F88236-6B3D-40FB-AF81-769254DB75AB}"/>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3">
            <a:extLst xmlns:a="http://schemas.openxmlformats.org/drawingml/2006/main">
              <a:ext uri="{FF2B5EF4-FFF2-40B4-BE49-F238E27FC236}">
                <a16:creationId xmlns:a16="http://schemas.microsoft.com/office/drawing/2014/main" id="{580DAE70-5268-41A7-8315-BBED19D82AEE}"/>
              </a:ext>
            </a:extLst>
          </p:cNvPr>
          <p:cNvSpPr>
            <a:spLocks xmlns:a="http://schemas.openxmlformats.org/drawingml/2006/main" noGrp="1"/>
          </p:cNvSpPr>
          <p:nvPr/>
        </p:nvSpPr>
        <p:spPr>
          <a:xfrm xmlns:a="http://schemas.openxmlformats.org/drawingml/2006/main">
            <a:off x="952500" y="17002125"/>
            <a:ext cx="4191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3">
            <a:extLst xmlns:a="http://schemas.openxmlformats.org/drawingml/2006/main">
              <a:ext uri="{FF2B5EF4-FFF2-40B4-BE49-F238E27FC236}">
                <a16:creationId xmlns:a16="http://schemas.microsoft.com/office/drawing/2014/main" id="{658B21C4-7740-4D41-B440-42023EE00E0D}"/>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624519441"/>
      </p:ext>
    </p:extLst>
  </p:cSld>
</p:sld>
</file>

<file path=ppt/slides/slide4.xml><?xml version="1.0" encoding="utf-8"?>
<p:sld xmlns:p="http://schemas.openxmlformats.org/presentationml/2006/main">
  <p:cSld>
    <p:bg>
      <p:bgPr>
        <a:solidFill xmlns:a="http://schemas.openxmlformats.org/drawingml/2006/main">
          <a:srgbClr val="211907"/>
        </a:solidFill>
      </p:bgPr>
    </p:bg>
    <p:spTree>
      <p:nvGrpSpPr>
        <p:cNvPr id="1" name=""/>
        <p:cNvGrpSpPr/>
        <p:nvPr/>
      </p:nvGrpSpPr>
      <p:grpSpPr>
        <a:xfrm xmlns:a="http://schemas.openxmlformats.org/drawingml/2006/main"/>
      </p:grpSpPr>
      <p:sp>
        <p:nvSpPr>
          <p:cNvPr id="1" name="section-4">
            <a:extLst xmlns:a="http://schemas.openxmlformats.org/drawingml/2006/main">
              <a:ext uri="{FF2B5EF4-FFF2-40B4-BE49-F238E27FC236}">
                <a16:creationId xmlns:a16="http://schemas.microsoft.com/office/drawing/2014/main" id="{748003B2-D46A-4230-BD0B-2B0D61DF9861}"/>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9C386"/>
                </a:solidFill>
                <a:latin typeface="Arial"/>
                <a:ea typeface="Arial"/>
                <a:cs typeface="Arial"/>
              </a:defRPr>
            </a:pPr>
            <a:r>
              <a:rPr sz="1650" b="1">
                <a:solidFill>
                  <a:srgbClr val="D9C386"/>
                </a:solidFill>
                <a:latin typeface="Arial"/>
                <a:ea typeface="Arial"/>
                <a:cs typeface="Arial"/>
              </a:rPr>
              <a:t>INTRODUCTION</a:t>
            </a:r>
          </a:p>
        </p:txBody>
      </p:sp>
      <p:sp>
        <p:nvSpPr>
          <p:cNvPr id="2" name="progress-4">
            <a:extLst xmlns:a="http://schemas.openxmlformats.org/drawingml/2006/main">
              <a:ext uri="{FF2B5EF4-FFF2-40B4-BE49-F238E27FC236}">
                <a16:creationId xmlns:a16="http://schemas.microsoft.com/office/drawing/2014/main" id="{91665E60-762B-4045-99D9-C47066A11B69}"/>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9C386"/>
                </a:solidFill>
                <a:latin typeface="Arial"/>
                <a:ea typeface="Arial"/>
                <a:cs typeface="Arial"/>
              </a:defRPr>
            </a:pPr>
            <a:r>
              <a:rPr sz="1800" b="1">
                <a:solidFill>
                  <a:srgbClr val="D9C386"/>
                </a:solidFill>
                <a:latin typeface="Arial"/>
                <a:ea typeface="Arial"/>
                <a:cs typeface="Arial"/>
              </a:rPr>
              <a:t>04 / 60</a:t>
            </a:r>
          </a:p>
        </p:txBody>
      </p:sp>
      <p:sp>
        <p:nvSpPr>
          <p:cNvPr id="3" name="body-4">
            <a:extLst xmlns:a="http://schemas.openxmlformats.org/drawingml/2006/main">
              <a:ext uri="{FF2B5EF4-FFF2-40B4-BE49-F238E27FC236}">
                <a16:creationId xmlns:a16="http://schemas.microsoft.com/office/drawing/2014/main" id="{54A70FC4-AA52-4650-A3F8-C4ADBC40B5DA}"/>
              </a:ext>
            </a:extLst>
          </p:cNvPr>
          <p:cNvSpPr>
            <a:spLocks xmlns:a="http://schemas.openxmlformats.org/drawingml/2006/main" noGrp="1"/>
          </p:cNvSpPr>
          <p:nvPr/>
        </p:nvSpPr>
        <p:spPr>
          <a:xfrm xmlns:a="http://schemas.openxmlformats.org/drawingml/2006/main">
            <a:off x="952500" y="4476750"/>
            <a:ext cx="8382000" cy="838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900" b="1">
                <a:solidFill>
                  <a:srgbClr val="FFF3C9"/>
                </a:solidFill>
                <a:latin typeface="Arial"/>
                <a:ea typeface="Arial"/>
                <a:cs typeface="Arial"/>
              </a:defRPr>
            </a:pPr>
            <a:r>
              <a:rPr sz="6900" b="1">
                <a:solidFill>
                  <a:srgbClr val="FFF3C9"/>
                </a:solidFill>
                <a:latin typeface="Arial"/>
                <a:ea typeface="Arial"/>
                <a:cs typeface="Arial"/>
              </a:rPr>
              <a:t>(PAUSE)</a:t>
            </a:r>
          </a:p>
        </p:txBody>
      </p:sp>
      <p:sp>
        <p:nvSpPr>
          <p:cNvPr id="4" name="progress-track-4">
            <a:extLst xmlns:a="http://schemas.openxmlformats.org/drawingml/2006/main">
              <a:ext uri="{FF2B5EF4-FFF2-40B4-BE49-F238E27FC236}">
                <a16:creationId xmlns:a16="http://schemas.microsoft.com/office/drawing/2014/main" id="{27030273-F38F-4C81-88DE-0D5347C8E553}"/>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5" name="progress-fill-4">
            <a:extLst xmlns:a="http://schemas.openxmlformats.org/drawingml/2006/main">
              <a:ext uri="{FF2B5EF4-FFF2-40B4-BE49-F238E27FC236}">
                <a16:creationId xmlns:a16="http://schemas.microsoft.com/office/drawing/2014/main" id="{E4E79457-98CF-475C-9CAB-817E1665A352}"/>
              </a:ext>
            </a:extLst>
          </p:cNvPr>
          <p:cNvSpPr>
            <a:spLocks xmlns:a="http://schemas.openxmlformats.org/drawingml/2006/main" noGrp="1"/>
          </p:cNvSpPr>
          <p:nvPr/>
        </p:nvSpPr>
        <p:spPr>
          <a:xfrm xmlns:a="http://schemas.openxmlformats.org/drawingml/2006/main">
            <a:off x="952500" y="17002125"/>
            <a:ext cx="558800" cy="57150"/>
          </a:xfrm>
          <a:prstGeom xmlns:a="http://schemas.openxmlformats.org/drawingml/2006/main" prst="rect">
            <a:avLst/>
          </a:prstGeom>
          <a:solidFill xmlns:a="http://schemas.openxmlformats.org/drawingml/2006/main">
            <a:srgbClr val="F5C451"/>
          </a:solidFill>
          <a:ln xmlns:a="http://schemas.openxmlformats.org/drawingml/2006/main" w="0">
            <a:solidFill>
              <a:srgbClr val="F5C451"/>
            </a:solidFill>
            <a:prstDash val="solid"/>
          </a:ln>
        </p:spPr>
      </p:sp>
      <p:sp>
        <p:nvSpPr>
          <p:cNvPr id="6" name="footer-4">
            <a:extLst xmlns:a="http://schemas.openxmlformats.org/drawingml/2006/main">
              <a:ext uri="{FF2B5EF4-FFF2-40B4-BE49-F238E27FC236}">
                <a16:creationId xmlns:a16="http://schemas.microsoft.com/office/drawing/2014/main" id="{99B40067-8527-4E90-BC08-E370C9EAFCB6}"/>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9C386"/>
                </a:solidFill>
                <a:latin typeface="Arial"/>
                <a:ea typeface="Arial"/>
                <a:cs typeface="Arial"/>
              </a:defRPr>
            </a:pPr>
            <a:r>
              <a:rPr sz="1350" b="1">
                <a:solidFill>
                  <a:srgbClr val="D9C386"/>
                </a:solidFill>
                <a:latin typeface="Arial"/>
                <a:ea typeface="Arial"/>
                <a:cs typeface="Arial"/>
              </a:rPr>
              <a:t>SCRIPT MOBILE - SOUTENANCE YOLO-OBB</a:t>
            </a:r>
          </a:p>
        </p:txBody>
      </p:sp>
    </p:spTree>
    <p:extLst>
      <p:ext uri="{BB962C8B-B14F-4D97-AF65-F5344CB8AC3E}">
        <p14:creationId xmlns:p14="http://schemas.microsoft.com/office/powerpoint/2010/main" val="387854828"/>
      </p:ext>
    </p:extLst>
  </p:cSld>
</p:sld>
</file>

<file path=ppt/slides/slide5.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5">
            <a:extLst xmlns:a="http://schemas.openxmlformats.org/drawingml/2006/main">
              <a:ext uri="{FF2B5EF4-FFF2-40B4-BE49-F238E27FC236}">
                <a16:creationId xmlns:a16="http://schemas.microsoft.com/office/drawing/2014/main" id="{C2651AA5-2617-4D9A-BE0D-C5BAAC6FFDEB}"/>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INTRODUCTION</a:t>
            </a:r>
          </a:p>
        </p:txBody>
      </p:sp>
      <p:sp>
        <p:nvSpPr>
          <p:cNvPr id="2" name="progress-5">
            <a:extLst xmlns:a="http://schemas.openxmlformats.org/drawingml/2006/main">
              <a:ext uri="{FF2B5EF4-FFF2-40B4-BE49-F238E27FC236}">
                <a16:creationId xmlns:a16="http://schemas.microsoft.com/office/drawing/2014/main" id="{CE5A85F9-E189-4384-A2E5-E55A89B6A9EA}"/>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05 / 60</a:t>
            </a:r>
          </a:p>
        </p:txBody>
      </p:sp>
      <p:sp>
        <p:nvSpPr>
          <p:cNvPr id="3" name="title-5">
            <a:extLst xmlns:a="http://schemas.openxmlformats.org/drawingml/2006/main">
              <a:ext uri="{FF2B5EF4-FFF2-40B4-BE49-F238E27FC236}">
                <a16:creationId xmlns:a16="http://schemas.microsoft.com/office/drawing/2014/main" id="{EFDF1FF0-D498-4FC6-A623-7D5706AFEE94}"/>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POURQUOI LES OBB</a:t>
            </a:r>
          </a:p>
        </p:txBody>
      </p:sp>
      <p:sp>
        <p:nvSpPr>
          <p:cNvPr id="4" name="accent-5">
            <a:extLst xmlns:a="http://schemas.openxmlformats.org/drawingml/2006/main">
              <a:ext uri="{FF2B5EF4-FFF2-40B4-BE49-F238E27FC236}">
                <a16:creationId xmlns:a16="http://schemas.microsoft.com/office/drawing/2014/main" id="{515D04B6-86AB-4A24-B570-1E08F44156A8}"/>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5">
            <a:extLst xmlns:a="http://schemas.openxmlformats.org/drawingml/2006/main">
              <a:ext uri="{FF2B5EF4-FFF2-40B4-BE49-F238E27FC236}">
                <a16:creationId xmlns:a16="http://schemas.microsoft.com/office/drawing/2014/main" id="{ACED829D-04C5-46EC-A41E-05F00EEF958E}"/>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Donc, l'intérêt d'avoir des boîtes orientées, c'est qu'elles suivent l'angle réel des objets. Si un avion est incliné, on peut l'entourer beaucoup plus précisément, au lieu d'utiliser un rectangle horizontal qui contient beaucoup d'éléments d'arrière-plan.</a:t>
            </a:r>
          </a:p>
        </p:txBody>
      </p:sp>
      <p:sp>
        <p:nvSpPr>
          <p:cNvPr id="6" name="progress-track-5">
            <a:extLst xmlns:a="http://schemas.openxmlformats.org/drawingml/2006/main">
              <a:ext uri="{FF2B5EF4-FFF2-40B4-BE49-F238E27FC236}">
                <a16:creationId xmlns:a16="http://schemas.microsoft.com/office/drawing/2014/main" id="{698FE221-09A9-488E-8EFD-D978E72A0E56}"/>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5">
            <a:extLst xmlns:a="http://schemas.openxmlformats.org/drawingml/2006/main">
              <a:ext uri="{FF2B5EF4-FFF2-40B4-BE49-F238E27FC236}">
                <a16:creationId xmlns:a16="http://schemas.microsoft.com/office/drawing/2014/main" id="{E3AE8763-D291-40F8-849A-4538BD046158}"/>
              </a:ext>
            </a:extLst>
          </p:cNvPr>
          <p:cNvSpPr>
            <a:spLocks xmlns:a="http://schemas.openxmlformats.org/drawingml/2006/main" noGrp="1"/>
          </p:cNvSpPr>
          <p:nvPr/>
        </p:nvSpPr>
        <p:spPr>
          <a:xfrm xmlns:a="http://schemas.openxmlformats.org/drawingml/2006/main">
            <a:off x="952500" y="17002125"/>
            <a:ext cx="6985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5">
            <a:extLst xmlns:a="http://schemas.openxmlformats.org/drawingml/2006/main">
              <a:ext uri="{FF2B5EF4-FFF2-40B4-BE49-F238E27FC236}">
                <a16:creationId xmlns:a16="http://schemas.microsoft.com/office/drawing/2014/main" id="{ABF08A27-2830-42F1-913B-5516D2D2BD24}"/>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994948504"/>
      </p:ext>
    </p:extLst>
  </p:cSld>
</p:sld>
</file>

<file path=ppt/slides/slide6.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6">
            <a:extLst xmlns:a="http://schemas.openxmlformats.org/drawingml/2006/main">
              <a:ext uri="{FF2B5EF4-FFF2-40B4-BE49-F238E27FC236}">
                <a16:creationId xmlns:a16="http://schemas.microsoft.com/office/drawing/2014/main" id="{F5DE56DB-5530-48E9-82EC-CFBA7A10FDB6}"/>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INTRODUCTION</a:t>
            </a:r>
          </a:p>
        </p:txBody>
      </p:sp>
      <p:sp>
        <p:nvSpPr>
          <p:cNvPr id="2" name="progress-6">
            <a:extLst xmlns:a="http://schemas.openxmlformats.org/drawingml/2006/main">
              <a:ext uri="{FF2B5EF4-FFF2-40B4-BE49-F238E27FC236}">
                <a16:creationId xmlns:a16="http://schemas.microsoft.com/office/drawing/2014/main" id="{30521763-2DF7-4FC0-9EF3-AA01AC2C004D}"/>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06 / 60</a:t>
            </a:r>
          </a:p>
        </p:txBody>
      </p:sp>
      <p:sp>
        <p:nvSpPr>
          <p:cNvPr id="3" name="title-6">
            <a:extLst xmlns:a="http://schemas.openxmlformats.org/drawingml/2006/main">
              <a:ext uri="{FF2B5EF4-FFF2-40B4-BE49-F238E27FC236}">
                <a16:creationId xmlns:a16="http://schemas.microsoft.com/office/drawing/2014/main" id="{92CEAF9F-E779-4C14-81D4-6A0D148E1224}"/>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NANO ET RÉSOLUTION</a:t>
            </a:r>
          </a:p>
        </p:txBody>
      </p:sp>
      <p:sp>
        <p:nvSpPr>
          <p:cNvPr id="4" name="accent-6">
            <a:extLst xmlns:a="http://schemas.openxmlformats.org/drawingml/2006/main">
              <a:ext uri="{FF2B5EF4-FFF2-40B4-BE49-F238E27FC236}">
                <a16:creationId xmlns:a16="http://schemas.microsoft.com/office/drawing/2014/main" id="{81E8E735-4F07-498D-8B79-F5FDA19292AF}"/>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6">
            <a:extLst xmlns:a="http://schemas.openxmlformats.org/drawingml/2006/main">
              <a:ext uri="{FF2B5EF4-FFF2-40B4-BE49-F238E27FC236}">
                <a16:creationId xmlns:a16="http://schemas.microsoft.com/office/drawing/2014/main" id="{75146737-D32E-4624-B79E-62E2C3469D1F}"/>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J'ai aussi utilisé la version Nano parce que, par rapport au matériel que j'ai et à la résolution choisie, elle était suffisante. Et j'ai choisi 1024 au lieu de 640 parce que les résultats sont bien meilleurs, pour un compromis qui n'est pas énorme non plus au niveau de la vitesse d'exécution.</a:t>
            </a:r>
          </a:p>
        </p:txBody>
      </p:sp>
      <p:sp>
        <p:nvSpPr>
          <p:cNvPr id="6" name="progress-track-6">
            <a:extLst xmlns:a="http://schemas.openxmlformats.org/drawingml/2006/main">
              <a:ext uri="{FF2B5EF4-FFF2-40B4-BE49-F238E27FC236}">
                <a16:creationId xmlns:a16="http://schemas.microsoft.com/office/drawing/2014/main" id="{982A03A9-AA2E-42E2-AE6E-A020894FB415}"/>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6">
            <a:extLst xmlns:a="http://schemas.openxmlformats.org/drawingml/2006/main">
              <a:ext uri="{FF2B5EF4-FFF2-40B4-BE49-F238E27FC236}">
                <a16:creationId xmlns:a16="http://schemas.microsoft.com/office/drawing/2014/main" id="{78731910-6097-4A5C-AF3D-97408B37474F}"/>
              </a:ext>
            </a:extLst>
          </p:cNvPr>
          <p:cNvSpPr>
            <a:spLocks xmlns:a="http://schemas.openxmlformats.org/drawingml/2006/main" noGrp="1"/>
          </p:cNvSpPr>
          <p:nvPr/>
        </p:nvSpPr>
        <p:spPr>
          <a:xfrm xmlns:a="http://schemas.openxmlformats.org/drawingml/2006/main">
            <a:off x="952500" y="17002125"/>
            <a:ext cx="8382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6">
            <a:extLst xmlns:a="http://schemas.openxmlformats.org/drawingml/2006/main">
              <a:ext uri="{FF2B5EF4-FFF2-40B4-BE49-F238E27FC236}">
                <a16:creationId xmlns:a16="http://schemas.microsoft.com/office/drawing/2014/main" id="{347D1A65-3A23-4476-8608-F3EB8E31AFDA}"/>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420878065"/>
      </p:ext>
    </p:extLst>
  </p:cSld>
</p:sld>
</file>

<file path=ppt/slides/slide7.xml><?xml version="1.0" encoding="utf-8"?>
<p:sld xmlns:p="http://schemas.openxmlformats.org/presentationml/2006/main">
  <p:cSld>
    <p:bg>
      <p:bgPr>
        <a:solidFill xmlns:a="http://schemas.openxmlformats.org/drawingml/2006/main">
          <a:srgbClr val="250B14"/>
        </a:solidFill>
      </p:bgPr>
    </p:bg>
    <p:spTree>
      <p:nvGrpSpPr>
        <p:cNvPr id="1" name=""/>
        <p:cNvGrpSpPr/>
        <p:nvPr/>
      </p:nvGrpSpPr>
      <p:grpSpPr>
        <a:xfrm xmlns:a="http://schemas.openxmlformats.org/drawingml/2006/main"/>
      </p:grpSpPr>
      <p:sp>
        <p:nvSpPr>
          <p:cNvPr id="1" name="section-7">
            <a:extLst xmlns:a="http://schemas.openxmlformats.org/drawingml/2006/main">
              <a:ext uri="{FF2B5EF4-FFF2-40B4-BE49-F238E27FC236}">
                <a16:creationId xmlns:a16="http://schemas.microsoft.com/office/drawing/2014/main" id="{D60C7DDE-E97B-4F1D-9667-3E383623F778}"/>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FA7B3"/>
                </a:solidFill>
                <a:latin typeface="Arial"/>
                <a:ea typeface="Arial"/>
                <a:cs typeface="Arial"/>
              </a:defRPr>
            </a:pPr>
            <a:r>
              <a:rPr sz="1650" b="1">
                <a:solidFill>
                  <a:srgbClr val="DFA7B3"/>
                </a:solidFill>
                <a:latin typeface="Arial"/>
                <a:ea typeface="Arial"/>
                <a:cs typeface="Arial"/>
              </a:rPr>
              <a:t>INTRODUCTION</a:t>
            </a:r>
          </a:p>
        </p:txBody>
      </p:sp>
      <p:sp>
        <p:nvSpPr>
          <p:cNvPr id="2" name="progress-7">
            <a:extLst xmlns:a="http://schemas.openxmlformats.org/drawingml/2006/main">
              <a:ext uri="{FF2B5EF4-FFF2-40B4-BE49-F238E27FC236}">
                <a16:creationId xmlns:a16="http://schemas.microsoft.com/office/drawing/2014/main" id="{64CD077A-D252-4A38-A583-98F0C129C8CA}"/>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FA7B3"/>
                </a:solidFill>
                <a:latin typeface="Arial"/>
                <a:ea typeface="Arial"/>
                <a:cs typeface="Arial"/>
              </a:defRPr>
            </a:pPr>
            <a:r>
              <a:rPr sz="1800" b="1">
                <a:solidFill>
                  <a:srgbClr val="DFA7B3"/>
                </a:solidFill>
                <a:latin typeface="Arial"/>
                <a:ea typeface="Arial"/>
                <a:cs typeface="Arial"/>
              </a:rPr>
              <a:t>07 / 60</a:t>
            </a:r>
          </a:p>
        </p:txBody>
      </p:sp>
      <p:sp>
        <p:nvSpPr>
          <p:cNvPr id="3" name="title-7">
            <a:extLst xmlns:a="http://schemas.openxmlformats.org/drawingml/2006/main">
              <a:ext uri="{FF2B5EF4-FFF2-40B4-BE49-F238E27FC236}">
                <a16:creationId xmlns:a16="http://schemas.microsoft.com/office/drawing/2014/main" id="{B94D9BC3-480A-4B16-801F-9746B311A328}"/>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F91A8"/>
                </a:solidFill>
                <a:latin typeface="Arial"/>
                <a:ea typeface="Arial"/>
                <a:cs typeface="Arial"/>
              </a:defRPr>
            </a:pPr>
            <a:r>
              <a:rPr sz="2700" b="1">
                <a:solidFill>
                  <a:srgbClr val="FF91A8"/>
                </a:solidFill>
                <a:latin typeface="Arial"/>
                <a:ea typeface="Arial"/>
                <a:cs typeface="Arial"/>
              </a:rPr>
              <a:t>ACTION - SOURIS</a:t>
            </a:r>
          </a:p>
        </p:txBody>
      </p:sp>
      <p:sp>
        <p:nvSpPr>
          <p:cNvPr id="4" name="accent-7">
            <a:extLst xmlns:a="http://schemas.openxmlformats.org/drawingml/2006/main">
              <a:ext uri="{FF2B5EF4-FFF2-40B4-BE49-F238E27FC236}">
                <a16:creationId xmlns:a16="http://schemas.microsoft.com/office/drawing/2014/main" id="{B6D15DFA-AA30-4E39-8B49-6A9E108520DB}"/>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5" name="body-7">
            <a:extLst xmlns:a="http://schemas.openxmlformats.org/drawingml/2006/main">
              <a:ext uri="{FF2B5EF4-FFF2-40B4-BE49-F238E27FC236}">
                <a16:creationId xmlns:a16="http://schemas.microsoft.com/office/drawing/2014/main" id="{128109A7-F950-42F1-B2C5-FB3B611CFE19}"/>
              </a:ext>
            </a:extLst>
          </p:cNvPr>
          <p:cNvSpPr>
            <a:spLocks xmlns:a="http://schemas.openxmlformats.org/drawingml/2006/main" noGrp="1"/>
          </p:cNvSpPr>
          <p:nvPr/>
        </p:nvSpPr>
        <p:spPr>
          <a:xfrm xmlns:a="http://schemas.openxmlformats.org/drawingml/2006/main">
            <a:off x="952500" y="4476750"/>
            <a:ext cx="8382000" cy="838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4800" b="1">
                <a:solidFill>
                  <a:srgbClr val="FFF4F6"/>
                </a:solidFill>
                <a:latin typeface="Arial"/>
                <a:ea typeface="Arial"/>
                <a:cs typeface="Arial"/>
              </a:defRPr>
            </a:pPr>
            <a:r>
              <a:rPr sz="4800" b="1">
                <a:solidFill>
                  <a:srgbClr val="FFF4F6"/>
                </a:solidFill>
                <a:latin typeface="Arial"/>
                <a:ea typeface="Arial"/>
                <a:cs typeface="Arial"/>
              </a:rPr>
              <a:t>[MONTRER L'IMAGE À GAUCHE]</a:t>
            </a:r>
          </a:p>
        </p:txBody>
      </p:sp>
      <p:sp>
        <p:nvSpPr>
          <p:cNvPr id="6" name="progress-track-7">
            <a:extLst xmlns:a="http://schemas.openxmlformats.org/drawingml/2006/main">
              <a:ext uri="{FF2B5EF4-FFF2-40B4-BE49-F238E27FC236}">
                <a16:creationId xmlns:a16="http://schemas.microsoft.com/office/drawing/2014/main" id="{2FBF97AE-F280-4398-86AD-57BD811D0B9A}"/>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7">
            <a:extLst xmlns:a="http://schemas.openxmlformats.org/drawingml/2006/main">
              <a:ext uri="{FF2B5EF4-FFF2-40B4-BE49-F238E27FC236}">
                <a16:creationId xmlns:a16="http://schemas.microsoft.com/office/drawing/2014/main" id="{CD3C639A-4ECD-4E41-8EB6-1B83D8CD3239}"/>
              </a:ext>
            </a:extLst>
          </p:cNvPr>
          <p:cNvSpPr>
            <a:spLocks xmlns:a="http://schemas.openxmlformats.org/drawingml/2006/main" noGrp="1"/>
          </p:cNvSpPr>
          <p:nvPr/>
        </p:nvSpPr>
        <p:spPr>
          <a:xfrm xmlns:a="http://schemas.openxmlformats.org/drawingml/2006/main">
            <a:off x="952500" y="17002125"/>
            <a:ext cx="977900" cy="5715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8" name="footer-7">
            <a:extLst xmlns:a="http://schemas.openxmlformats.org/drawingml/2006/main">
              <a:ext uri="{FF2B5EF4-FFF2-40B4-BE49-F238E27FC236}">
                <a16:creationId xmlns:a16="http://schemas.microsoft.com/office/drawing/2014/main" id="{3080C97E-544A-4F1C-B589-FCB4EC4D7581}"/>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FA7B3"/>
                </a:solidFill>
                <a:latin typeface="Arial"/>
                <a:ea typeface="Arial"/>
                <a:cs typeface="Arial"/>
              </a:defRPr>
            </a:pPr>
            <a:r>
              <a:rPr sz="1350" b="1">
                <a:solidFill>
                  <a:srgbClr val="DFA7B3"/>
                </a:solidFill>
                <a:latin typeface="Arial"/>
                <a:ea typeface="Arial"/>
                <a:cs typeface="Arial"/>
              </a:rPr>
              <a:t>SCRIPT MOBILE - SOUTENANCE YOLO-OBB</a:t>
            </a:r>
          </a:p>
        </p:txBody>
      </p:sp>
    </p:spTree>
    <p:extLst>
      <p:ext uri="{BB962C8B-B14F-4D97-AF65-F5344CB8AC3E}">
        <p14:creationId xmlns:p14="http://schemas.microsoft.com/office/powerpoint/2010/main" val="1479098478"/>
      </p:ext>
    </p:extLst>
  </p:cSld>
</p:sld>
</file>

<file path=ppt/slides/slide8.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8">
            <a:extLst xmlns:a="http://schemas.openxmlformats.org/drawingml/2006/main">
              <a:ext uri="{FF2B5EF4-FFF2-40B4-BE49-F238E27FC236}">
                <a16:creationId xmlns:a16="http://schemas.microsoft.com/office/drawing/2014/main" id="{310EAE37-7723-490D-AB53-57335EA22683}"/>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1 - YOLO-OBB</a:t>
            </a:r>
          </a:p>
        </p:txBody>
      </p:sp>
      <p:sp>
        <p:nvSpPr>
          <p:cNvPr id="2" name="progress-8">
            <a:extLst xmlns:a="http://schemas.openxmlformats.org/drawingml/2006/main">
              <a:ext uri="{FF2B5EF4-FFF2-40B4-BE49-F238E27FC236}">
                <a16:creationId xmlns:a16="http://schemas.microsoft.com/office/drawing/2014/main" id="{654A332B-B5AA-4B1E-85F2-4A1FD26FBD72}"/>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08 / 60</a:t>
            </a:r>
          </a:p>
        </p:txBody>
      </p:sp>
      <p:sp>
        <p:nvSpPr>
          <p:cNvPr id="3" name="title-8">
            <a:extLst xmlns:a="http://schemas.openxmlformats.org/drawingml/2006/main">
              <a:ext uri="{FF2B5EF4-FFF2-40B4-BE49-F238E27FC236}">
                <a16:creationId xmlns:a16="http://schemas.microsoft.com/office/drawing/2014/main" id="{D21E2E84-25DA-4008-A6FB-8DB14E223471}"/>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EXEMPLE DE PRÉDICTION</a:t>
            </a:r>
          </a:p>
        </p:txBody>
      </p:sp>
      <p:sp>
        <p:nvSpPr>
          <p:cNvPr id="4" name="accent-8">
            <a:extLst xmlns:a="http://schemas.openxmlformats.org/drawingml/2006/main">
              <a:ext uri="{FF2B5EF4-FFF2-40B4-BE49-F238E27FC236}">
                <a16:creationId xmlns:a16="http://schemas.microsoft.com/office/drawing/2014/main" id="{39C1330C-E595-4802-A822-42A3BDD4CE97}"/>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8">
            <a:extLst xmlns:a="http://schemas.openxmlformats.org/drawingml/2006/main">
              <a:ext uri="{FF2B5EF4-FFF2-40B4-BE49-F238E27FC236}">
                <a16:creationId xmlns:a16="http://schemas.microsoft.com/office/drawing/2014/main" id="{6151BEC4-9C9B-4D56-920E-068F529365B0}"/>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Alors, je pense que maintenant, on peut s'attaquer au contenu de la diapo. À gauche, on a une image qui montre une tuile de validation avec les prédictions que le modèle a faites. Les rectangles bleus suivent l'orientation des avions au lieu d'être complètement horizontaux. Donc, bien sûr, on a utilisé YOLO OBB pour obtenir ces résultats.</a:t>
            </a:r>
          </a:p>
        </p:txBody>
      </p:sp>
      <p:sp>
        <p:nvSpPr>
          <p:cNvPr id="6" name="progress-track-8">
            <a:extLst xmlns:a="http://schemas.openxmlformats.org/drawingml/2006/main">
              <a:ext uri="{FF2B5EF4-FFF2-40B4-BE49-F238E27FC236}">
                <a16:creationId xmlns:a16="http://schemas.microsoft.com/office/drawing/2014/main" id="{2A6F9219-B2C4-452E-892F-5CEEC38685A4}"/>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8">
            <a:extLst xmlns:a="http://schemas.openxmlformats.org/drawingml/2006/main">
              <a:ext uri="{FF2B5EF4-FFF2-40B4-BE49-F238E27FC236}">
                <a16:creationId xmlns:a16="http://schemas.microsoft.com/office/drawing/2014/main" id="{F7B09748-958E-4E2B-A2CC-48AD2CCC4576}"/>
              </a:ext>
            </a:extLst>
          </p:cNvPr>
          <p:cNvSpPr>
            <a:spLocks xmlns:a="http://schemas.openxmlformats.org/drawingml/2006/main" noGrp="1"/>
          </p:cNvSpPr>
          <p:nvPr/>
        </p:nvSpPr>
        <p:spPr>
          <a:xfrm xmlns:a="http://schemas.openxmlformats.org/drawingml/2006/main">
            <a:off x="952500" y="17002125"/>
            <a:ext cx="11176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8">
            <a:extLst xmlns:a="http://schemas.openxmlformats.org/drawingml/2006/main">
              <a:ext uri="{FF2B5EF4-FFF2-40B4-BE49-F238E27FC236}">
                <a16:creationId xmlns:a16="http://schemas.microsoft.com/office/drawing/2014/main" id="{5AD2A877-3E5E-4E50-B163-F5D61AD5128C}"/>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497501611"/>
      </p:ext>
    </p:extLst>
  </p:cSld>
</p:sld>
</file>

<file path=ppt/slides/slide9.xml><?xml version="1.0" encoding="utf-8"?>
<p:sld xmlns:p="http://schemas.openxmlformats.org/presentationml/2006/main">
  <p:cSld>
    <p:bg>
      <p:bgPr>
        <a:solidFill xmlns:a="http://schemas.openxmlformats.org/drawingml/2006/main">
          <a:srgbClr val="250B14"/>
        </a:solidFill>
      </p:bgPr>
    </p:bg>
    <p:spTree>
      <p:nvGrpSpPr>
        <p:cNvPr id="1" name=""/>
        <p:cNvGrpSpPr/>
        <p:nvPr/>
      </p:nvGrpSpPr>
      <p:grpSpPr>
        <a:xfrm xmlns:a="http://schemas.openxmlformats.org/drawingml/2006/main"/>
      </p:grpSpPr>
      <p:sp>
        <p:nvSpPr>
          <p:cNvPr id="1" name="section-9">
            <a:extLst xmlns:a="http://schemas.openxmlformats.org/drawingml/2006/main">
              <a:ext uri="{FF2B5EF4-FFF2-40B4-BE49-F238E27FC236}">
                <a16:creationId xmlns:a16="http://schemas.microsoft.com/office/drawing/2014/main" id="{768F5A01-377B-44C8-ACFB-C569ED47BBB7}"/>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FA7B3"/>
                </a:solidFill>
                <a:latin typeface="Arial"/>
                <a:ea typeface="Arial"/>
                <a:cs typeface="Arial"/>
              </a:defRPr>
            </a:pPr>
            <a:r>
              <a:rPr sz="1650" b="1">
                <a:solidFill>
                  <a:srgbClr val="DFA7B3"/>
                </a:solidFill>
                <a:latin typeface="Arial"/>
                <a:ea typeface="Arial"/>
                <a:cs typeface="Arial"/>
              </a:rPr>
              <a:t>DIAPO 1 - YOLO-OBB</a:t>
            </a:r>
          </a:p>
        </p:txBody>
      </p:sp>
      <p:sp>
        <p:nvSpPr>
          <p:cNvPr id="2" name="progress-9">
            <a:extLst xmlns:a="http://schemas.openxmlformats.org/drawingml/2006/main">
              <a:ext uri="{FF2B5EF4-FFF2-40B4-BE49-F238E27FC236}">
                <a16:creationId xmlns:a16="http://schemas.microsoft.com/office/drawing/2014/main" id="{575A9497-EB60-463D-B023-8B3E8FC9DF80}"/>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FA7B3"/>
                </a:solidFill>
                <a:latin typeface="Arial"/>
                <a:ea typeface="Arial"/>
                <a:cs typeface="Arial"/>
              </a:defRPr>
            </a:pPr>
            <a:r>
              <a:rPr sz="1800" b="1">
                <a:solidFill>
                  <a:srgbClr val="DFA7B3"/>
                </a:solidFill>
                <a:latin typeface="Arial"/>
                <a:ea typeface="Arial"/>
                <a:cs typeface="Arial"/>
              </a:rPr>
              <a:t>09 / 60</a:t>
            </a:r>
          </a:p>
        </p:txBody>
      </p:sp>
      <p:sp>
        <p:nvSpPr>
          <p:cNvPr id="3" name="title-9">
            <a:extLst xmlns:a="http://schemas.openxmlformats.org/drawingml/2006/main">
              <a:ext uri="{FF2B5EF4-FFF2-40B4-BE49-F238E27FC236}">
                <a16:creationId xmlns:a16="http://schemas.microsoft.com/office/drawing/2014/main" id="{4EF8DCDA-B8B9-4BFF-BAB7-95868B5DFC17}"/>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F91A8"/>
                </a:solidFill>
                <a:latin typeface="Arial"/>
                <a:ea typeface="Arial"/>
                <a:cs typeface="Arial"/>
              </a:defRPr>
            </a:pPr>
            <a:r>
              <a:rPr sz="2700" b="1">
                <a:solidFill>
                  <a:srgbClr val="FF91A8"/>
                </a:solidFill>
                <a:latin typeface="Arial"/>
                <a:ea typeface="Arial"/>
                <a:cs typeface="Arial"/>
              </a:rPr>
              <a:t>ACTION - SOURIS</a:t>
            </a:r>
          </a:p>
        </p:txBody>
      </p:sp>
      <p:sp>
        <p:nvSpPr>
          <p:cNvPr id="4" name="accent-9">
            <a:extLst xmlns:a="http://schemas.openxmlformats.org/drawingml/2006/main">
              <a:ext uri="{FF2B5EF4-FFF2-40B4-BE49-F238E27FC236}">
                <a16:creationId xmlns:a16="http://schemas.microsoft.com/office/drawing/2014/main" id="{A03E2AF8-57C5-45FD-91DF-3BB62367F84C}"/>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5" name="body-9">
            <a:extLst xmlns:a="http://schemas.openxmlformats.org/drawingml/2006/main">
              <a:ext uri="{FF2B5EF4-FFF2-40B4-BE49-F238E27FC236}">
                <a16:creationId xmlns:a16="http://schemas.microsoft.com/office/drawing/2014/main" id="{F06CA92A-04CA-4FF1-87AB-F62BEA95829F}"/>
              </a:ext>
            </a:extLst>
          </p:cNvPr>
          <p:cNvSpPr>
            <a:spLocks xmlns:a="http://schemas.openxmlformats.org/drawingml/2006/main" noGrp="1"/>
          </p:cNvSpPr>
          <p:nvPr/>
        </p:nvSpPr>
        <p:spPr>
          <a:xfrm xmlns:a="http://schemas.openxmlformats.org/drawingml/2006/main">
            <a:off x="952500" y="4476750"/>
            <a:ext cx="8382000" cy="838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4800" b="1">
                <a:solidFill>
                  <a:srgbClr val="FFF4F6"/>
                </a:solidFill>
                <a:latin typeface="Arial"/>
                <a:ea typeface="Arial"/>
                <a:cs typeface="Arial"/>
              </a:defRPr>
            </a:pPr>
            <a:r>
              <a:rPr sz="4800" b="1">
                <a:solidFill>
                  <a:srgbClr val="FFF4F6"/>
                </a:solidFill>
                <a:latin typeface="Arial"/>
                <a:ea typeface="Arial"/>
                <a:cs typeface="Arial"/>
              </a:rPr>
              <a:t>[MONTRER LE PIPELINE À DROITE]</a:t>
            </a:r>
          </a:p>
        </p:txBody>
      </p:sp>
      <p:sp>
        <p:nvSpPr>
          <p:cNvPr id="6" name="progress-track-9">
            <a:extLst xmlns:a="http://schemas.openxmlformats.org/drawingml/2006/main">
              <a:ext uri="{FF2B5EF4-FFF2-40B4-BE49-F238E27FC236}">
                <a16:creationId xmlns:a16="http://schemas.microsoft.com/office/drawing/2014/main" id="{90BF8F70-9EA2-4EC8-B1A8-B8100D48C19B}"/>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9">
            <a:extLst xmlns:a="http://schemas.openxmlformats.org/drawingml/2006/main">
              <a:ext uri="{FF2B5EF4-FFF2-40B4-BE49-F238E27FC236}">
                <a16:creationId xmlns:a16="http://schemas.microsoft.com/office/drawing/2014/main" id="{A4BF31C9-23A0-401F-96D1-599428220248}"/>
              </a:ext>
            </a:extLst>
          </p:cNvPr>
          <p:cNvSpPr>
            <a:spLocks xmlns:a="http://schemas.openxmlformats.org/drawingml/2006/main" noGrp="1"/>
          </p:cNvSpPr>
          <p:nvPr/>
        </p:nvSpPr>
        <p:spPr>
          <a:xfrm xmlns:a="http://schemas.openxmlformats.org/drawingml/2006/main">
            <a:off x="952500" y="17002125"/>
            <a:ext cx="1257300" cy="5715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8" name="footer-9">
            <a:extLst xmlns:a="http://schemas.openxmlformats.org/drawingml/2006/main">
              <a:ext uri="{FF2B5EF4-FFF2-40B4-BE49-F238E27FC236}">
                <a16:creationId xmlns:a16="http://schemas.microsoft.com/office/drawing/2014/main" id="{C57639D1-7DA1-48A3-961B-415A8D00FD05}"/>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FA7B3"/>
                </a:solidFill>
                <a:latin typeface="Arial"/>
                <a:ea typeface="Arial"/>
                <a:cs typeface="Arial"/>
              </a:defRPr>
            </a:pPr>
            <a:r>
              <a:rPr sz="1350" b="1">
                <a:solidFill>
                  <a:srgbClr val="DFA7B3"/>
                </a:solidFill>
                <a:latin typeface="Arial"/>
                <a:ea typeface="Arial"/>
                <a:cs typeface="Arial"/>
              </a:rPr>
              <a:t>SCRIPT MOBILE - SOUTENANCE YOLO-OBB</a:t>
            </a:r>
          </a:p>
        </p:txBody>
      </p:sp>
    </p:spTree>
    <p:extLst>
      <p:ext uri="{BB962C8B-B14F-4D97-AF65-F5344CB8AC3E}">
        <p14:creationId xmlns:p14="http://schemas.microsoft.com/office/powerpoint/2010/main" val="1960762602"/>
      </p:ext>
    </p:extLst>
  </p:cSld>
</p:sld>
</file>

<file path=ppt/slides/slide1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10">
            <a:extLst xmlns:a="http://schemas.openxmlformats.org/drawingml/2006/main">
              <a:ext uri="{FF2B5EF4-FFF2-40B4-BE49-F238E27FC236}">
                <a16:creationId xmlns:a16="http://schemas.microsoft.com/office/drawing/2014/main" id="{D09C6C52-36EF-472E-8480-E62A780D2936}"/>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1 - YOLO-OBB</a:t>
            </a:r>
          </a:p>
        </p:txBody>
      </p:sp>
      <p:sp>
        <p:nvSpPr>
          <p:cNvPr id="2" name="progress-10">
            <a:extLst xmlns:a="http://schemas.openxmlformats.org/drawingml/2006/main">
              <a:ext uri="{FF2B5EF4-FFF2-40B4-BE49-F238E27FC236}">
                <a16:creationId xmlns:a16="http://schemas.microsoft.com/office/drawing/2014/main" id="{69E05AB6-9914-458C-B02B-20E5FD48ECC2}"/>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10 / 60</a:t>
            </a:r>
          </a:p>
        </p:txBody>
      </p:sp>
      <p:sp>
        <p:nvSpPr>
          <p:cNvPr id="3" name="title-10">
            <a:extLst xmlns:a="http://schemas.openxmlformats.org/drawingml/2006/main">
              <a:ext uri="{FF2B5EF4-FFF2-40B4-BE49-F238E27FC236}">
                <a16:creationId xmlns:a16="http://schemas.microsoft.com/office/drawing/2014/main" id="{A613F560-C5E9-40CB-97BF-F869380E03D2}"/>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LES CINQ ÉTAPES</a:t>
            </a:r>
          </a:p>
        </p:txBody>
      </p:sp>
      <p:sp>
        <p:nvSpPr>
          <p:cNvPr id="4" name="accent-10">
            <a:extLst xmlns:a="http://schemas.openxmlformats.org/drawingml/2006/main">
              <a:ext uri="{FF2B5EF4-FFF2-40B4-BE49-F238E27FC236}">
                <a16:creationId xmlns:a16="http://schemas.microsoft.com/office/drawing/2014/main" id="{D25333F2-957D-4EEB-8E51-F1FCAA8A2422}"/>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10">
            <a:extLst xmlns:a="http://schemas.openxmlformats.org/drawingml/2006/main">
              <a:ext uri="{FF2B5EF4-FFF2-40B4-BE49-F238E27FC236}">
                <a16:creationId xmlns:a16="http://schemas.microsoft.com/office/drawing/2014/main" id="{452F1D88-7116-4B9B-A8D0-6B4645391527}"/>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050" b="0">
                <a:solidFill>
                  <a:srgbClr val="F6FAFC"/>
                </a:solidFill>
                <a:latin typeface="Arial"/>
                <a:ea typeface="Arial"/>
                <a:cs typeface="Arial"/>
              </a:defRPr>
            </a:pPr>
            <a:r>
              <a:rPr sz="4050" b="0">
                <a:solidFill>
                  <a:srgbClr val="F6FAFC"/>
                </a:solidFill>
                <a:latin typeface="Arial"/>
                <a:ea typeface="Arial"/>
                <a:cs typeface="Arial"/>
              </a:rPr>
              <a:t>Par la suite, à droite, j'ai résumé les cinq étapes que YOLO suit. Donc, on va commencer par la première, qui est l'étape d'entrée.</a:t>
            </a:r>
          </a:p>
        </p:txBody>
      </p:sp>
      <p:sp>
        <p:nvSpPr>
          <p:cNvPr id="6" name="progress-track-10">
            <a:extLst xmlns:a="http://schemas.openxmlformats.org/drawingml/2006/main">
              <a:ext uri="{FF2B5EF4-FFF2-40B4-BE49-F238E27FC236}">
                <a16:creationId xmlns:a16="http://schemas.microsoft.com/office/drawing/2014/main" id="{0E25898A-22E1-4B80-94A8-7AB6AF67E839}"/>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10">
            <a:extLst xmlns:a="http://schemas.openxmlformats.org/drawingml/2006/main">
              <a:ext uri="{FF2B5EF4-FFF2-40B4-BE49-F238E27FC236}">
                <a16:creationId xmlns:a16="http://schemas.microsoft.com/office/drawing/2014/main" id="{BAFFD096-0D82-4281-9B7A-1F4A4BBE7416}"/>
              </a:ext>
            </a:extLst>
          </p:cNvPr>
          <p:cNvSpPr>
            <a:spLocks xmlns:a="http://schemas.openxmlformats.org/drawingml/2006/main" noGrp="1"/>
          </p:cNvSpPr>
          <p:nvPr/>
        </p:nvSpPr>
        <p:spPr>
          <a:xfrm xmlns:a="http://schemas.openxmlformats.org/drawingml/2006/main">
            <a:off x="952500" y="17002125"/>
            <a:ext cx="13970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10">
            <a:extLst xmlns:a="http://schemas.openxmlformats.org/drawingml/2006/main">
              <a:ext uri="{FF2B5EF4-FFF2-40B4-BE49-F238E27FC236}">
                <a16:creationId xmlns:a16="http://schemas.microsoft.com/office/drawing/2014/main" id="{EA2CF2FB-EB67-4A2C-B00E-31D3CDD27608}"/>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705585166"/>
      </p:ext>
    </p:extLst>
  </p:cSld>
</p:sld>
</file>

<file path=ppt/slides/slide11.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11">
            <a:extLst xmlns:a="http://schemas.openxmlformats.org/drawingml/2006/main">
              <a:ext uri="{FF2B5EF4-FFF2-40B4-BE49-F238E27FC236}">
                <a16:creationId xmlns:a16="http://schemas.microsoft.com/office/drawing/2014/main" id="{AE47D46E-E185-4E8A-9644-EE1876485C21}"/>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1 - YOLO-OBB</a:t>
            </a:r>
          </a:p>
        </p:txBody>
      </p:sp>
      <p:sp>
        <p:nvSpPr>
          <p:cNvPr id="2" name="progress-11">
            <a:extLst xmlns:a="http://schemas.openxmlformats.org/drawingml/2006/main">
              <a:ext uri="{FF2B5EF4-FFF2-40B4-BE49-F238E27FC236}">
                <a16:creationId xmlns:a16="http://schemas.microsoft.com/office/drawing/2014/main" id="{CDDA208A-16A8-4B0B-BAB4-7659FCC23DF3}"/>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11 / 60</a:t>
            </a:r>
          </a:p>
        </p:txBody>
      </p:sp>
      <p:sp>
        <p:nvSpPr>
          <p:cNvPr id="3" name="title-11">
            <a:extLst xmlns:a="http://schemas.openxmlformats.org/drawingml/2006/main">
              <a:ext uri="{FF2B5EF4-FFF2-40B4-BE49-F238E27FC236}">
                <a16:creationId xmlns:a16="http://schemas.microsoft.com/office/drawing/2014/main" id="{5AC3479D-79FC-4BEE-8672-23F76F586ED8}"/>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ÉTAPE 1 - ENTRÉE</a:t>
            </a:r>
          </a:p>
        </p:txBody>
      </p:sp>
      <p:sp>
        <p:nvSpPr>
          <p:cNvPr id="4" name="accent-11">
            <a:extLst xmlns:a="http://schemas.openxmlformats.org/drawingml/2006/main">
              <a:ext uri="{FF2B5EF4-FFF2-40B4-BE49-F238E27FC236}">
                <a16:creationId xmlns:a16="http://schemas.microsoft.com/office/drawing/2014/main" id="{7CEC70ED-3EBE-4101-A7C4-6F0FED3EC789}"/>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11">
            <a:extLst xmlns:a="http://schemas.openxmlformats.org/drawingml/2006/main">
              <a:ext uri="{FF2B5EF4-FFF2-40B4-BE49-F238E27FC236}">
                <a16:creationId xmlns:a16="http://schemas.microsoft.com/office/drawing/2014/main" id="{6C5773B5-32B8-4913-8230-00AA8E52426A}"/>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Alors, au début, on part de grandes images aériennes qui peuvent être de très haute résolution. Donc, si je les envoyais directement au modèle, la tâche serait beaucoup plus lourde et beaucoup plus compliquée. Ce qu'on fait, c'est qu'on découpe ces images en tuiles, ce qui les rend beaucoup plus faciles à traiter.</a:t>
            </a:r>
          </a:p>
        </p:txBody>
      </p:sp>
      <p:sp>
        <p:nvSpPr>
          <p:cNvPr id="6" name="progress-track-11">
            <a:extLst xmlns:a="http://schemas.openxmlformats.org/drawingml/2006/main">
              <a:ext uri="{FF2B5EF4-FFF2-40B4-BE49-F238E27FC236}">
                <a16:creationId xmlns:a16="http://schemas.microsoft.com/office/drawing/2014/main" id="{4C12C912-9541-4F00-9356-725AFE747D21}"/>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11">
            <a:extLst xmlns:a="http://schemas.openxmlformats.org/drawingml/2006/main">
              <a:ext uri="{FF2B5EF4-FFF2-40B4-BE49-F238E27FC236}">
                <a16:creationId xmlns:a16="http://schemas.microsoft.com/office/drawing/2014/main" id="{2E5DF88D-1B8E-4E06-A435-D991BC1E5CD8}"/>
              </a:ext>
            </a:extLst>
          </p:cNvPr>
          <p:cNvSpPr>
            <a:spLocks xmlns:a="http://schemas.openxmlformats.org/drawingml/2006/main" noGrp="1"/>
          </p:cNvSpPr>
          <p:nvPr/>
        </p:nvSpPr>
        <p:spPr>
          <a:xfrm xmlns:a="http://schemas.openxmlformats.org/drawingml/2006/main">
            <a:off x="952500" y="17002125"/>
            <a:ext cx="15367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11">
            <a:extLst xmlns:a="http://schemas.openxmlformats.org/drawingml/2006/main">
              <a:ext uri="{FF2B5EF4-FFF2-40B4-BE49-F238E27FC236}">
                <a16:creationId xmlns:a16="http://schemas.microsoft.com/office/drawing/2014/main" id="{AF136CF7-AEA1-41E1-BBE6-CA9B221FF340}"/>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173456949"/>
      </p:ext>
    </p:extLst>
  </p:cSld>
</p:sld>
</file>

<file path=ppt/slides/slide12.xml><?xml version="1.0" encoding="utf-8"?>
<p:sld xmlns:p="http://schemas.openxmlformats.org/presentationml/2006/main">
  <p:cSld>
    <p:bg>
      <p:bgPr>
        <a:solidFill xmlns:a="http://schemas.openxmlformats.org/drawingml/2006/main">
          <a:srgbClr val="211907"/>
        </a:solidFill>
      </p:bgPr>
    </p:bg>
    <p:spTree>
      <p:nvGrpSpPr>
        <p:cNvPr id="1" name=""/>
        <p:cNvGrpSpPr/>
        <p:nvPr/>
      </p:nvGrpSpPr>
      <p:grpSpPr>
        <a:xfrm xmlns:a="http://schemas.openxmlformats.org/drawingml/2006/main"/>
      </p:grpSpPr>
      <p:sp>
        <p:nvSpPr>
          <p:cNvPr id="1" name="section-12">
            <a:extLst xmlns:a="http://schemas.openxmlformats.org/drawingml/2006/main">
              <a:ext uri="{FF2B5EF4-FFF2-40B4-BE49-F238E27FC236}">
                <a16:creationId xmlns:a16="http://schemas.microsoft.com/office/drawing/2014/main" id="{EDAFE046-724E-4298-BE2B-51602F69AE19}"/>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9C386"/>
                </a:solidFill>
                <a:latin typeface="Arial"/>
                <a:ea typeface="Arial"/>
                <a:cs typeface="Arial"/>
              </a:defRPr>
            </a:pPr>
            <a:r>
              <a:rPr sz="1650" b="1">
                <a:solidFill>
                  <a:srgbClr val="D9C386"/>
                </a:solidFill>
                <a:latin typeface="Arial"/>
                <a:ea typeface="Arial"/>
                <a:cs typeface="Arial"/>
              </a:rPr>
              <a:t>DIAPO 1 - YOLO-OBB</a:t>
            </a:r>
          </a:p>
        </p:txBody>
      </p:sp>
      <p:sp>
        <p:nvSpPr>
          <p:cNvPr id="2" name="progress-12">
            <a:extLst xmlns:a="http://schemas.openxmlformats.org/drawingml/2006/main">
              <a:ext uri="{FF2B5EF4-FFF2-40B4-BE49-F238E27FC236}">
                <a16:creationId xmlns:a16="http://schemas.microsoft.com/office/drawing/2014/main" id="{AC4CB63B-E546-4A01-A75C-3159F9D0F846}"/>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9C386"/>
                </a:solidFill>
                <a:latin typeface="Arial"/>
                <a:ea typeface="Arial"/>
                <a:cs typeface="Arial"/>
              </a:defRPr>
            </a:pPr>
            <a:r>
              <a:rPr sz="1800" b="1">
                <a:solidFill>
                  <a:srgbClr val="D9C386"/>
                </a:solidFill>
                <a:latin typeface="Arial"/>
                <a:ea typeface="Arial"/>
                <a:cs typeface="Arial"/>
              </a:rPr>
              <a:t>12 / 60</a:t>
            </a:r>
          </a:p>
        </p:txBody>
      </p:sp>
      <p:sp>
        <p:nvSpPr>
          <p:cNvPr id="3" name="body-12">
            <a:extLst xmlns:a="http://schemas.openxmlformats.org/drawingml/2006/main">
              <a:ext uri="{FF2B5EF4-FFF2-40B4-BE49-F238E27FC236}">
                <a16:creationId xmlns:a16="http://schemas.microsoft.com/office/drawing/2014/main" id="{CDC51190-DE3A-40D7-9A98-82816E0D186F}"/>
              </a:ext>
            </a:extLst>
          </p:cNvPr>
          <p:cNvSpPr>
            <a:spLocks xmlns:a="http://schemas.openxmlformats.org/drawingml/2006/main" noGrp="1"/>
          </p:cNvSpPr>
          <p:nvPr/>
        </p:nvSpPr>
        <p:spPr>
          <a:xfrm xmlns:a="http://schemas.openxmlformats.org/drawingml/2006/main">
            <a:off x="952500" y="4476750"/>
            <a:ext cx="8382000" cy="838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900" b="1">
                <a:solidFill>
                  <a:srgbClr val="FFF3C9"/>
                </a:solidFill>
                <a:latin typeface="Arial"/>
                <a:ea typeface="Arial"/>
                <a:cs typeface="Arial"/>
              </a:defRPr>
            </a:pPr>
            <a:r>
              <a:rPr sz="6900" b="1">
                <a:solidFill>
                  <a:srgbClr val="FFF3C9"/>
                </a:solidFill>
                <a:latin typeface="Arial"/>
                <a:ea typeface="Arial"/>
                <a:cs typeface="Arial"/>
              </a:rPr>
              <a:t>(PAUSE)</a:t>
            </a:r>
          </a:p>
        </p:txBody>
      </p:sp>
      <p:sp>
        <p:nvSpPr>
          <p:cNvPr id="4" name="progress-track-12">
            <a:extLst xmlns:a="http://schemas.openxmlformats.org/drawingml/2006/main">
              <a:ext uri="{FF2B5EF4-FFF2-40B4-BE49-F238E27FC236}">
                <a16:creationId xmlns:a16="http://schemas.microsoft.com/office/drawing/2014/main" id="{C9586C6D-E507-49D8-87A0-DBA1588D3616}"/>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5" name="progress-fill-12">
            <a:extLst xmlns:a="http://schemas.openxmlformats.org/drawingml/2006/main">
              <a:ext uri="{FF2B5EF4-FFF2-40B4-BE49-F238E27FC236}">
                <a16:creationId xmlns:a16="http://schemas.microsoft.com/office/drawing/2014/main" id="{02813285-A58C-4269-B01E-A477B73C317F}"/>
              </a:ext>
            </a:extLst>
          </p:cNvPr>
          <p:cNvSpPr>
            <a:spLocks xmlns:a="http://schemas.openxmlformats.org/drawingml/2006/main" noGrp="1"/>
          </p:cNvSpPr>
          <p:nvPr/>
        </p:nvSpPr>
        <p:spPr>
          <a:xfrm xmlns:a="http://schemas.openxmlformats.org/drawingml/2006/main">
            <a:off x="952500" y="17002125"/>
            <a:ext cx="1676400" cy="57150"/>
          </a:xfrm>
          <a:prstGeom xmlns:a="http://schemas.openxmlformats.org/drawingml/2006/main" prst="rect">
            <a:avLst/>
          </a:prstGeom>
          <a:solidFill xmlns:a="http://schemas.openxmlformats.org/drawingml/2006/main">
            <a:srgbClr val="F5C451"/>
          </a:solidFill>
          <a:ln xmlns:a="http://schemas.openxmlformats.org/drawingml/2006/main" w="0">
            <a:solidFill>
              <a:srgbClr val="F5C451"/>
            </a:solidFill>
            <a:prstDash val="solid"/>
          </a:ln>
        </p:spPr>
      </p:sp>
      <p:sp>
        <p:nvSpPr>
          <p:cNvPr id="6" name="footer-12">
            <a:extLst xmlns:a="http://schemas.openxmlformats.org/drawingml/2006/main">
              <a:ext uri="{FF2B5EF4-FFF2-40B4-BE49-F238E27FC236}">
                <a16:creationId xmlns:a16="http://schemas.microsoft.com/office/drawing/2014/main" id="{4D7AE093-E59D-4416-8E65-848170364020}"/>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9C386"/>
                </a:solidFill>
                <a:latin typeface="Arial"/>
                <a:ea typeface="Arial"/>
                <a:cs typeface="Arial"/>
              </a:defRPr>
            </a:pPr>
            <a:r>
              <a:rPr sz="1350" b="1">
                <a:solidFill>
                  <a:srgbClr val="D9C386"/>
                </a:solidFill>
                <a:latin typeface="Arial"/>
                <a:ea typeface="Arial"/>
                <a:cs typeface="Arial"/>
              </a:rPr>
              <a:t>SCRIPT MOBILE - SOUTENANCE YOLO-OBB</a:t>
            </a:r>
          </a:p>
        </p:txBody>
      </p:sp>
    </p:spTree>
    <p:extLst>
      <p:ext uri="{BB962C8B-B14F-4D97-AF65-F5344CB8AC3E}">
        <p14:creationId xmlns:p14="http://schemas.microsoft.com/office/powerpoint/2010/main" val="1875510527"/>
      </p:ext>
    </p:extLst>
  </p:cSld>
</p:sld>
</file>

<file path=ppt/slides/slide13.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13">
            <a:extLst xmlns:a="http://schemas.openxmlformats.org/drawingml/2006/main">
              <a:ext uri="{FF2B5EF4-FFF2-40B4-BE49-F238E27FC236}">
                <a16:creationId xmlns:a16="http://schemas.microsoft.com/office/drawing/2014/main" id="{FC3A6F40-0BD3-4592-9EB2-3E8121E3F9AC}"/>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1 - YOLO-OBB</a:t>
            </a:r>
          </a:p>
        </p:txBody>
      </p:sp>
      <p:sp>
        <p:nvSpPr>
          <p:cNvPr id="2" name="progress-13">
            <a:extLst xmlns:a="http://schemas.openxmlformats.org/drawingml/2006/main">
              <a:ext uri="{FF2B5EF4-FFF2-40B4-BE49-F238E27FC236}">
                <a16:creationId xmlns:a16="http://schemas.microsoft.com/office/drawing/2014/main" id="{B6680F9C-5542-44C9-90B4-D8DF52C1BE17}"/>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13 / 60</a:t>
            </a:r>
          </a:p>
        </p:txBody>
      </p:sp>
      <p:sp>
        <p:nvSpPr>
          <p:cNvPr id="3" name="title-13">
            <a:extLst xmlns:a="http://schemas.openxmlformats.org/drawingml/2006/main">
              <a:ext uri="{FF2B5EF4-FFF2-40B4-BE49-F238E27FC236}">
                <a16:creationId xmlns:a16="http://schemas.microsoft.com/office/drawing/2014/main" id="{1E1AB082-4169-4DC3-B9D3-9C54AB8B44F7}"/>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TUILES 1024</a:t>
            </a:r>
          </a:p>
        </p:txBody>
      </p:sp>
      <p:sp>
        <p:nvSpPr>
          <p:cNvPr id="4" name="accent-13">
            <a:extLst xmlns:a="http://schemas.openxmlformats.org/drawingml/2006/main">
              <a:ext uri="{FF2B5EF4-FFF2-40B4-BE49-F238E27FC236}">
                <a16:creationId xmlns:a16="http://schemas.microsoft.com/office/drawing/2014/main" id="{F3146DA3-842A-4475-960D-E6938506EC69}"/>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13">
            <a:extLst xmlns:a="http://schemas.openxmlformats.org/drawingml/2006/main">
              <a:ext uri="{FF2B5EF4-FFF2-40B4-BE49-F238E27FC236}">
                <a16:creationId xmlns:a16="http://schemas.microsoft.com/office/drawing/2014/main" id="{A4934279-D372-489D-B345-82F784AE85DC}"/>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0">
                <a:solidFill>
                  <a:srgbClr val="F6FAFC"/>
                </a:solidFill>
                <a:latin typeface="Arial"/>
                <a:ea typeface="Arial"/>
                <a:cs typeface="Arial"/>
              </a:defRPr>
            </a:pPr>
            <a:r>
              <a:rPr sz="3150" b="0">
                <a:solidFill>
                  <a:srgbClr val="F6FAFC"/>
                </a:solidFill>
                <a:latin typeface="Arial"/>
                <a:ea typeface="Arial"/>
                <a:cs typeface="Arial"/>
              </a:rPr>
              <a:t>Puis, la taille que j'ai choisie pour les tuiles, c'est du 1024 par 1024 pixels. C'est une résolution qui demande un peu plus de calcul qu'une résolution de 640 pixels, mais elle préserve mieux les petits objets. Donc, je trouve que c'est un compromis acceptable : on accepte un coût un peu plus élevé au niveau du calcul pour conserver le maximum de détails possible.</a:t>
            </a:r>
          </a:p>
        </p:txBody>
      </p:sp>
      <p:sp>
        <p:nvSpPr>
          <p:cNvPr id="6" name="progress-track-13">
            <a:extLst xmlns:a="http://schemas.openxmlformats.org/drawingml/2006/main">
              <a:ext uri="{FF2B5EF4-FFF2-40B4-BE49-F238E27FC236}">
                <a16:creationId xmlns:a16="http://schemas.microsoft.com/office/drawing/2014/main" id="{C975234C-BDCA-42A9-A121-9D90E8E0ACE8}"/>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13">
            <a:extLst xmlns:a="http://schemas.openxmlformats.org/drawingml/2006/main">
              <a:ext uri="{FF2B5EF4-FFF2-40B4-BE49-F238E27FC236}">
                <a16:creationId xmlns:a16="http://schemas.microsoft.com/office/drawing/2014/main" id="{1AC9AA3C-C011-4C58-BAD7-11B26E06E38D}"/>
              </a:ext>
            </a:extLst>
          </p:cNvPr>
          <p:cNvSpPr>
            <a:spLocks xmlns:a="http://schemas.openxmlformats.org/drawingml/2006/main" noGrp="1"/>
          </p:cNvSpPr>
          <p:nvPr/>
        </p:nvSpPr>
        <p:spPr>
          <a:xfrm xmlns:a="http://schemas.openxmlformats.org/drawingml/2006/main">
            <a:off x="952500" y="17002125"/>
            <a:ext cx="18161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13">
            <a:extLst xmlns:a="http://schemas.openxmlformats.org/drawingml/2006/main">
              <a:ext uri="{FF2B5EF4-FFF2-40B4-BE49-F238E27FC236}">
                <a16:creationId xmlns:a16="http://schemas.microsoft.com/office/drawing/2014/main" id="{6C902304-21A8-4886-986F-FF58A097E127}"/>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400468977"/>
      </p:ext>
    </p:extLst>
  </p:cSld>
</p:sld>
</file>

<file path=ppt/slides/slide14.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14">
            <a:extLst xmlns:a="http://schemas.openxmlformats.org/drawingml/2006/main">
              <a:ext uri="{FF2B5EF4-FFF2-40B4-BE49-F238E27FC236}">
                <a16:creationId xmlns:a16="http://schemas.microsoft.com/office/drawing/2014/main" id="{12C4FE47-E46C-4DC8-B20A-246332375A1D}"/>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1 - YOLO-OBB</a:t>
            </a:r>
          </a:p>
        </p:txBody>
      </p:sp>
      <p:sp>
        <p:nvSpPr>
          <p:cNvPr id="2" name="progress-14">
            <a:extLst xmlns:a="http://schemas.openxmlformats.org/drawingml/2006/main">
              <a:ext uri="{FF2B5EF4-FFF2-40B4-BE49-F238E27FC236}">
                <a16:creationId xmlns:a16="http://schemas.microsoft.com/office/drawing/2014/main" id="{766F7B2B-B738-4A51-B8DE-6634B77489BE}"/>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14 / 60</a:t>
            </a:r>
          </a:p>
        </p:txBody>
      </p:sp>
      <p:sp>
        <p:nvSpPr>
          <p:cNvPr id="3" name="title-14">
            <a:extLst xmlns:a="http://schemas.openxmlformats.org/drawingml/2006/main">
              <a:ext uri="{FF2B5EF4-FFF2-40B4-BE49-F238E27FC236}">
                <a16:creationId xmlns:a16="http://schemas.microsoft.com/office/drawing/2014/main" id="{C7408CE7-614B-4D70-B8D6-4EED1C0F94D4}"/>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ÉTAPE 2 - BACKBONE CNN</a:t>
            </a:r>
          </a:p>
        </p:txBody>
      </p:sp>
      <p:sp>
        <p:nvSpPr>
          <p:cNvPr id="4" name="accent-14">
            <a:extLst xmlns:a="http://schemas.openxmlformats.org/drawingml/2006/main">
              <a:ext uri="{FF2B5EF4-FFF2-40B4-BE49-F238E27FC236}">
                <a16:creationId xmlns:a16="http://schemas.microsoft.com/office/drawing/2014/main" id="{7FA4FFEB-983C-4118-9BB7-1D1FD5BEEA74}"/>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14">
            <a:extLst xmlns:a="http://schemas.openxmlformats.org/drawingml/2006/main">
              <a:ext uri="{FF2B5EF4-FFF2-40B4-BE49-F238E27FC236}">
                <a16:creationId xmlns:a16="http://schemas.microsoft.com/office/drawing/2014/main" id="{0EBE93B9-C7E7-4FE3-8D8A-B06D9C4D45C3}"/>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Ensuite, on a l'étape suivante, qui est celle du backbone CNN. Pour expliquer rapidement ce qu'est un CNN : c'est un réseau de neurones conçu spécialement pour analyser des images. Son rôle ici, c'est de parcourir les images et d'en extraire les informations qui nous sont utiles.</a:t>
            </a:r>
          </a:p>
        </p:txBody>
      </p:sp>
      <p:sp>
        <p:nvSpPr>
          <p:cNvPr id="6" name="progress-track-14">
            <a:extLst xmlns:a="http://schemas.openxmlformats.org/drawingml/2006/main">
              <a:ext uri="{FF2B5EF4-FFF2-40B4-BE49-F238E27FC236}">
                <a16:creationId xmlns:a16="http://schemas.microsoft.com/office/drawing/2014/main" id="{A601D795-3C0A-426D-BF81-44BA11E60C9A}"/>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14">
            <a:extLst xmlns:a="http://schemas.openxmlformats.org/drawingml/2006/main">
              <a:ext uri="{FF2B5EF4-FFF2-40B4-BE49-F238E27FC236}">
                <a16:creationId xmlns:a16="http://schemas.microsoft.com/office/drawing/2014/main" id="{B51DD333-F1C3-41D2-8444-2F6658CF2120}"/>
              </a:ext>
            </a:extLst>
          </p:cNvPr>
          <p:cNvSpPr>
            <a:spLocks xmlns:a="http://schemas.openxmlformats.org/drawingml/2006/main" noGrp="1"/>
          </p:cNvSpPr>
          <p:nvPr/>
        </p:nvSpPr>
        <p:spPr>
          <a:xfrm xmlns:a="http://schemas.openxmlformats.org/drawingml/2006/main">
            <a:off x="952500" y="17002125"/>
            <a:ext cx="19558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14">
            <a:extLst xmlns:a="http://schemas.openxmlformats.org/drawingml/2006/main">
              <a:ext uri="{FF2B5EF4-FFF2-40B4-BE49-F238E27FC236}">
                <a16:creationId xmlns:a16="http://schemas.microsoft.com/office/drawing/2014/main" id="{69353606-10D6-4F50-A9E0-03C035C80078}"/>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177802996"/>
      </p:ext>
    </p:extLst>
  </p:cSld>
</p:sld>
</file>

<file path=ppt/slides/slide15.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15">
            <a:extLst xmlns:a="http://schemas.openxmlformats.org/drawingml/2006/main">
              <a:ext uri="{FF2B5EF4-FFF2-40B4-BE49-F238E27FC236}">
                <a16:creationId xmlns:a16="http://schemas.microsoft.com/office/drawing/2014/main" id="{49B25FCB-44B1-4210-9954-B5C9AC117A41}"/>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1 - YOLO-OBB</a:t>
            </a:r>
          </a:p>
        </p:txBody>
      </p:sp>
      <p:sp>
        <p:nvSpPr>
          <p:cNvPr id="2" name="progress-15">
            <a:extLst xmlns:a="http://schemas.openxmlformats.org/drawingml/2006/main">
              <a:ext uri="{FF2B5EF4-FFF2-40B4-BE49-F238E27FC236}">
                <a16:creationId xmlns:a16="http://schemas.microsoft.com/office/drawing/2014/main" id="{083D17CD-D59C-4B30-B882-51C12266DDF8}"/>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15 / 60</a:t>
            </a:r>
          </a:p>
        </p:txBody>
      </p:sp>
      <p:sp>
        <p:nvSpPr>
          <p:cNvPr id="3" name="title-15">
            <a:extLst xmlns:a="http://schemas.openxmlformats.org/drawingml/2006/main">
              <a:ext uri="{FF2B5EF4-FFF2-40B4-BE49-F238E27FC236}">
                <a16:creationId xmlns:a16="http://schemas.microsoft.com/office/drawing/2014/main" id="{11668C0A-690E-44E9-AF15-293FE4666A90}"/>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CARACTÉRISTIQUES SIMPLES</a:t>
            </a:r>
          </a:p>
        </p:txBody>
      </p:sp>
      <p:sp>
        <p:nvSpPr>
          <p:cNvPr id="4" name="accent-15">
            <a:extLst xmlns:a="http://schemas.openxmlformats.org/drawingml/2006/main">
              <a:ext uri="{FF2B5EF4-FFF2-40B4-BE49-F238E27FC236}">
                <a16:creationId xmlns:a16="http://schemas.microsoft.com/office/drawing/2014/main" id="{58E4F4E4-50C8-4CA5-8397-98F1D00E6B0C}"/>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15">
            <a:extLst xmlns:a="http://schemas.openxmlformats.org/drawingml/2006/main">
              <a:ext uri="{FF2B5EF4-FFF2-40B4-BE49-F238E27FC236}">
                <a16:creationId xmlns:a16="http://schemas.microsoft.com/office/drawing/2014/main" id="{6D759532-796C-4C85-A882-ACDD641B8F6E}"/>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050" b="0">
                <a:solidFill>
                  <a:srgbClr val="F6FAFC"/>
                </a:solidFill>
                <a:latin typeface="Arial"/>
                <a:ea typeface="Arial"/>
                <a:cs typeface="Arial"/>
              </a:defRPr>
            </a:pPr>
            <a:r>
              <a:rPr sz="4050" b="0">
                <a:solidFill>
                  <a:srgbClr val="F6FAFC"/>
                </a:solidFill>
                <a:latin typeface="Arial"/>
                <a:ea typeface="Arial"/>
                <a:cs typeface="Arial"/>
              </a:rPr>
              <a:t>Donc, au début, il peut repérer des éléments assez simples, comme des contours ou des textures. Puis, progressivement, il combine ces informations pour reconnaître des formes un peu plus complexes.</a:t>
            </a:r>
          </a:p>
        </p:txBody>
      </p:sp>
      <p:sp>
        <p:nvSpPr>
          <p:cNvPr id="6" name="progress-track-15">
            <a:extLst xmlns:a="http://schemas.openxmlformats.org/drawingml/2006/main">
              <a:ext uri="{FF2B5EF4-FFF2-40B4-BE49-F238E27FC236}">
                <a16:creationId xmlns:a16="http://schemas.microsoft.com/office/drawing/2014/main" id="{D09FBAC5-C94F-4814-8051-274D03F04D7B}"/>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15">
            <a:extLst xmlns:a="http://schemas.openxmlformats.org/drawingml/2006/main">
              <a:ext uri="{FF2B5EF4-FFF2-40B4-BE49-F238E27FC236}">
                <a16:creationId xmlns:a16="http://schemas.microsoft.com/office/drawing/2014/main" id="{F465AB6E-1F06-4DD1-A68C-555D926765A1}"/>
              </a:ext>
            </a:extLst>
          </p:cNvPr>
          <p:cNvSpPr>
            <a:spLocks xmlns:a="http://schemas.openxmlformats.org/drawingml/2006/main" noGrp="1"/>
          </p:cNvSpPr>
          <p:nvPr/>
        </p:nvSpPr>
        <p:spPr>
          <a:xfrm xmlns:a="http://schemas.openxmlformats.org/drawingml/2006/main">
            <a:off x="952500" y="17002125"/>
            <a:ext cx="20955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15">
            <a:extLst xmlns:a="http://schemas.openxmlformats.org/drawingml/2006/main">
              <a:ext uri="{FF2B5EF4-FFF2-40B4-BE49-F238E27FC236}">
                <a16:creationId xmlns:a16="http://schemas.microsoft.com/office/drawing/2014/main" id="{EECF11FF-3CD5-4A11-AA4E-442B387485C1}"/>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825442802"/>
      </p:ext>
    </p:extLst>
  </p:cSld>
</p:sld>
</file>

<file path=ppt/slides/slide16.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16">
            <a:extLst xmlns:a="http://schemas.openxmlformats.org/drawingml/2006/main">
              <a:ext uri="{FF2B5EF4-FFF2-40B4-BE49-F238E27FC236}">
                <a16:creationId xmlns:a16="http://schemas.microsoft.com/office/drawing/2014/main" id="{3B3C894B-08FA-44DD-A3EE-C89E40A78115}"/>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1 - YOLO-OBB</a:t>
            </a:r>
          </a:p>
        </p:txBody>
      </p:sp>
      <p:sp>
        <p:nvSpPr>
          <p:cNvPr id="2" name="progress-16">
            <a:extLst xmlns:a="http://schemas.openxmlformats.org/drawingml/2006/main">
              <a:ext uri="{FF2B5EF4-FFF2-40B4-BE49-F238E27FC236}">
                <a16:creationId xmlns:a16="http://schemas.microsoft.com/office/drawing/2014/main" id="{B2121B54-7EEE-484F-928C-434BF060B0D6}"/>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16 / 60</a:t>
            </a:r>
          </a:p>
        </p:txBody>
      </p:sp>
      <p:sp>
        <p:nvSpPr>
          <p:cNvPr id="3" name="title-16">
            <a:extLst xmlns:a="http://schemas.openxmlformats.org/drawingml/2006/main">
              <a:ext uri="{FF2B5EF4-FFF2-40B4-BE49-F238E27FC236}">
                <a16:creationId xmlns:a16="http://schemas.microsoft.com/office/drawing/2014/main" id="{A6A6A55A-9975-4D9B-8791-48E095A3A6DB}"/>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REPRÉSENTATION APPRISE</a:t>
            </a:r>
          </a:p>
        </p:txBody>
      </p:sp>
      <p:sp>
        <p:nvSpPr>
          <p:cNvPr id="4" name="accent-16">
            <a:extLst xmlns:a="http://schemas.openxmlformats.org/drawingml/2006/main">
              <a:ext uri="{FF2B5EF4-FFF2-40B4-BE49-F238E27FC236}">
                <a16:creationId xmlns:a16="http://schemas.microsoft.com/office/drawing/2014/main" id="{1AFDA8E0-C59A-44A7-95FF-668B7DC5571B}"/>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16">
            <a:extLst xmlns:a="http://schemas.openxmlformats.org/drawingml/2006/main">
              <a:ext uri="{FF2B5EF4-FFF2-40B4-BE49-F238E27FC236}">
                <a16:creationId xmlns:a16="http://schemas.microsoft.com/office/drawing/2014/main" id="{1E717D5B-DF48-45DA-B7A2-929A63AC2E7E}"/>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Le backbone ne dit pas directement « ici, on a un avion » ; il prépare plutôt une représentation de l'image que le reste du modèle va utiliser. Et ce qu'il apprend à repérer vient directement des images et des annotations utilisées pendant l'entraînement.</a:t>
            </a:r>
          </a:p>
        </p:txBody>
      </p:sp>
      <p:sp>
        <p:nvSpPr>
          <p:cNvPr id="6" name="progress-track-16">
            <a:extLst xmlns:a="http://schemas.openxmlformats.org/drawingml/2006/main">
              <a:ext uri="{FF2B5EF4-FFF2-40B4-BE49-F238E27FC236}">
                <a16:creationId xmlns:a16="http://schemas.microsoft.com/office/drawing/2014/main" id="{9669CD8E-7B6A-4321-A87F-4ADB6DD2DC09}"/>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16">
            <a:extLst xmlns:a="http://schemas.openxmlformats.org/drawingml/2006/main">
              <a:ext uri="{FF2B5EF4-FFF2-40B4-BE49-F238E27FC236}">
                <a16:creationId xmlns:a16="http://schemas.microsoft.com/office/drawing/2014/main" id="{E6CE692A-7DC0-46F9-BABD-22D0BE750C37}"/>
              </a:ext>
            </a:extLst>
          </p:cNvPr>
          <p:cNvSpPr>
            <a:spLocks xmlns:a="http://schemas.openxmlformats.org/drawingml/2006/main" noGrp="1"/>
          </p:cNvSpPr>
          <p:nvPr/>
        </p:nvSpPr>
        <p:spPr>
          <a:xfrm xmlns:a="http://schemas.openxmlformats.org/drawingml/2006/main">
            <a:off x="952500" y="17002125"/>
            <a:ext cx="22352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16">
            <a:extLst xmlns:a="http://schemas.openxmlformats.org/drawingml/2006/main">
              <a:ext uri="{FF2B5EF4-FFF2-40B4-BE49-F238E27FC236}">
                <a16:creationId xmlns:a16="http://schemas.microsoft.com/office/drawing/2014/main" id="{A2A56B99-8D75-4A0E-8602-677DD0905215}"/>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05551077"/>
      </p:ext>
    </p:extLst>
  </p:cSld>
</p:sld>
</file>

<file path=ppt/slides/slide17.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17">
            <a:extLst xmlns:a="http://schemas.openxmlformats.org/drawingml/2006/main">
              <a:ext uri="{FF2B5EF4-FFF2-40B4-BE49-F238E27FC236}">
                <a16:creationId xmlns:a16="http://schemas.microsoft.com/office/drawing/2014/main" id="{A9357391-7B31-4884-B4F6-4EA97E5AA99F}"/>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1 - YOLO-OBB</a:t>
            </a:r>
          </a:p>
        </p:txBody>
      </p:sp>
      <p:sp>
        <p:nvSpPr>
          <p:cNvPr id="2" name="progress-17">
            <a:extLst xmlns:a="http://schemas.openxmlformats.org/drawingml/2006/main">
              <a:ext uri="{FF2B5EF4-FFF2-40B4-BE49-F238E27FC236}">
                <a16:creationId xmlns:a16="http://schemas.microsoft.com/office/drawing/2014/main" id="{ACEC657A-7599-429A-8725-75F86EC230DF}"/>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17 / 60</a:t>
            </a:r>
          </a:p>
        </p:txBody>
      </p:sp>
      <p:sp>
        <p:nvSpPr>
          <p:cNvPr id="3" name="title-17">
            <a:extLst xmlns:a="http://schemas.openxmlformats.org/drawingml/2006/main">
              <a:ext uri="{FF2B5EF4-FFF2-40B4-BE49-F238E27FC236}">
                <a16:creationId xmlns:a16="http://schemas.microsoft.com/office/drawing/2014/main" id="{D7B72E11-A2D2-4BD0-B109-B5F0E3EE5976}"/>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ÉTAPE 3 - NECK</a:t>
            </a:r>
          </a:p>
        </p:txBody>
      </p:sp>
      <p:sp>
        <p:nvSpPr>
          <p:cNvPr id="4" name="accent-17">
            <a:extLst xmlns:a="http://schemas.openxmlformats.org/drawingml/2006/main">
              <a:ext uri="{FF2B5EF4-FFF2-40B4-BE49-F238E27FC236}">
                <a16:creationId xmlns:a16="http://schemas.microsoft.com/office/drawing/2014/main" id="{3CBBAB64-985A-46A4-A940-20B122A655DA}"/>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17">
            <a:extLst xmlns:a="http://schemas.openxmlformats.org/drawingml/2006/main">
              <a:ext uri="{FF2B5EF4-FFF2-40B4-BE49-F238E27FC236}">
                <a16:creationId xmlns:a16="http://schemas.microsoft.com/office/drawing/2014/main" id="{476602BF-EBF2-4E93-8CEF-C719B5F5C625}"/>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0">
                <a:solidFill>
                  <a:srgbClr val="F6FAFC"/>
                </a:solidFill>
                <a:latin typeface="Arial"/>
                <a:ea typeface="Arial"/>
                <a:cs typeface="Arial"/>
              </a:defRPr>
            </a:pPr>
            <a:r>
              <a:rPr sz="3150" b="0">
                <a:solidFill>
                  <a:srgbClr val="F6FAFC"/>
                </a:solidFill>
                <a:latin typeface="Arial"/>
                <a:ea typeface="Arial"/>
                <a:cs typeface="Arial"/>
              </a:rPr>
              <a:t>Après ça, on arrive directement à la troisième étape, qui est le neck multi-échelle. L'idée, elle est assez simple. Dans DOTA, on peut avoir de très petits véhicules et des objets beaucoup plus grands, comme des terrains de tennis, par exemple. Le modèle doit conserver les petits détails tout en utilisant une vue un peu plus globale. Donc, le neck sert à rassembler ces différents niveaux d'information.</a:t>
            </a:r>
          </a:p>
        </p:txBody>
      </p:sp>
      <p:sp>
        <p:nvSpPr>
          <p:cNvPr id="6" name="progress-track-17">
            <a:extLst xmlns:a="http://schemas.openxmlformats.org/drawingml/2006/main">
              <a:ext uri="{FF2B5EF4-FFF2-40B4-BE49-F238E27FC236}">
                <a16:creationId xmlns:a16="http://schemas.microsoft.com/office/drawing/2014/main" id="{FC65F7A5-61F7-447D-87EB-140178600724}"/>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17">
            <a:extLst xmlns:a="http://schemas.openxmlformats.org/drawingml/2006/main">
              <a:ext uri="{FF2B5EF4-FFF2-40B4-BE49-F238E27FC236}">
                <a16:creationId xmlns:a16="http://schemas.microsoft.com/office/drawing/2014/main" id="{CBB53DC0-C312-4509-8215-9B0B6D65DD73}"/>
              </a:ext>
            </a:extLst>
          </p:cNvPr>
          <p:cNvSpPr>
            <a:spLocks xmlns:a="http://schemas.openxmlformats.org/drawingml/2006/main" noGrp="1"/>
          </p:cNvSpPr>
          <p:nvPr/>
        </p:nvSpPr>
        <p:spPr>
          <a:xfrm xmlns:a="http://schemas.openxmlformats.org/drawingml/2006/main">
            <a:off x="952500" y="17002125"/>
            <a:ext cx="23749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17">
            <a:extLst xmlns:a="http://schemas.openxmlformats.org/drawingml/2006/main">
              <a:ext uri="{FF2B5EF4-FFF2-40B4-BE49-F238E27FC236}">
                <a16:creationId xmlns:a16="http://schemas.microsoft.com/office/drawing/2014/main" id="{C0F37448-6B8A-4138-A73D-6B1913F3D271}"/>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616957956"/>
      </p:ext>
    </p:extLst>
  </p:cSld>
</p:sld>
</file>

<file path=ppt/slides/slide18.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18">
            <a:extLst xmlns:a="http://schemas.openxmlformats.org/drawingml/2006/main">
              <a:ext uri="{FF2B5EF4-FFF2-40B4-BE49-F238E27FC236}">
                <a16:creationId xmlns:a16="http://schemas.microsoft.com/office/drawing/2014/main" id="{64A24B60-62E9-4E16-9ABA-B3854191EC33}"/>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1 - YOLO-OBB</a:t>
            </a:r>
          </a:p>
        </p:txBody>
      </p:sp>
      <p:sp>
        <p:nvSpPr>
          <p:cNvPr id="2" name="progress-18">
            <a:extLst xmlns:a="http://schemas.openxmlformats.org/drawingml/2006/main">
              <a:ext uri="{FF2B5EF4-FFF2-40B4-BE49-F238E27FC236}">
                <a16:creationId xmlns:a16="http://schemas.microsoft.com/office/drawing/2014/main" id="{FBDF18D6-A27B-47E9-BC62-05082FCD2EA1}"/>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18 / 60</a:t>
            </a:r>
          </a:p>
        </p:txBody>
      </p:sp>
      <p:sp>
        <p:nvSpPr>
          <p:cNvPr id="3" name="title-18">
            <a:extLst xmlns:a="http://schemas.openxmlformats.org/drawingml/2006/main">
              <a:ext uri="{FF2B5EF4-FFF2-40B4-BE49-F238E27FC236}">
                <a16:creationId xmlns:a16="http://schemas.microsoft.com/office/drawing/2014/main" id="{77A7585C-D520-45F9-AD5C-9CDAED7004A2}"/>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ÉTAPE 4 - TÊTE OBB</a:t>
            </a:r>
          </a:p>
        </p:txBody>
      </p:sp>
      <p:sp>
        <p:nvSpPr>
          <p:cNvPr id="4" name="accent-18">
            <a:extLst xmlns:a="http://schemas.openxmlformats.org/drawingml/2006/main">
              <a:ext uri="{FF2B5EF4-FFF2-40B4-BE49-F238E27FC236}">
                <a16:creationId xmlns:a16="http://schemas.microsoft.com/office/drawing/2014/main" id="{A1C5C6FF-D894-46FA-B641-97B4FB3D0332}"/>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18">
            <a:extLst xmlns:a="http://schemas.openxmlformats.org/drawingml/2006/main">
              <a:ext uri="{FF2B5EF4-FFF2-40B4-BE49-F238E27FC236}">
                <a16:creationId xmlns:a16="http://schemas.microsoft.com/office/drawing/2014/main" id="{E0AE7ADB-AD7C-4A65-A56E-C130C1725235}"/>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Ensuite, la quatrième étape, c'est la tête OBB. C'est à ce moment-là que le modèle transforme les informations extraites en vraies prédictions. Donc, pour chaque objet qu'il pense avoir trouvé, il donne une classe, un score de confiance et une boîte orientée qui indique où l'objet se trouve et dans quelle direction il est placé.</a:t>
            </a:r>
          </a:p>
        </p:txBody>
      </p:sp>
      <p:sp>
        <p:nvSpPr>
          <p:cNvPr id="6" name="progress-track-18">
            <a:extLst xmlns:a="http://schemas.openxmlformats.org/drawingml/2006/main">
              <a:ext uri="{FF2B5EF4-FFF2-40B4-BE49-F238E27FC236}">
                <a16:creationId xmlns:a16="http://schemas.microsoft.com/office/drawing/2014/main" id="{0F9A02C8-253C-49D5-8C78-278C4F737F2F}"/>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18">
            <a:extLst xmlns:a="http://schemas.openxmlformats.org/drawingml/2006/main">
              <a:ext uri="{FF2B5EF4-FFF2-40B4-BE49-F238E27FC236}">
                <a16:creationId xmlns:a16="http://schemas.microsoft.com/office/drawing/2014/main" id="{11A533E8-EC4B-4CC4-9D10-2B3040833E4F}"/>
              </a:ext>
            </a:extLst>
          </p:cNvPr>
          <p:cNvSpPr>
            <a:spLocks xmlns:a="http://schemas.openxmlformats.org/drawingml/2006/main" noGrp="1"/>
          </p:cNvSpPr>
          <p:nvPr/>
        </p:nvSpPr>
        <p:spPr>
          <a:xfrm xmlns:a="http://schemas.openxmlformats.org/drawingml/2006/main">
            <a:off x="952500" y="17002125"/>
            <a:ext cx="25146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18">
            <a:extLst xmlns:a="http://schemas.openxmlformats.org/drawingml/2006/main">
              <a:ext uri="{FF2B5EF4-FFF2-40B4-BE49-F238E27FC236}">
                <a16:creationId xmlns:a16="http://schemas.microsoft.com/office/drawing/2014/main" id="{86230769-E06E-4972-9269-701CACA71DA5}"/>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511262960"/>
      </p:ext>
    </p:extLst>
  </p:cSld>
</p:sld>
</file>

<file path=ppt/slides/slide19.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19">
            <a:extLst xmlns:a="http://schemas.openxmlformats.org/drawingml/2006/main">
              <a:ext uri="{FF2B5EF4-FFF2-40B4-BE49-F238E27FC236}">
                <a16:creationId xmlns:a16="http://schemas.microsoft.com/office/drawing/2014/main" id="{DD2D4A17-97BF-43D1-963B-B064DB524D5B}"/>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1 - YOLO-OBB</a:t>
            </a:r>
          </a:p>
        </p:txBody>
      </p:sp>
      <p:sp>
        <p:nvSpPr>
          <p:cNvPr id="2" name="progress-19">
            <a:extLst xmlns:a="http://schemas.openxmlformats.org/drawingml/2006/main">
              <a:ext uri="{FF2B5EF4-FFF2-40B4-BE49-F238E27FC236}">
                <a16:creationId xmlns:a16="http://schemas.microsoft.com/office/drawing/2014/main" id="{8ECCDCC1-0157-438F-9072-50BB24C213F3}"/>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19 / 60</a:t>
            </a:r>
          </a:p>
        </p:txBody>
      </p:sp>
      <p:sp>
        <p:nvSpPr>
          <p:cNvPr id="3" name="title-19">
            <a:extLst xmlns:a="http://schemas.openxmlformats.org/drawingml/2006/main">
              <a:ext uri="{FF2B5EF4-FFF2-40B4-BE49-F238E27FC236}">
                <a16:creationId xmlns:a16="http://schemas.microsoft.com/office/drawing/2014/main" id="{57C6E4E5-3F06-4BEE-AB6D-21DFB3389948}"/>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ÉTAPE 5 - FILTRAGE</a:t>
            </a:r>
          </a:p>
        </p:txBody>
      </p:sp>
      <p:sp>
        <p:nvSpPr>
          <p:cNvPr id="4" name="accent-19">
            <a:extLst xmlns:a="http://schemas.openxmlformats.org/drawingml/2006/main">
              <a:ext uri="{FF2B5EF4-FFF2-40B4-BE49-F238E27FC236}">
                <a16:creationId xmlns:a16="http://schemas.microsoft.com/office/drawing/2014/main" id="{1DAB2DDA-1596-482E-A068-7FB0E10F5E96}"/>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19">
            <a:extLst xmlns:a="http://schemas.openxmlformats.org/drawingml/2006/main">
              <a:ext uri="{FF2B5EF4-FFF2-40B4-BE49-F238E27FC236}">
                <a16:creationId xmlns:a16="http://schemas.microsoft.com/office/drawing/2014/main" id="{B73C7FA9-65BD-4EC4-A8CC-2DCB77D44FC4}"/>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Puis, finalement, la cinquième étape, c'est le filtrage. Le modèle peut produire des prédictions peu fiables ou plusieurs boîtes pour le même objet. Donc, on enlève celles dont la confiance est trop faible, puis on garde la meilleure lorsqu'on a plusieurs boîtes très similaires.</a:t>
            </a:r>
          </a:p>
        </p:txBody>
      </p:sp>
      <p:sp>
        <p:nvSpPr>
          <p:cNvPr id="6" name="progress-track-19">
            <a:extLst xmlns:a="http://schemas.openxmlformats.org/drawingml/2006/main">
              <a:ext uri="{FF2B5EF4-FFF2-40B4-BE49-F238E27FC236}">
                <a16:creationId xmlns:a16="http://schemas.microsoft.com/office/drawing/2014/main" id="{0CCCBC17-F337-4E1A-AE61-10BBDE4D671D}"/>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19">
            <a:extLst xmlns:a="http://schemas.openxmlformats.org/drawingml/2006/main">
              <a:ext uri="{FF2B5EF4-FFF2-40B4-BE49-F238E27FC236}">
                <a16:creationId xmlns:a16="http://schemas.microsoft.com/office/drawing/2014/main" id="{5557F6A9-E031-4A5B-B376-8F5E478481B0}"/>
              </a:ext>
            </a:extLst>
          </p:cNvPr>
          <p:cNvSpPr>
            <a:spLocks xmlns:a="http://schemas.openxmlformats.org/drawingml/2006/main" noGrp="1"/>
          </p:cNvSpPr>
          <p:nvPr/>
        </p:nvSpPr>
        <p:spPr>
          <a:xfrm xmlns:a="http://schemas.openxmlformats.org/drawingml/2006/main">
            <a:off x="952500" y="17002125"/>
            <a:ext cx="26543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19">
            <a:extLst xmlns:a="http://schemas.openxmlformats.org/drawingml/2006/main">
              <a:ext uri="{FF2B5EF4-FFF2-40B4-BE49-F238E27FC236}">
                <a16:creationId xmlns:a16="http://schemas.microsoft.com/office/drawing/2014/main" id="{22CE9CB1-BEC6-4100-B2B6-EDAB0741A5F4}"/>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203578482"/>
      </p:ext>
    </p:extLst>
  </p:cSld>
</p:sld>
</file>

<file path=ppt/slides/slide2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20">
            <a:extLst xmlns:a="http://schemas.openxmlformats.org/drawingml/2006/main">
              <a:ext uri="{FF2B5EF4-FFF2-40B4-BE49-F238E27FC236}">
                <a16:creationId xmlns:a16="http://schemas.microsoft.com/office/drawing/2014/main" id="{5493DDAF-8AD6-4152-A20F-0D73D8C8972E}"/>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1 - YOLO-OBB</a:t>
            </a:r>
          </a:p>
        </p:txBody>
      </p:sp>
      <p:sp>
        <p:nvSpPr>
          <p:cNvPr id="2" name="progress-20">
            <a:extLst xmlns:a="http://schemas.openxmlformats.org/drawingml/2006/main">
              <a:ext uri="{FF2B5EF4-FFF2-40B4-BE49-F238E27FC236}">
                <a16:creationId xmlns:a16="http://schemas.microsoft.com/office/drawing/2014/main" id="{C87DF619-EDD6-47EB-BBED-322B51A74DD1}"/>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20 / 60</a:t>
            </a:r>
          </a:p>
        </p:txBody>
      </p:sp>
      <p:sp>
        <p:nvSpPr>
          <p:cNvPr id="3" name="title-20">
            <a:extLst xmlns:a="http://schemas.openxmlformats.org/drawingml/2006/main">
              <a:ext uri="{FF2B5EF4-FFF2-40B4-BE49-F238E27FC236}">
                <a16:creationId xmlns:a16="http://schemas.microsoft.com/office/drawing/2014/main" id="{9873F647-584E-4C25-85EB-B16E7C6CC20E}"/>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RÉSUMÉ DU PIPELINE</a:t>
            </a:r>
          </a:p>
        </p:txBody>
      </p:sp>
      <p:sp>
        <p:nvSpPr>
          <p:cNvPr id="4" name="accent-20">
            <a:extLst xmlns:a="http://schemas.openxmlformats.org/drawingml/2006/main">
              <a:ext uri="{FF2B5EF4-FFF2-40B4-BE49-F238E27FC236}">
                <a16:creationId xmlns:a16="http://schemas.microsoft.com/office/drawing/2014/main" id="{CBBD1EC5-7092-4A90-96C8-0A0B33003CEE}"/>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20">
            <a:extLst xmlns:a="http://schemas.openxmlformats.org/drawingml/2006/main">
              <a:ext uri="{FF2B5EF4-FFF2-40B4-BE49-F238E27FC236}">
                <a16:creationId xmlns:a16="http://schemas.microsoft.com/office/drawing/2014/main" id="{709EA459-0A16-406E-B1B8-515FF0E1DEE2}"/>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Donc là, si je résume les cinq étapes : on prépare l'image, on extrait les informations avec le CNN, on rassemble les différentes échelles, on produit les boîtes orientées, puis on filtre les résultats. Ce que je viens de décrire correspond au moment où on utilise un modèle déjà entraîné.</a:t>
            </a:r>
          </a:p>
        </p:txBody>
      </p:sp>
      <p:sp>
        <p:nvSpPr>
          <p:cNvPr id="6" name="progress-track-20">
            <a:extLst xmlns:a="http://schemas.openxmlformats.org/drawingml/2006/main">
              <a:ext uri="{FF2B5EF4-FFF2-40B4-BE49-F238E27FC236}">
                <a16:creationId xmlns:a16="http://schemas.microsoft.com/office/drawing/2014/main" id="{63350D33-3C64-4E71-8306-22728EEFB6DF}"/>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20">
            <a:extLst xmlns:a="http://schemas.openxmlformats.org/drawingml/2006/main">
              <a:ext uri="{FF2B5EF4-FFF2-40B4-BE49-F238E27FC236}">
                <a16:creationId xmlns:a16="http://schemas.microsoft.com/office/drawing/2014/main" id="{77537DE0-BE43-4D11-A76F-FD49B05378C2}"/>
              </a:ext>
            </a:extLst>
          </p:cNvPr>
          <p:cNvSpPr>
            <a:spLocks xmlns:a="http://schemas.openxmlformats.org/drawingml/2006/main" noGrp="1"/>
          </p:cNvSpPr>
          <p:nvPr/>
        </p:nvSpPr>
        <p:spPr>
          <a:xfrm xmlns:a="http://schemas.openxmlformats.org/drawingml/2006/main">
            <a:off x="952500" y="17002125"/>
            <a:ext cx="27940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20">
            <a:extLst xmlns:a="http://schemas.openxmlformats.org/drawingml/2006/main">
              <a:ext uri="{FF2B5EF4-FFF2-40B4-BE49-F238E27FC236}">
                <a16:creationId xmlns:a16="http://schemas.microsoft.com/office/drawing/2014/main" id="{51F7F0F5-2DF0-4424-9EB2-CF69BD359564}"/>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243900967"/>
      </p:ext>
    </p:extLst>
  </p:cSld>
</p:sld>
</file>

<file path=ppt/slides/slide21.xml><?xml version="1.0" encoding="utf-8"?>
<p:sld xmlns:p="http://schemas.openxmlformats.org/presentationml/2006/main">
  <p:cSld>
    <p:bg>
      <p:bgPr>
        <a:solidFill xmlns:a="http://schemas.openxmlformats.org/drawingml/2006/main">
          <a:srgbClr val="211907"/>
        </a:solidFill>
      </p:bgPr>
    </p:bg>
    <p:spTree>
      <p:nvGrpSpPr>
        <p:cNvPr id="1" name=""/>
        <p:cNvGrpSpPr/>
        <p:nvPr/>
      </p:nvGrpSpPr>
      <p:grpSpPr>
        <a:xfrm xmlns:a="http://schemas.openxmlformats.org/drawingml/2006/main"/>
      </p:grpSpPr>
      <p:sp>
        <p:nvSpPr>
          <p:cNvPr id="1" name="section-21">
            <a:extLst xmlns:a="http://schemas.openxmlformats.org/drawingml/2006/main">
              <a:ext uri="{FF2B5EF4-FFF2-40B4-BE49-F238E27FC236}">
                <a16:creationId xmlns:a16="http://schemas.microsoft.com/office/drawing/2014/main" id="{7EB23B71-6755-4453-9993-47F29731A309}"/>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9C386"/>
                </a:solidFill>
                <a:latin typeface="Arial"/>
                <a:ea typeface="Arial"/>
                <a:cs typeface="Arial"/>
              </a:defRPr>
            </a:pPr>
            <a:r>
              <a:rPr sz="1650" b="1">
                <a:solidFill>
                  <a:srgbClr val="D9C386"/>
                </a:solidFill>
                <a:latin typeface="Arial"/>
                <a:ea typeface="Arial"/>
                <a:cs typeface="Arial"/>
              </a:rPr>
              <a:t>DIAPO 1 - YOLO-OBB</a:t>
            </a:r>
          </a:p>
        </p:txBody>
      </p:sp>
      <p:sp>
        <p:nvSpPr>
          <p:cNvPr id="2" name="progress-21">
            <a:extLst xmlns:a="http://schemas.openxmlformats.org/drawingml/2006/main">
              <a:ext uri="{FF2B5EF4-FFF2-40B4-BE49-F238E27FC236}">
                <a16:creationId xmlns:a16="http://schemas.microsoft.com/office/drawing/2014/main" id="{E66978FD-78A9-401F-A665-F748F6213050}"/>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9C386"/>
                </a:solidFill>
                <a:latin typeface="Arial"/>
                <a:ea typeface="Arial"/>
                <a:cs typeface="Arial"/>
              </a:defRPr>
            </a:pPr>
            <a:r>
              <a:rPr sz="1800" b="1">
                <a:solidFill>
                  <a:srgbClr val="D9C386"/>
                </a:solidFill>
                <a:latin typeface="Arial"/>
                <a:ea typeface="Arial"/>
                <a:cs typeface="Arial"/>
              </a:rPr>
              <a:t>21 / 60</a:t>
            </a:r>
          </a:p>
        </p:txBody>
      </p:sp>
      <p:sp>
        <p:nvSpPr>
          <p:cNvPr id="3" name="body-21">
            <a:extLst xmlns:a="http://schemas.openxmlformats.org/drawingml/2006/main">
              <a:ext uri="{FF2B5EF4-FFF2-40B4-BE49-F238E27FC236}">
                <a16:creationId xmlns:a16="http://schemas.microsoft.com/office/drawing/2014/main" id="{44827DD5-F98A-428D-976E-911D6A0DB512}"/>
              </a:ext>
            </a:extLst>
          </p:cNvPr>
          <p:cNvSpPr>
            <a:spLocks xmlns:a="http://schemas.openxmlformats.org/drawingml/2006/main" noGrp="1"/>
          </p:cNvSpPr>
          <p:nvPr/>
        </p:nvSpPr>
        <p:spPr>
          <a:xfrm xmlns:a="http://schemas.openxmlformats.org/drawingml/2006/main">
            <a:off x="952500" y="4476750"/>
            <a:ext cx="8382000" cy="838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900" b="1">
                <a:solidFill>
                  <a:srgbClr val="FFF3C9"/>
                </a:solidFill>
                <a:latin typeface="Arial"/>
                <a:ea typeface="Arial"/>
                <a:cs typeface="Arial"/>
              </a:defRPr>
            </a:pPr>
            <a:r>
              <a:rPr sz="6900" b="1">
                <a:solidFill>
                  <a:srgbClr val="FFF3C9"/>
                </a:solidFill>
                <a:latin typeface="Arial"/>
                <a:ea typeface="Arial"/>
                <a:cs typeface="Arial"/>
              </a:rPr>
              <a:t>(PAUSE)</a:t>
            </a:r>
          </a:p>
        </p:txBody>
      </p:sp>
      <p:sp>
        <p:nvSpPr>
          <p:cNvPr id="4" name="progress-track-21">
            <a:extLst xmlns:a="http://schemas.openxmlformats.org/drawingml/2006/main">
              <a:ext uri="{FF2B5EF4-FFF2-40B4-BE49-F238E27FC236}">
                <a16:creationId xmlns:a16="http://schemas.microsoft.com/office/drawing/2014/main" id="{599B150A-B6D6-4AB7-854E-2034EBED8549}"/>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5" name="progress-fill-21">
            <a:extLst xmlns:a="http://schemas.openxmlformats.org/drawingml/2006/main">
              <a:ext uri="{FF2B5EF4-FFF2-40B4-BE49-F238E27FC236}">
                <a16:creationId xmlns:a16="http://schemas.microsoft.com/office/drawing/2014/main" id="{2716FBF8-A1EE-49C6-ACB8-D5E02672F17D}"/>
              </a:ext>
            </a:extLst>
          </p:cNvPr>
          <p:cNvSpPr>
            <a:spLocks xmlns:a="http://schemas.openxmlformats.org/drawingml/2006/main" noGrp="1"/>
          </p:cNvSpPr>
          <p:nvPr/>
        </p:nvSpPr>
        <p:spPr>
          <a:xfrm xmlns:a="http://schemas.openxmlformats.org/drawingml/2006/main">
            <a:off x="952500" y="17002125"/>
            <a:ext cx="2933700" cy="57150"/>
          </a:xfrm>
          <a:prstGeom xmlns:a="http://schemas.openxmlformats.org/drawingml/2006/main" prst="rect">
            <a:avLst/>
          </a:prstGeom>
          <a:solidFill xmlns:a="http://schemas.openxmlformats.org/drawingml/2006/main">
            <a:srgbClr val="F5C451"/>
          </a:solidFill>
          <a:ln xmlns:a="http://schemas.openxmlformats.org/drawingml/2006/main" w="0">
            <a:solidFill>
              <a:srgbClr val="F5C451"/>
            </a:solidFill>
            <a:prstDash val="solid"/>
          </a:ln>
        </p:spPr>
      </p:sp>
      <p:sp>
        <p:nvSpPr>
          <p:cNvPr id="6" name="footer-21">
            <a:extLst xmlns:a="http://schemas.openxmlformats.org/drawingml/2006/main">
              <a:ext uri="{FF2B5EF4-FFF2-40B4-BE49-F238E27FC236}">
                <a16:creationId xmlns:a16="http://schemas.microsoft.com/office/drawing/2014/main" id="{62C65134-F0CC-4349-9EEE-EE90B0E95A19}"/>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9C386"/>
                </a:solidFill>
                <a:latin typeface="Arial"/>
                <a:ea typeface="Arial"/>
                <a:cs typeface="Arial"/>
              </a:defRPr>
            </a:pPr>
            <a:r>
              <a:rPr sz="1350" b="1">
                <a:solidFill>
                  <a:srgbClr val="D9C386"/>
                </a:solidFill>
                <a:latin typeface="Arial"/>
                <a:ea typeface="Arial"/>
                <a:cs typeface="Arial"/>
              </a:rPr>
              <a:t>SCRIPT MOBILE - SOUTENANCE YOLO-OBB</a:t>
            </a:r>
          </a:p>
        </p:txBody>
      </p:sp>
    </p:spTree>
    <p:extLst>
      <p:ext uri="{BB962C8B-B14F-4D97-AF65-F5344CB8AC3E}">
        <p14:creationId xmlns:p14="http://schemas.microsoft.com/office/powerpoint/2010/main" val="868126331"/>
      </p:ext>
    </p:extLst>
  </p:cSld>
</p:sld>
</file>

<file path=ppt/slides/slide22.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22">
            <a:extLst xmlns:a="http://schemas.openxmlformats.org/drawingml/2006/main">
              <a:ext uri="{FF2B5EF4-FFF2-40B4-BE49-F238E27FC236}">
                <a16:creationId xmlns:a16="http://schemas.microsoft.com/office/drawing/2014/main" id="{AB680115-1004-47BA-A22D-18F333BAA017}"/>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1 - YOLO-OBB</a:t>
            </a:r>
          </a:p>
        </p:txBody>
      </p:sp>
      <p:sp>
        <p:nvSpPr>
          <p:cNvPr id="2" name="progress-22">
            <a:extLst xmlns:a="http://schemas.openxmlformats.org/drawingml/2006/main">
              <a:ext uri="{FF2B5EF4-FFF2-40B4-BE49-F238E27FC236}">
                <a16:creationId xmlns:a16="http://schemas.microsoft.com/office/drawing/2014/main" id="{21ED51A0-A460-4E52-89BC-01CF522FACAE}"/>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22 / 60</a:t>
            </a:r>
          </a:p>
        </p:txBody>
      </p:sp>
      <p:sp>
        <p:nvSpPr>
          <p:cNvPr id="3" name="title-22">
            <a:extLst xmlns:a="http://schemas.openxmlformats.org/drawingml/2006/main">
              <a:ext uri="{FF2B5EF4-FFF2-40B4-BE49-F238E27FC236}">
                <a16:creationId xmlns:a16="http://schemas.microsoft.com/office/drawing/2014/main" id="{066280BD-1D72-4CAB-A45E-710175DE6BAF}"/>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TRANSITION VERS L'IOU</a:t>
            </a:r>
          </a:p>
        </p:txBody>
      </p:sp>
      <p:sp>
        <p:nvSpPr>
          <p:cNvPr id="4" name="accent-22">
            <a:extLst xmlns:a="http://schemas.openxmlformats.org/drawingml/2006/main">
              <a:ext uri="{FF2B5EF4-FFF2-40B4-BE49-F238E27FC236}">
                <a16:creationId xmlns:a16="http://schemas.microsoft.com/office/drawing/2014/main" id="{AAAFE9D9-80B6-432E-846E-3B89F70AA650}"/>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22">
            <a:extLst xmlns:a="http://schemas.openxmlformats.org/drawingml/2006/main">
              <a:ext uri="{FF2B5EF4-FFF2-40B4-BE49-F238E27FC236}">
                <a16:creationId xmlns:a16="http://schemas.microsoft.com/office/drawing/2014/main" id="{0B2AA65F-3E99-4D15-BCE1-B98D5A0DDC5B}"/>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Pour la démonstration, je vais simplement charger le meilleur modèle que j'ai sauvegardé et lui donner une image. Mais avant de passer au code, je vais expliquer une formule très importante qui permet de mesurer la superposition entre deux boîtes : l'IoU.</a:t>
            </a:r>
          </a:p>
        </p:txBody>
      </p:sp>
      <p:sp>
        <p:nvSpPr>
          <p:cNvPr id="6" name="progress-track-22">
            <a:extLst xmlns:a="http://schemas.openxmlformats.org/drawingml/2006/main">
              <a:ext uri="{FF2B5EF4-FFF2-40B4-BE49-F238E27FC236}">
                <a16:creationId xmlns:a16="http://schemas.microsoft.com/office/drawing/2014/main" id="{967735A9-25D1-4275-A102-B844FD55D5C5}"/>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22">
            <a:extLst xmlns:a="http://schemas.openxmlformats.org/drawingml/2006/main">
              <a:ext uri="{FF2B5EF4-FFF2-40B4-BE49-F238E27FC236}">
                <a16:creationId xmlns:a16="http://schemas.microsoft.com/office/drawing/2014/main" id="{03B9914E-B747-413B-875E-9E645AB218DB}"/>
              </a:ext>
            </a:extLst>
          </p:cNvPr>
          <p:cNvSpPr>
            <a:spLocks xmlns:a="http://schemas.openxmlformats.org/drawingml/2006/main" noGrp="1"/>
          </p:cNvSpPr>
          <p:nvPr/>
        </p:nvSpPr>
        <p:spPr>
          <a:xfrm xmlns:a="http://schemas.openxmlformats.org/drawingml/2006/main">
            <a:off x="952500" y="17002125"/>
            <a:ext cx="30734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22">
            <a:extLst xmlns:a="http://schemas.openxmlformats.org/drawingml/2006/main">
              <a:ext uri="{FF2B5EF4-FFF2-40B4-BE49-F238E27FC236}">
                <a16:creationId xmlns:a16="http://schemas.microsoft.com/office/drawing/2014/main" id="{44566561-4B9A-4E29-AEC4-3E2F6832E207}"/>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111174518"/>
      </p:ext>
    </p:extLst>
  </p:cSld>
</p:sld>
</file>

<file path=ppt/slides/slide23.xml><?xml version="1.0" encoding="utf-8"?>
<p:sld xmlns:p="http://schemas.openxmlformats.org/presentationml/2006/main">
  <p:cSld>
    <p:bg>
      <p:bgPr>
        <a:solidFill xmlns:a="http://schemas.openxmlformats.org/drawingml/2006/main">
          <a:srgbClr val="250B14"/>
        </a:solidFill>
      </p:bgPr>
    </p:bg>
    <p:spTree>
      <p:nvGrpSpPr>
        <p:cNvPr id="1" name=""/>
        <p:cNvGrpSpPr/>
        <p:nvPr/>
      </p:nvGrpSpPr>
      <p:grpSpPr>
        <a:xfrm xmlns:a="http://schemas.openxmlformats.org/drawingml/2006/main"/>
      </p:grpSpPr>
      <p:sp>
        <p:nvSpPr>
          <p:cNvPr id="1" name="section-23">
            <a:extLst xmlns:a="http://schemas.openxmlformats.org/drawingml/2006/main">
              <a:ext uri="{FF2B5EF4-FFF2-40B4-BE49-F238E27FC236}">
                <a16:creationId xmlns:a16="http://schemas.microsoft.com/office/drawing/2014/main" id="{1ADC32A2-7FD5-4A69-B07E-6AF433954D43}"/>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FA7B3"/>
                </a:solidFill>
                <a:latin typeface="Arial"/>
                <a:ea typeface="Arial"/>
                <a:cs typeface="Arial"/>
              </a:defRPr>
            </a:pPr>
            <a:r>
              <a:rPr sz="1650" b="1">
                <a:solidFill>
                  <a:srgbClr val="DFA7B3"/>
                </a:solidFill>
                <a:latin typeface="Arial"/>
                <a:ea typeface="Arial"/>
                <a:cs typeface="Arial"/>
              </a:rPr>
              <a:t>DIAPO 2 - IOU ET RESULTATS</a:t>
            </a:r>
          </a:p>
        </p:txBody>
      </p:sp>
      <p:sp>
        <p:nvSpPr>
          <p:cNvPr id="2" name="progress-23">
            <a:extLst xmlns:a="http://schemas.openxmlformats.org/drawingml/2006/main">
              <a:ext uri="{FF2B5EF4-FFF2-40B4-BE49-F238E27FC236}">
                <a16:creationId xmlns:a16="http://schemas.microsoft.com/office/drawing/2014/main" id="{E17C2A94-BA8D-45B2-9C6F-6A541B7E60FD}"/>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FA7B3"/>
                </a:solidFill>
                <a:latin typeface="Arial"/>
                <a:ea typeface="Arial"/>
                <a:cs typeface="Arial"/>
              </a:defRPr>
            </a:pPr>
            <a:r>
              <a:rPr sz="1800" b="1">
                <a:solidFill>
                  <a:srgbClr val="DFA7B3"/>
                </a:solidFill>
                <a:latin typeface="Arial"/>
                <a:ea typeface="Arial"/>
                <a:cs typeface="Arial"/>
              </a:rPr>
              <a:t>23 / 60</a:t>
            </a:r>
          </a:p>
        </p:txBody>
      </p:sp>
      <p:sp>
        <p:nvSpPr>
          <p:cNvPr id="3" name="title-23">
            <a:extLst xmlns:a="http://schemas.openxmlformats.org/drawingml/2006/main">
              <a:ext uri="{FF2B5EF4-FFF2-40B4-BE49-F238E27FC236}">
                <a16:creationId xmlns:a16="http://schemas.microsoft.com/office/drawing/2014/main" id="{1C6D33AB-5064-4CFF-8FF7-848FE6887B81}"/>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F91A8"/>
                </a:solidFill>
                <a:latin typeface="Arial"/>
                <a:ea typeface="Arial"/>
                <a:cs typeface="Arial"/>
              </a:defRPr>
            </a:pPr>
            <a:r>
              <a:rPr sz="2700" b="1">
                <a:solidFill>
                  <a:srgbClr val="FF91A8"/>
                </a:solidFill>
                <a:latin typeface="Arial"/>
                <a:ea typeface="Arial"/>
                <a:cs typeface="Arial"/>
              </a:rPr>
              <a:t>ACTION - SOURIS</a:t>
            </a:r>
          </a:p>
        </p:txBody>
      </p:sp>
      <p:sp>
        <p:nvSpPr>
          <p:cNvPr id="4" name="accent-23">
            <a:extLst xmlns:a="http://schemas.openxmlformats.org/drawingml/2006/main">
              <a:ext uri="{FF2B5EF4-FFF2-40B4-BE49-F238E27FC236}">
                <a16:creationId xmlns:a16="http://schemas.microsoft.com/office/drawing/2014/main" id="{3D43F031-9176-4084-A446-5728EEAFF66C}"/>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5" name="body-23">
            <a:extLst xmlns:a="http://schemas.openxmlformats.org/drawingml/2006/main">
              <a:ext uri="{FF2B5EF4-FFF2-40B4-BE49-F238E27FC236}">
                <a16:creationId xmlns:a16="http://schemas.microsoft.com/office/drawing/2014/main" id="{6D056893-3E9F-44DE-B630-3119E166EBB6}"/>
              </a:ext>
            </a:extLst>
          </p:cNvPr>
          <p:cNvSpPr>
            <a:spLocks xmlns:a="http://schemas.openxmlformats.org/drawingml/2006/main" noGrp="1"/>
          </p:cNvSpPr>
          <p:nvPr/>
        </p:nvSpPr>
        <p:spPr>
          <a:xfrm xmlns:a="http://schemas.openxmlformats.org/drawingml/2006/main">
            <a:off x="952500" y="4476750"/>
            <a:ext cx="8382000" cy="838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4800" b="1">
                <a:solidFill>
                  <a:srgbClr val="FFF4F6"/>
                </a:solidFill>
                <a:latin typeface="Arial"/>
                <a:ea typeface="Arial"/>
                <a:cs typeface="Arial"/>
              </a:defRPr>
            </a:pPr>
            <a:r>
              <a:rPr sz="4800" b="1">
                <a:solidFill>
                  <a:srgbClr val="FFF4F6"/>
                </a:solidFill>
                <a:latin typeface="Arial"/>
                <a:ea typeface="Arial"/>
                <a:cs typeface="Arial"/>
              </a:rPr>
              <a:t>[PASSER À LA DIAPO 2]</a:t>
            </a:r>
          </a:p>
        </p:txBody>
      </p:sp>
      <p:sp>
        <p:nvSpPr>
          <p:cNvPr id="6" name="progress-track-23">
            <a:extLst xmlns:a="http://schemas.openxmlformats.org/drawingml/2006/main">
              <a:ext uri="{FF2B5EF4-FFF2-40B4-BE49-F238E27FC236}">
                <a16:creationId xmlns:a16="http://schemas.microsoft.com/office/drawing/2014/main" id="{C873C60C-02CE-4FE6-ADA6-801AA333644B}"/>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23">
            <a:extLst xmlns:a="http://schemas.openxmlformats.org/drawingml/2006/main">
              <a:ext uri="{FF2B5EF4-FFF2-40B4-BE49-F238E27FC236}">
                <a16:creationId xmlns:a16="http://schemas.microsoft.com/office/drawing/2014/main" id="{3554FA9A-E950-4EDF-BCF7-7D64EF2967E3}"/>
              </a:ext>
            </a:extLst>
          </p:cNvPr>
          <p:cNvSpPr>
            <a:spLocks xmlns:a="http://schemas.openxmlformats.org/drawingml/2006/main" noGrp="1"/>
          </p:cNvSpPr>
          <p:nvPr/>
        </p:nvSpPr>
        <p:spPr>
          <a:xfrm xmlns:a="http://schemas.openxmlformats.org/drawingml/2006/main">
            <a:off x="952500" y="17002125"/>
            <a:ext cx="3213100" cy="5715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8" name="footer-23">
            <a:extLst xmlns:a="http://schemas.openxmlformats.org/drawingml/2006/main">
              <a:ext uri="{FF2B5EF4-FFF2-40B4-BE49-F238E27FC236}">
                <a16:creationId xmlns:a16="http://schemas.microsoft.com/office/drawing/2014/main" id="{DC3FFA65-DEDA-4B43-8410-76087CEAB2B0}"/>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FA7B3"/>
                </a:solidFill>
                <a:latin typeface="Arial"/>
                <a:ea typeface="Arial"/>
                <a:cs typeface="Arial"/>
              </a:defRPr>
            </a:pPr>
            <a:r>
              <a:rPr sz="1350" b="1">
                <a:solidFill>
                  <a:srgbClr val="DFA7B3"/>
                </a:solidFill>
                <a:latin typeface="Arial"/>
                <a:ea typeface="Arial"/>
                <a:cs typeface="Arial"/>
              </a:rPr>
              <a:t>SCRIPT MOBILE - SOUTENANCE YOLO-OBB</a:t>
            </a:r>
          </a:p>
        </p:txBody>
      </p:sp>
    </p:spTree>
    <p:extLst>
      <p:ext uri="{BB962C8B-B14F-4D97-AF65-F5344CB8AC3E}">
        <p14:creationId xmlns:p14="http://schemas.microsoft.com/office/powerpoint/2010/main" val="1852578110"/>
      </p:ext>
    </p:extLst>
  </p:cSld>
</p:sld>
</file>

<file path=ppt/slides/slide24.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24">
            <a:extLst xmlns:a="http://schemas.openxmlformats.org/drawingml/2006/main">
              <a:ext uri="{FF2B5EF4-FFF2-40B4-BE49-F238E27FC236}">
                <a16:creationId xmlns:a16="http://schemas.microsoft.com/office/drawing/2014/main" id="{AE379303-B6AA-4EB1-8B68-805C3CEE00B1}"/>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24">
            <a:extLst xmlns:a="http://schemas.openxmlformats.org/drawingml/2006/main">
              <a:ext uri="{FF2B5EF4-FFF2-40B4-BE49-F238E27FC236}">
                <a16:creationId xmlns:a16="http://schemas.microsoft.com/office/drawing/2014/main" id="{0BF29298-A9EA-442C-9F05-83ACF7A24AF2}"/>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24 / 60</a:t>
            </a:r>
          </a:p>
        </p:txBody>
      </p:sp>
      <p:sp>
        <p:nvSpPr>
          <p:cNvPr id="3" name="title-24">
            <a:extLst xmlns:a="http://schemas.openxmlformats.org/drawingml/2006/main">
              <a:ext uri="{FF2B5EF4-FFF2-40B4-BE49-F238E27FC236}">
                <a16:creationId xmlns:a16="http://schemas.microsoft.com/office/drawing/2014/main" id="{68C02B25-FDDF-45EE-9287-F6321C61A448}"/>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INTERSECTION</a:t>
            </a:r>
          </a:p>
        </p:txBody>
      </p:sp>
      <p:sp>
        <p:nvSpPr>
          <p:cNvPr id="4" name="accent-24">
            <a:extLst xmlns:a="http://schemas.openxmlformats.org/drawingml/2006/main">
              <a:ext uri="{FF2B5EF4-FFF2-40B4-BE49-F238E27FC236}">
                <a16:creationId xmlns:a16="http://schemas.microsoft.com/office/drawing/2014/main" id="{F72B7F02-523F-4EAE-B616-85BA19311BEC}"/>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24">
            <a:extLst xmlns:a="http://schemas.openxmlformats.org/drawingml/2006/main">
              <a:ext uri="{FF2B5EF4-FFF2-40B4-BE49-F238E27FC236}">
                <a16:creationId xmlns:a16="http://schemas.microsoft.com/office/drawing/2014/main" id="{25C50E71-3BD7-43F8-877E-533F6C886E20}"/>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Alors, pour illustrer de quoi il s'agit, on a une image devant nous qui représente deux boîtes orientées qui se chevauchent. La partie en bleu foncé représente ce qu'elles ont en commun, c'est-à-dire leur intersection.</a:t>
            </a:r>
          </a:p>
        </p:txBody>
      </p:sp>
      <p:sp>
        <p:nvSpPr>
          <p:cNvPr id="6" name="progress-track-24">
            <a:extLst xmlns:a="http://schemas.openxmlformats.org/drawingml/2006/main">
              <a:ext uri="{FF2B5EF4-FFF2-40B4-BE49-F238E27FC236}">
                <a16:creationId xmlns:a16="http://schemas.microsoft.com/office/drawing/2014/main" id="{BA0E568B-9FE3-4787-9B51-ADA76166515A}"/>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24">
            <a:extLst xmlns:a="http://schemas.openxmlformats.org/drawingml/2006/main">
              <a:ext uri="{FF2B5EF4-FFF2-40B4-BE49-F238E27FC236}">
                <a16:creationId xmlns:a16="http://schemas.microsoft.com/office/drawing/2014/main" id="{FC17CA1E-2BF9-42B9-B675-0071448AE4D2}"/>
              </a:ext>
            </a:extLst>
          </p:cNvPr>
          <p:cNvSpPr>
            <a:spLocks xmlns:a="http://schemas.openxmlformats.org/drawingml/2006/main" noGrp="1"/>
          </p:cNvSpPr>
          <p:nvPr/>
        </p:nvSpPr>
        <p:spPr>
          <a:xfrm xmlns:a="http://schemas.openxmlformats.org/drawingml/2006/main">
            <a:off x="952500" y="17002125"/>
            <a:ext cx="33528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24">
            <a:extLst xmlns:a="http://schemas.openxmlformats.org/drawingml/2006/main">
              <a:ext uri="{FF2B5EF4-FFF2-40B4-BE49-F238E27FC236}">
                <a16:creationId xmlns:a16="http://schemas.microsoft.com/office/drawing/2014/main" id="{7C8FFAF2-963B-4E47-9707-1DDB41D2E31C}"/>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357838449"/>
      </p:ext>
    </p:extLst>
  </p:cSld>
</p:sld>
</file>

<file path=ppt/slides/slide25.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25">
            <a:extLst xmlns:a="http://schemas.openxmlformats.org/drawingml/2006/main">
              <a:ext uri="{FF2B5EF4-FFF2-40B4-BE49-F238E27FC236}">
                <a16:creationId xmlns:a16="http://schemas.microsoft.com/office/drawing/2014/main" id="{08306E85-AF27-4DD6-BB80-686715D510E3}"/>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25">
            <a:extLst xmlns:a="http://schemas.openxmlformats.org/drawingml/2006/main">
              <a:ext uri="{FF2B5EF4-FFF2-40B4-BE49-F238E27FC236}">
                <a16:creationId xmlns:a16="http://schemas.microsoft.com/office/drawing/2014/main" id="{AE28A891-5DC4-4323-A1BB-5B1312D7CF21}"/>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25 / 60</a:t>
            </a:r>
          </a:p>
        </p:txBody>
      </p:sp>
      <p:sp>
        <p:nvSpPr>
          <p:cNvPr id="3" name="title-25">
            <a:extLst xmlns:a="http://schemas.openxmlformats.org/drawingml/2006/main">
              <a:ext uri="{FF2B5EF4-FFF2-40B4-BE49-F238E27FC236}">
                <a16:creationId xmlns:a16="http://schemas.microsoft.com/office/drawing/2014/main" id="{F8B3EA62-B3E5-4385-A8E1-F6D25CC05811}"/>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UNION</a:t>
            </a:r>
          </a:p>
        </p:txBody>
      </p:sp>
      <p:sp>
        <p:nvSpPr>
          <p:cNvPr id="4" name="accent-25">
            <a:extLst xmlns:a="http://schemas.openxmlformats.org/drawingml/2006/main">
              <a:ext uri="{FF2B5EF4-FFF2-40B4-BE49-F238E27FC236}">
                <a16:creationId xmlns:a16="http://schemas.microsoft.com/office/drawing/2014/main" id="{2F214E59-71A9-4205-B928-47B1D95616F6}"/>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25">
            <a:extLst xmlns:a="http://schemas.openxmlformats.org/drawingml/2006/main">
              <a:ext uri="{FF2B5EF4-FFF2-40B4-BE49-F238E27FC236}">
                <a16:creationId xmlns:a16="http://schemas.microsoft.com/office/drawing/2014/main" id="{A8CB92A7-6783-4757-A996-C5118819E3C3}"/>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Ensuite, on a l'union, qui correspond à toute la surface couverte par les deux boîtes ensemble. Pour la calculer, on additionne les deux aires, puis on retire l'intersection, sinon on la compterait deux fois.</a:t>
            </a:r>
          </a:p>
        </p:txBody>
      </p:sp>
      <p:sp>
        <p:nvSpPr>
          <p:cNvPr id="6" name="progress-track-25">
            <a:extLst xmlns:a="http://schemas.openxmlformats.org/drawingml/2006/main">
              <a:ext uri="{FF2B5EF4-FFF2-40B4-BE49-F238E27FC236}">
                <a16:creationId xmlns:a16="http://schemas.microsoft.com/office/drawing/2014/main" id="{C6C4ECE5-D840-4008-AA5B-A25AFBDE05C9}"/>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25">
            <a:extLst xmlns:a="http://schemas.openxmlformats.org/drawingml/2006/main">
              <a:ext uri="{FF2B5EF4-FFF2-40B4-BE49-F238E27FC236}">
                <a16:creationId xmlns:a16="http://schemas.microsoft.com/office/drawing/2014/main" id="{122C80ED-0646-458C-94A7-59131389A70B}"/>
              </a:ext>
            </a:extLst>
          </p:cNvPr>
          <p:cNvSpPr>
            <a:spLocks xmlns:a="http://schemas.openxmlformats.org/drawingml/2006/main" noGrp="1"/>
          </p:cNvSpPr>
          <p:nvPr/>
        </p:nvSpPr>
        <p:spPr>
          <a:xfrm xmlns:a="http://schemas.openxmlformats.org/drawingml/2006/main">
            <a:off x="952500" y="17002125"/>
            <a:ext cx="34925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25">
            <a:extLst xmlns:a="http://schemas.openxmlformats.org/drawingml/2006/main">
              <a:ext uri="{FF2B5EF4-FFF2-40B4-BE49-F238E27FC236}">
                <a16:creationId xmlns:a16="http://schemas.microsoft.com/office/drawing/2014/main" id="{736DC08B-E98F-41BA-B6E3-E68CE7DC762A}"/>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284497111"/>
      </p:ext>
    </p:extLst>
  </p:cSld>
</p:sld>
</file>

<file path=ppt/slides/slide26.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26">
            <a:extLst xmlns:a="http://schemas.openxmlformats.org/drawingml/2006/main">
              <a:ext uri="{FF2B5EF4-FFF2-40B4-BE49-F238E27FC236}">
                <a16:creationId xmlns:a16="http://schemas.microsoft.com/office/drawing/2014/main" id="{61F680B6-3003-4545-9E81-9828C10F6FC3}"/>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26">
            <a:extLst xmlns:a="http://schemas.openxmlformats.org/drawingml/2006/main">
              <a:ext uri="{FF2B5EF4-FFF2-40B4-BE49-F238E27FC236}">
                <a16:creationId xmlns:a16="http://schemas.microsoft.com/office/drawing/2014/main" id="{87D64475-5895-411A-A02A-F2C3ED327DA9}"/>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26 / 60</a:t>
            </a:r>
          </a:p>
        </p:txBody>
      </p:sp>
      <p:sp>
        <p:nvSpPr>
          <p:cNvPr id="3" name="title-26">
            <a:extLst xmlns:a="http://schemas.openxmlformats.org/drawingml/2006/main">
              <a:ext uri="{FF2B5EF4-FFF2-40B4-BE49-F238E27FC236}">
                <a16:creationId xmlns:a16="http://schemas.microsoft.com/office/drawing/2014/main" id="{BFCAC249-BAA1-4F82-9A6A-6CEC1CC90038}"/>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VALEUR DE L'IOU</a:t>
            </a:r>
          </a:p>
        </p:txBody>
      </p:sp>
      <p:sp>
        <p:nvSpPr>
          <p:cNvPr id="4" name="accent-26">
            <a:extLst xmlns:a="http://schemas.openxmlformats.org/drawingml/2006/main">
              <a:ext uri="{FF2B5EF4-FFF2-40B4-BE49-F238E27FC236}">
                <a16:creationId xmlns:a16="http://schemas.microsoft.com/office/drawing/2014/main" id="{B58AC1A1-E4E5-4B24-8763-17B0B0416B2A}"/>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26">
            <a:extLst xmlns:a="http://schemas.openxmlformats.org/drawingml/2006/main">
              <a:ext uri="{FF2B5EF4-FFF2-40B4-BE49-F238E27FC236}">
                <a16:creationId xmlns:a16="http://schemas.microsoft.com/office/drawing/2014/main" id="{6CD2ABAC-FBE7-4DB5-B00B-0B63A16E6C2A}"/>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Donc, la valeur qu'on obtient est toujours comprise entre 0 et 1. Si les boîtes ne se touchent pas du tout, l'IoU est égal à 0. Si elles sont parfaitement superposées, il est égal à 1. Donc, plus on se rapproche de 1, plus la superposition est importante.</a:t>
            </a:r>
          </a:p>
        </p:txBody>
      </p:sp>
      <p:sp>
        <p:nvSpPr>
          <p:cNvPr id="6" name="progress-track-26">
            <a:extLst xmlns:a="http://schemas.openxmlformats.org/drawingml/2006/main">
              <a:ext uri="{FF2B5EF4-FFF2-40B4-BE49-F238E27FC236}">
                <a16:creationId xmlns:a16="http://schemas.microsoft.com/office/drawing/2014/main" id="{C952E554-46A8-4FC2-8D8D-49ED2441D03C}"/>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26">
            <a:extLst xmlns:a="http://schemas.openxmlformats.org/drawingml/2006/main">
              <a:ext uri="{FF2B5EF4-FFF2-40B4-BE49-F238E27FC236}">
                <a16:creationId xmlns:a16="http://schemas.microsoft.com/office/drawing/2014/main" id="{304C8B66-BFD5-43B5-A5DA-AE710CDD2AF6}"/>
              </a:ext>
            </a:extLst>
          </p:cNvPr>
          <p:cNvSpPr>
            <a:spLocks xmlns:a="http://schemas.openxmlformats.org/drawingml/2006/main" noGrp="1"/>
          </p:cNvSpPr>
          <p:nvPr/>
        </p:nvSpPr>
        <p:spPr>
          <a:xfrm xmlns:a="http://schemas.openxmlformats.org/drawingml/2006/main">
            <a:off x="952500" y="17002125"/>
            <a:ext cx="36322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26">
            <a:extLst xmlns:a="http://schemas.openxmlformats.org/drawingml/2006/main">
              <a:ext uri="{FF2B5EF4-FFF2-40B4-BE49-F238E27FC236}">
                <a16:creationId xmlns:a16="http://schemas.microsoft.com/office/drawing/2014/main" id="{83FAB974-0B04-4607-B07E-9ADC6856973A}"/>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395446956"/>
      </p:ext>
    </p:extLst>
  </p:cSld>
</p:sld>
</file>

<file path=ppt/slides/slide27.xml><?xml version="1.0" encoding="utf-8"?>
<p:sld xmlns:p="http://schemas.openxmlformats.org/presentationml/2006/main">
  <p:cSld>
    <p:bg>
      <p:bgPr>
        <a:solidFill xmlns:a="http://schemas.openxmlformats.org/drawingml/2006/main">
          <a:srgbClr val="211907"/>
        </a:solidFill>
      </p:bgPr>
    </p:bg>
    <p:spTree>
      <p:nvGrpSpPr>
        <p:cNvPr id="1" name=""/>
        <p:cNvGrpSpPr/>
        <p:nvPr/>
      </p:nvGrpSpPr>
      <p:grpSpPr>
        <a:xfrm xmlns:a="http://schemas.openxmlformats.org/drawingml/2006/main"/>
      </p:grpSpPr>
      <p:sp>
        <p:nvSpPr>
          <p:cNvPr id="1" name="section-27">
            <a:extLst xmlns:a="http://schemas.openxmlformats.org/drawingml/2006/main">
              <a:ext uri="{FF2B5EF4-FFF2-40B4-BE49-F238E27FC236}">
                <a16:creationId xmlns:a16="http://schemas.microsoft.com/office/drawing/2014/main" id="{B461438C-E49C-43C6-B05D-1243E7A134C1}"/>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9C386"/>
                </a:solidFill>
                <a:latin typeface="Arial"/>
                <a:ea typeface="Arial"/>
                <a:cs typeface="Arial"/>
              </a:defRPr>
            </a:pPr>
            <a:r>
              <a:rPr sz="1650" b="1">
                <a:solidFill>
                  <a:srgbClr val="D9C386"/>
                </a:solidFill>
                <a:latin typeface="Arial"/>
                <a:ea typeface="Arial"/>
                <a:cs typeface="Arial"/>
              </a:rPr>
              <a:t>DIAPO 2 - IOU ET RESULTATS</a:t>
            </a:r>
          </a:p>
        </p:txBody>
      </p:sp>
      <p:sp>
        <p:nvSpPr>
          <p:cNvPr id="2" name="progress-27">
            <a:extLst xmlns:a="http://schemas.openxmlformats.org/drawingml/2006/main">
              <a:ext uri="{FF2B5EF4-FFF2-40B4-BE49-F238E27FC236}">
                <a16:creationId xmlns:a16="http://schemas.microsoft.com/office/drawing/2014/main" id="{E5CBE4AD-E3EB-4DFF-B1F6-3DB8E0A30C13}"/>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9C386"/>
                </a:solidFill>
                <a:latin typeface="Arial"/>
                <a:ea typeface="Arial"/>
                <a:cs typeface="Arial"/>
              </a:defRPr>
            </a:pPr>
            <a:r>
              <a:rPr sz="1800" b="1">
                <a:solidFill>
                  <a:srgbClr val="D9C386"/>
                </a:solidFill>
                <a:latin typeface="Arial"/>
                <a:ea typeface="Arial"/>
                <a:cs typeface="Arial"/>
              </a:rPr>
              <a:t>27 / 60</a:t>
            </a:r>
          </a:p>
        </p:txBody>
      </p:sp>
      <p:sp>
        <p:nvSpPr>
          <p:cNvPr id="3" name="body-27">
            <a:extLst xmlns:a="http://schemas.openxmlformats.org/drawingml/2006/main">
              <a:ext uri="{FF2B5EF4-FFF2-40B4-BE49-F238E27FC236}">
                <a16:creationId xmlns:a16="http://schemas.microsoft.com/office/drawing/2014/main" id="{F4E185CB-8536-496E-98C4-8837DA32F23A}"/>
              </a:ext>
            </a:extLst>
          </p:cNvPr>
          <p:cNvSpPr>
            <a:spLocks xmlns:a="http://schemas.openxmlformats.org/drawingml/2006/main" noGrp="1"/>
          </p:cNvSpPr>
          <p:nvPr/>
        </p:nvSpPr>
        <p:spPr>
          <a:xfrm xmlns:a="http://schemas.openxmlformats.org/drawingml/2006/main">
            <a:off x="952500" y="4476750"/>
            <a:ext cx="8382000" cy="838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900" b="1">
                <a:solidFill>
                  <a:srgbClr val="FFF3C9"/>
                </a:solidFill>
                <a:latin typeface="Arial"/>
                <a:ea typeface="Arial"/>
                <a:cs typeface="Arial"/>
              </a:defRPr>
            </a:pPr>
            <a:r>
              <a:rPr sz="6900" b="1">
                <a:solidFill>
                  <a:srgbClr val="FFF3C9"/>
                </a:solidFill>
                <a:latin typeface="Arial"/>
                <a:ea typeface="Arial"/>
                <a:cs typeface="Arial"/>
              </a:rPr>
              <a:t>(PAUSE)</a:t>
            </a:r>
          </a:p>
        </p:txBody>
      </p:sp>
      <p:sp>
        <p:nvSpPr>
          <p:cNvPr id="4" name="progress-track-27">
            <a:extLst xmlns:a="http://schemas.openxmlformats.org/drawingml/2006/main">
              <a:ext uri="{FF2B5EF4-FFF2-40B4-BE49-F238E27FC236}">
                <a16:creationId xmlns:a16="http://schemas.microsoft.com/office/drawing/2014/main" id="{E8DAF9AD-0CDF-4300-9C71-06F5AC27BA92}"/>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5" name="progress-fill-27">
            <a:extLst xmlns:a="http://schemas.openxmlformats.org/drawingml/2006/main">
              <a:ext uri="{FF2B5EF4-FFF2-40B4-BE49-F238E27FC236}">
                <a16:creationId xmlns:a16="http://schemas.microsoft.com/office/drawing/2014/main" id="{E018CD7D-5806-46E1-A39D-139F31BFADB1}"/>
              </a:ext>
            </a:extLst>
          </p:cNvPr>
          <p:cNvSpPr>
            <a:spLocks xmlns:a="http://schemas.openxmlformats.org/drawingml/2006/main" noGrp="1"/>
          </p:cNvSpPr>
          <p:nvPr/>
        </p:nvSpPr>
        <p:spPr>
          <a:xfrm xmlns:a="http://schemas.openxmlformats.org/drawingml/2006/main">
            <a:off x="952500" y="17002125"/>
            <a:ext cx="3771900" cy="57150"/>
          </a:xfrm>
          <a:prstGeom xmlns:a="http://schemas.openxmlformats.org/drawingml/2006/main" prst="rect">
            <a:avLst/>
          </a:prstGeom>
          <a:solidFill xmlns:a="http://schemas.openxmlformats.org/drawingml/2006/main">
            <a:srgbClr val="F5C451"/>
          </a:solidFill>
          <a:ln xmlns:a="http://schemas.openxmlformats.org/drawingml/2006/main" w="0">
            <a:solidFill>
              <a:srgbClr val="F5C451"/>
            </a:solidFill>
            <a:prstDash val="solid"/>
          </a:ln>
        </p:spPr>
      </p:sp>
      <p:sp>
        <p:nvSpPr>
          <p:cNvPr id="6" name="footer-27">
            <a:extLst xmlns:a="http://schemas.openxmlformats.org/drawingml/2006/main">
              <a:ext uri="{FF2B5EF4-FFF2-40B4-BE49-F238E27FC236}">
                <a16:creationId xmlns:a16="http://schemas.microsoft.com/office/drawing/2014/main" id="{07666E48-FD19-41F1-A6C0-02EB883747B1}"/>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9C386"/>
                </a:solidFill>
                <a:latin typeface="Arial"/>
                <a:ea typeface="Arial"/>
                <a:cs typeface="Arial"/>
              </a:defRPr>
            </a:pPr>
            <a:r>
              <a:rPr sz="1350" b="1">
                <a:solidFill>
                  <a:srgbClr val="D9C386"/>
                </a:solidFill>
                <a:latin typeface="Arial"/>
                <a:ea typeface="Arial"/>
                <a:cs typeface="Arial"/>
              </a:rPr>
              <a:t>SCRIPT MOBILE - SOUTENANCE YOLO-OBB</a:t>
            </a:r>
          </a:p>
        </p:txBody>
      </p:sp>
    </p:spTree>
    <p:extLst>
      <p:ext uri="{BB962C8B-B14F-4D97-AF65-F5344CB8AC3E}">
        <p14:creationId xmlns:p14="http://schemas.microsoft.com/office/powerpoint/2010/main" val="1888192869"/>
      </p:ext>
    </p:extLst>
  </p:cSld>
</p:sld>
</file>

<file path=ppt/slides/slide28.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28">
            <a:extLst xmlns:a="http://schemas.openxmlformats.org/drawingml/2006/main">
              <a:ext uri="{FF2B5EF4-FFF2-40B4-BE49-F238E27FC236}">
                <a16:creationId xmlns:a16="http://schemas.microsoft.com/office/drawing/2014/main" id="{B4F434C0-B290-472D-87D3-D8A281430BEB}"/>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28">
            <a:extLst xmlns:a="http://schemas.openxmlformats.org/drawingml/2006/main">
              <a:ext uri="{FF2B5EF4-FFF2-40B4-BE49-F238E27FC236}">
                <a16:creationId xmlns:a16="http://schemas.microsoft.com/office/drawing/2014/main" id="{116140AE-C150-4D23-B0BF-A1345E2B9AF7}"/>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28 / 60</a:t>
            </a:r>
          </a:p>
        </p:txBody>
      </p:sp>
      <p:sp>
        <p:nvSpPr>
          <p:cNvPr id="3" name="title-28">
            <a:extLst xmlns:a="http://schemas.openxmlformats.org/drawingml/2006/main">
              <a:ext uri="{FF2B5EF4-FFF2-40B4-BE49-F238E27FC236}">
                <a16:creationId xmlns:a16="http://schemas.microsoft.com/office/drawing/2014/main" id="{D9D6B016-0A0E-4586-AF48-A118AC31AF8E}"/>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EXEMPLE NUMÉRIQUE</a:t>
            </a:r>
          </a:p>
        </p:txBody>
      </p:sp>
      <p:sp>
        <p:nvSpPr>
          <p:cNvPr id="4" name="accent-28">
            <a:extLst xmlns:a="http://schemas.openxmlformats.org/drawingml/2006/main">
              <a:ext uri="{FF2B5EF4-FFF2-40B4-BE49-F238E27FC236}">
                <a16:creationId xmlns:a16="http://schemas.microsoft.com/office/drawing/2014/main" id="{B5A95221-1F24-4C8C-8F13-5D6D8D8D75E1}"/>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28">
            <a:extLst xmlns:a="http://schemas.openxmlformats.org/drawingml/2006/main">
              <a:ext uri="{FF2B5EF4-FFF2-40B4-BE49-F238E27FC236}">
                <a16:creationId xmlns:a16="http://schemas.microsoft.com/office/drawing/2014/main" id="{65FA78FE-CD89-425C-9062-60ABFCA408B6}"/>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Juste en dessous, on a un exemple numérique. Si chaque boîte avait une aire de 100 et que leur intersection valait 60, l'union vaudrait 100 plus 100 moins 60, donc 140. Puis, on divise 60 par 140, et on obtient environ 0,43.</a:t>
            </a:r>
          </a:p>
        </p:txBody>
      </p:sp>
      <p:sp>
        <p:nvSpPr>
          <p:cNvPr id="6" name="progress-track-28">
            <a:extLst xmlns:a="http://schemas.openxmlformats.org/drawingml/2006/main">
              <a:ext uri="{FF2B5EF4-FFF2-40B4-BE49-F238E27FC236}">
                <a16:creationId xmlns:a16="http://schemas.microsoft.com/office/drawing/2014/main" id="{CD857284-EFED-429A-80F4-5718856D98B4}"/>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28">
            <a:extLst xmlns:a="http://schemas.openxmlformats.org/drawingml/2006/main">
              <a:ext uri="{FF2B5EF4-FFF2-40B4-BE49-F238E27FC236}">
                <a16:creationId xmlns:a16="http://schemas.microsoft.com/office/drawing/2014/main" id="{68868494-1A3B-4A7C-A71C-9529F832EBBD}"/>
              </a:ext>
            </a:extLst>
          </p:cNvPr>
          <p:cNvSpPr>
            <a:spLocks xmlns:a="http://schemas.openxmlformats.org/drawingml/2006/main" noGrp="1"/>
          </p:cNvSpPr>
          <p:nvPr/>
        </p:nvSpPr>
        <p:spPr>
          <a:xfrm xmlns:a="http://schemas.openxmlformats.org/drawingml/2006/main">
            <a:off x="952500" y="17002125"/>
            <a:ext cx="39116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28">
            <a:extLst xmlns:a="http://schemas.openxmlformats.org/drawingml/2006/main">
              <a:ext uri="{FF2B5EF4-FFF2-40B4-BE49-F238E27FC236}">
                <a16:creationId xmlns:a16="http://schemas.microsoft.com/office/drawing/2014/main" id="{BACD775D-2FBE-4D12-A92D-F71BBC045DF8}"/>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749852701"/>
      </p:ext>
    </p:extLst>
  </p:cSld>
</p:sld>
</file>

<file path=ppt/slides/slide29.xml><?xml version="1.0" encoding="utf-8"?>
<p:sld xmlns:p="http://schemas.openxmlformats.org/presentationml/2006/main">
  <p:cSld>
    <p:bg>
      <p:bgPr>
        <a:solidFill xmlns:a="http://schemas.openxmlformats.org/drawingml/2006/main">
          <a:srgbClr val="211907"/>
        </a:solidFill>
      </p:bgPr>
    </p:bg>
    <p:spTree>
      <p:nvGrpSpPr>
        <p:cNvPr id="1" name=""/>
        <p:cNvGrpSpPr/>
        <p:nvPr/>
      </p:nvGrpSpPr>
      <p:grpSpPr>
        <a:xfrm xmlns:a="http://schemas.openxmlformats.org/drawingml/2006/main"/>
      </p:grpSpPr>
      <p:sp>
        <p:nvSpPr>
          <p:cNvPr id="1" name="section-29">
            <a:extLst xmlns:a="http://schemas.openxmlformats.org/drawingml/2006/main">
              <a:ext uri="{FF2B5EF4-FFF2-40B4-BE49-F238E27FC236}">
                <a16:creationId xmlns:a16="http://schemas.microsoft.com/office/drawing/2014/main" id="{6B9DF255-DE87-4491-B1C1-79BF064A4AE1}"/>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9C386"/>
                </a:solidFill>
                <a:latin typeface="Arial"/>
                <a:ea typeface="Arial"/>
                <a:cs typeface="Arial"/>
              </a:defRPr>
            </a:pPr>
            <a:r>
              <a:rPr sz="1650" b="1">
                <a:solidFill>
                  <a:srgbClr val="D9C386"/>
                </a:solidFill>
                <a:latin typeface="Arial"/>
                <a:ea typeface="Arial"/>
                <a:cs typeface="Arial"/>
              </a:rPr>
              <a:t>DIAPO 2 - IOU ET RESULTATS</a:t>
            </a:r>
          </a:p>
        </p:txBody>
      </p:sp>
      <p:sp>
        <p:nvSpPr>
          <p:cNvPr id="2" name="progress-29">
            <a:extLst xmlns:a="http://schemas.openxmlformats.org/drawingml/2006/main">
              <a:ext uri="{FF2B5EF4-FFF2-40B4-BE49-F238E27FC236}">
                <a16:creationId xmlns:a16="http://schemas.microsoft.com/office/drawing/2014/main" id="{FE73F5C7-1BF5-4E9D-92D6-3417D1996D70}"/>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9C386"/>
                </a:solidFill>
                <a:latin typeface="Arial"/>
                <a:ea typeface="Arial"/>
                <a:cs typeface="Arial"/>
              </a:defRPr>
            </a:pPr>
            <a:r>
              <a:rPr sz="1800" b="1">
                <a:solidFill>
                  <a:srgbClr val="D9C386"/>
                </a:solidFill>
                <a:latin typeface="Arial"/>
                <a:ea typeface="Arial"/>
                <a:cs typeface="Arial"/>
              </a:rPr>
              <a:t>29 / 60</a:t>
            </a:r>
          </a:p>
        </p:txBody>
      </p:sp>
      <p:sp>
        <p:nvSpPr>
          <p:cNvPr id="3" name="body-29">
            <a:extLst xmlns:a="http://schemas.openxmlformats.org/drawingml/2006/main">
              <a:ext uri="{FF2B5EF4-FFF2-40B4-BE49-F238E27FC236}">
                <a16:creationId xmlns:a16="http://schemas.microsoft.com/office/drawing/2014/main" id="{BFD5BA92-A6D4-4C91-8C35-99D9A2E86997}"/>
              </a:ext>
            </a:extLst>
          </p:cNvPr>
          <p:cNvSpPr>
            <a:spLocks xmlns:a="http://schemas.openxmlformats.org/drawingml/2006/main" noGrp="1"/>
          </p:cNvSpPr>
          <p:nvPr/>
        </p:nvSpPr>
        <p:spPr>
          <a:xfrm xmlns:a="http://schemas.openxmlformats.org/drawingml/2006/main">
            <a:off x="952500" y="4476750"/>
            <a:ext cx="8382000" cy="838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900" b="1">
                <a:solidFill>
                  <a:srgbClr val="FFF3C9"/>
                </a:solidFill>
                <a:latin typeface="Arial"/>
                <a:ea typeface="Arial"/>
                <a:cs typeface="Arial"/>
              </a:defRPr>
            </a:pPr>
            <a:r>
              <a:rPr sz="6900" b="1">
                <a:solidFill>
                  <a:srgbClr val="FFF3C9"/>
                </a:solidFill>
                <a:latin typeface="Arial"/>
                <a:ea typeface="Arial"/>
                <a:cs typeface="Arial"/>
              </a:rPr>
              <a:t>(PAUSE)</a:t>
            </a:r>
          </a:p>
        </p:txBody>
      </p:sp>
      <p:sp>
        <p:nvSpPr>
          <p:cNvPr id="4" name="progress-track-29">
            <a:extLst xmlns:a="http://schemas.openxmlformats.org/drawingml/2006/main">
              <a:ext uri="{FF2B5EF4-FFF2-40B4-BE49-F238E27FC236}">
                <a16:creationId xmlns:a16="http://schemas.microsoft.com/office/drawing/2014/main" id="{84781C63-E214-47F0-A4E2-5A97F0E6F8C4}"/>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5" name="progress-fill-29">
            <a:extLst xmlns:a="http://schemas.openxmlformats.org/drawingml/2006/main">
              <a:ext uri="{FF2B5EF4-FFF2-40B4-BE49-F238E27FC236}">
                <a16:creationId xmlns:a16="http://schemas.microsoft.com/office/drawing/2014/main" id="{E4321141-327D-412D-A8DA-51F4E4DB7E27}"/>
              </a:ext>
            </a:extLst>
          </p:cNvPr>
          <p:cNvSpPr>
            <a:spLocks xmlns:a="http://schemas.openxmlformats.org/drawingml/2006/main" noGrp="1"/>
          </p:cNvSpPr>
          <p:nvPr/>
        </p:nvSpPr>
        <p:spPr>
          <a:xfrm xmlns:a="http://schemas.openxmlformats.org/drawingml/2006/main">
            <a:off x="952500" y="17002125"/>
            <a:ext cx="4051300" cy="57150"/>
          </a:xfrm>
          <a:prstGeom xmlns:a="http://schemas.openxmlformats.org/drawingml/2006/main" prst="rect">
            <a:avLst/>
          </a:prstGeom>
          <a:solidFill xmlns:a="http://schemas.openxmlformats.org/drawingml/2006/main">
            <a:srgbClr val="F5C451"/>
          </a:solidFill>
          <a:ln xmlns:a="http://schemas.openxmlformats.org/drawingml/2006/main" w="0">
            <a:solidFill>
              <a:srgbClr val="F5C451"/>
            </a:solidFill>
            <a:prstDash val="solid"/>
          </a:ln>
        </p:spPr>
      </p:sp>
      <p:sp>
        <p:nvSpPr>
          <p:cNvPr id="6" name="footer-29">
            <a:extLst xmlns:a="http://schemas.openxmlformats.org/drawingml/2006/main">
              <a:ext uri="{FF2B5EF4-FFF2-40B4-BE49-F238E27FC236}">
                <a16:creationId xmlns:a16="http://schemas.microsoft.com/office/drawing/2014/main" id="{F21631B5-8012-4BD1-8D2A-2AFA12728315}"/>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9C386"/>
                </a:solidFill>
                <a:latin typeface="Arial"/>
                <a:ea typeface="Arial"/>
                <a:cs typeface="Arial"/>
              </a:defRPr>
            </a:pPr>
            <a:r>
              <a:rPr sz="1350" b="1">
                <a:solidFill>
                  <a:srgbClr val="D9C386"/>
                </a:solidFill>
                <a:latin typeface="Arial"/>
                <a:ea typeface="Arial"/>
                <a:cs typeface="Arial"/>
              </a:rPr>
              <a:t>SCRIPT MOBILE - SOUTENANCE YOLO-OBB</a:t>
            </a:r>
          </a:p>
        </p:txBody>
      </p:sp>
    </p:spTree>
    <p:extLst>
      <p:ext uri="{BB962C8B-B14F-4D97-AF65-F5344CB8AC3E}">
        <p14:creationId xmlns:p14="http://schemas.microsoft.com/office/powerpoint/2010/main" val="1188471605"/>
      </p:ext>
    </p:extLst>
  </p:cSld>
</p:sld>
</file>

<file path=ppt/slides/slide3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30">
            <a:extLst xmlns:a="http://schemas.openxmlformats.org/drawingml/2006/main">
              <a:ext uri="{FF2B5EF4-FFF2-40B4-BE49-F238E27FC236}">
                <a16:creationId xmlns:a16="http://schemas.microsoft.com/office/drawing/2014/main" id="{661950A0-7C51-46E1-A1CB-DF9CEBE31645}"/>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30">
            <a:extLst xmlns:a="http://schemas.openxmlformats.org/drawingml/2006/main">
              <a:ext uri="{FF2B5EF4-FFF2-40B4-BE49-F238E27FC236}">
                <a16:creationId xmlns:a16="http://schemas.microsoft.com/office/drawing/2014/main" id="{3F847F9C-F044-447D-9FE5-D433FCA464A6}"/>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30 / 60</a:t>
            </a:r>
          </a:p>
        </p:txBody>
      </p:sp>
      <p:sp>
        <p:nvSpPr>
          <p:cNvPr id="3" name="title-30">
            <a:extLst xmlns:a="http://schemas.openxmlformats.org/drawingml/2006/main">
              <a:ext uri="{FF2B5EF4-FFF2-40B4-BE49-F238E27FC236}">
                <a16:creationId xmlns:a16="http://schemas.microsoft.com/office/drawing/2014/main" id="{CA1B58B3-26EA-4C54-AA5C-2C3C71137FAC}"/>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MÊME FORMULE</a:t>
            </a:r>
          </a:p>
        </p:txBody>
      </p:sp>
      <p:sp>
        <p:nvSpPr>
          <p:cNvPr id="4" name="accent-30">
            <a:extLst xmlns:a="http://schemas.openxmlformats.org/drawingml/2006/main">
              <a:ext uri="{FF2B5EF4-FFF2-40B4-BE49-F238E27FC236}">
                <a16:creationId xmlns:a16="http://schemas.microsoft.com/office/drawing/2014/main" id="{4C17F3D6-DA21-453D-B0B0-73ADE949E98C}"/>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30">
            <a:extLst xmlns:a="http://schemas.openxmlformats.org/drawingml/2006/main">
              <a:ext uri="{FF2B5EF4-FFF2-40B4-BE49-F238E27FC236}">
                <a16:creationId xmlns:a16="http://schemas.microsoft.com/office/drawing/2014/main" id="{E7B62E65-37EA-4604-B331-0834D338B358}"/>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050" b="0">
                <a:solidFill>
                  <a:srgbClr val="F6FAFC"/>
                </a:solidFill>
                <a:latin typeface="Arial"/>
                <a:ea typeface="Arial"/>
                <a:cs typeface="Arial"/>
              </a:defRPr>
            </a:pPr>
            <a:r>
              <a:rPr sz="4050" b="0">
                <a:solidFill>
                  <a:srgbClr val="F6FAFC"/>
                </a:solidFill>
                <a:latin typeface="Arial"/>
                <a:ea typeface="Arial"/>
                <a:cs typeface="Arial"/>
              </a:rPr>
              <a:t>Donc, le point important à retenir pour mon projet, c'est que cette formule reste la même avec les boîtes orientées : on calcule toujours l'intersection divisée par l'union.</a:t>
            </a:r>
          </a:p>
        </p:txBody>
      </p:sp>
      <p:sp>
        <p:nvSpPr>
          <p:cNvPr id="6" name="progress-track-30">
            <a:extLst xmlns:a="http://schemas.openxmlformats.org/drawingml/2006/main">
              <a:ext uri="{FF2B5EF4-FFF2-40B4-BE49-F238E27FC236}">
                <a16:creationId xmlns:a16="http://schemas.microsoft.com/office/drawing/2014/main" id="{B35EFE02-4DE2-4737-A0C9-3BB80002A747}"/>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30">
            <a:extLst xmlns:a="http://schemas.openxmlformats.org/drawingml/2006/main">
              <a:ext uri="{FF2B5EF4-FFF2-40B4-BE49-F238E27FC236}">
                <a16:creationId xmlns:a16="http://schemas.microsoft.com/office/drawing/2014/main" id="{56D1BC0C-E7E8-4255-807C-4B5072E2DBC5}"/>
              </a:ext>
            </a:extLst>
          </p:cNvPr>
          <p:cNvSpPr>
            <a:spLocks xmlns:a="http://schemas.openxmlformats.org/drawingml/2006/main" noGrp="1"/>
          </p:cNvSpPr>
          <p:nvPr/>
        </p:nvSpPr>
        <p:spPr>
          <a:xfrm xmlns:a="http://schemas.openxmlformats.org/drawingml/2006/main">
            <a:off x="952500" y="17002125"/>
            <a:ext cx="41910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30">
            <a:extLst xmlns:a="http://schemas.openxmlformats.org/drawingml/2006/main">
              <a:ext uri="{FF2B5EF4-FFF2-40B4-BE49-F238E27FC236}">
                <a16:creationId xmlns:a16="http://schemas.microsoft.com/office/drawing/2014/main" id="{0DDA2695-9002-41B4-A2BE-1B09C4967249}"/>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101328471"/>
      </p:ext>
    </p:extLst>
  </p:cSld>
</p:sld>
</file>

<file path=ppt/slides/slide31.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31">
            <a:extLst xmlns:a="http://schemas.openxmlformats.org/drawingml/2006/main">
              <a:ext uri="{FF2B5EF4-FFF2-40B4-BE49-F238E27FC236}">
                <a16:creationId xmlns:a16="http://schemas.microsoft.com/office/drawing/2014/main" id="{5FE11ED0-E997-4317-9909-3807D625155D}"/>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31">
            <a:extLst xmlns:a="http://schemas.openxmlformats.org/drawingml/2006/main">
              <a:ext uri="{FF2B5EF4-FFF2-40B4-BE49-F238E27FC236}">
                <a16:creationId xmlns:a16="http://schemas.microsoft.com/office/drawing/2014/main" id="{7809EA96-D535-4CB9-B687-B54162C6E907}"/>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31 / 60</a:t>
            </a:r>
          </a:p>
        </p:txBody>
      </p:sp>
      <p:sp>
        <p:nvSpPr>
          <p:cNvPr id="3" name="title-31">
            <a:extLst xmlns:a="http://schemas.openxmlformats.org/drawingml/2006/main">
              <a:ext uri="{FF2B5EF4-FFF2-40B4-BE49-F238E27FC236}">
                <a16:creationId xmlns:a16="http://schemas.microsoft.com/office/drawing/2014/main" id="{A614A082-22F8-4D78-B9D0-A04E4BB51224}"/>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OBB CONTRE HBB</a:t>
            </a:r>
          </a:p>
        </p:txBody>
      </p:sp>
      <p:sp>
        <p:nvSpPr>
          <p:cNvPr id="4" name="accent-31">
            <a:extLst xmlns:a="http://schemas.openxmlformats.org/drawingml/2006/main">
              <a:ext uri="{FF2B5EF4-FFF2-40B4-BE49-F238E27FC236}">
                <a16:creationId xmlns:a16="http://schemas.microsoft.com/office/drawing/2014/main" id="{4485E0EB-8C77-4605-90E6-36196D192023}"/>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31">
            <a:extLst xmlns:a="http://schemas.openxmlformats.org/drawingml/2006/main">
              <a:ext uri="{FF2B5EF4-FFF2-40B4-BE49-F238E27FC236}">
                <a16:creationId xmlns:a16="http://schemas.microsoft.com/office/drawing/2014/main" id="{9331C56B-DF20-41B5-B279-D828ED667769}"/>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0">
                <a:solidFill>
                  <a:srgbClr val="F6FAFC"/>
                </a:solidFill>
                <a:latin typeface="Arial"/>
                <a:ea typeface="Arial"/>
                <a:cs typeface="Arial"/>
              </a:defRPr>
            </a:pPr>
            <a:r>
              <a:rPr sz="3150" b="0">
                <a:solidFill>
                  <a:srgbClr val="F6FAFC"/>
                </a:solidFill>
                <a:latin typeface="Arial"/>
                <a:ea typeface="Arial"/>
                <a:cs typeface="Arial"/>
              </a:rPr>
              <a:t>Par contre, pour des objets inclinés comme les avions, les boîtes orientées donnent une comparaison plus précise que les boîtes horizontales. Une boîte horizontale peut couvrir beaucoup d'arrière-plan, alors qu'une boîte orientée suit réellement l'angle de l'objet. L'IoU représente donc mieux la qualité du placement. Le calcul est un peu plus complexe parce que la zone commune peut avoir une forme irrégulière, mais il est directement pris en charge par les outils utilisés.</a:t>
            </a:r>
          </a:p>
        </p:txBody>
      </p:sp>
      <p:sp>
        <p:nvSpPr>
          <p:cNvPr id="6" name="progress-track-31">
            <a:extLst xmlns:a="http://schemas.openxmlformats.org/drawingml/2006/main">
              <a:ext uri="{FF2B5EF4-FFF2-40B4-BE49-F238E27FC236}">
                <a16:creationId xmlns:a16="http://schemas.microsoft.com/office/drawing/2014/main" id="{C26C82FF-8DF7-47B5-A8C2-2995C31C9042}"/>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31">
            <a:extLst xmlns:a="http://schemas.openxmlformats.org/drawingml/2006/main">
              <a:ext uri="{FF2B5EF4-FFF2-40B4-BE49-F238E27FC236}">
                <a16:creationId xmlns:a16="http://schemas.microsoft.com/office/drawing/2014/main" id="{56BBE63E-D412-4E38-9F8E-3C2A9D33E4A7}"/>
              </a:ext>
            </a:extLst>
          </p:cNvPr>
          <p:cNvSpPr>
            <a:spLocks xmlns:a="http://schemas.openxmlformats.org/drawingml/2006/main" noGrp="1"/>
          </p:cNvSpPr>
          <p:nvPr/>
        </p:nvSpPr>
        <p:spPr>
          <a:xfrm xmlns:a="http://schemas.openxmlformats.org/drawingml/2006/main">
            <a:off x="952500" y="17002125"/>
            <a:ext cx="43307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31">
            <a:extLst xmlns:a="http://schemas.openxmlformats.org/drawingml/2006/main">
              <a:ext uri="{FF2B5EF4-FFF2-40B4-BE49-F238E27FC236}">
                <a16:creationId xmlns:a16="http://schemas.microsoft.com/office/drawing/2014/main" id="{91927EFA-EB9E-457B-A529-2A89EC682A0C}"/>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15817987"/>
      </p:ext>
    </p:extLst>
  </p:cSld>
</p:sld>
</file>

<file path=ppt/slides/slide32.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32">
            <a:extLst xmlns:a="http://schemas.openxmlformats.org/drawingml/2006/main">
              <a:ext uri="{FF2B5EF4-FFF2-40B4-BE49-F238E27FC236}">
                <a16:creationId xmlns:a16="http://schemas.microsoft.com/office/drawing/2014/main" id="{0DEE8605-A885-4E1D-9398-FA3E10F67815}"/>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32">
            <a:extLst xmlns:a="http://schemas.openxmlformats.org/drawingml/2006/main">
              <a:ext uri="{FF2B5EF4-FFF2-40B4-BE49-F238E27FC236}">
                <a16:creationId xmlns:a16="http://schemas.microsoft.com/office/drawing/2014/main" id="{FD14DFF3-7272-4641-A2BA-7814F8B9F35F}"/>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32 / 60</a:t>
            </a:r>
          </a:p>
        </p:txBody>
      </p:sp>
      <p:sp>
        <p:nvSpPr>
          <p:cNvPr id="3" name="title-32">
            <a:extLst xmlns:a="http://schemas.openxmlformats.org/drawingml/2006/main">
              <a:ext uri="{FF2B5EF4-FFF2-40B4-BE49-F238E27FC236}">
                <a16:creationId xmlns:a16="http://schemas.microsoft.com/office/drawing/2014/main" id="{6490516A-86E6-468A-BD38-CE3CB91CA0B3}"/>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IOU ET LOCALISATION</a:t>
            </a:r>
          </a:p>
        </p:txBody>
      </p:sp>
      <p:sp>
        <p:nvSpPr>
          <p:cNvPr id="4" name="accent-32">
            <a:extLst xmlns:a="http://schemas.openxmlformats.org/drawingml/2006/main">
              <a:ext uri="{FF2B5EF4-FFF2-40B4-BE49-F238E27FC236}">
                <a16:creationId xmlns:a16="http://schemas.microsoft.com/office/drawing/2014/main" id="{4F349424-0559-4A70-ACD0-A3B21EF8F703}"/>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32">
            <a:extLst xmlns:a="http://schemas.openxmlformats.org/drawingml/2006/main">
              <a:ext uri="{FF2B5EF4-FFF2-40B4-BE49-F238E27FC236}">
                <a16:creationId xmlns:a16="http://schemas.microsoft.com/office/drawing/2014/main" id="{6CEB86E2-C04E-4DCC-9DC6-55ACA37A2DAD}"/>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Dans le projet, l'IoU sert à vérifier si une prédiction est bien placée par rapport à l'annotation réelle. Si les deux boîtes sont proches, l'IoU est élevé ; si la prédiction est très décalée, il est faible.</a:t>
            </a:r>
          </a:p>
        </p:txBody>
      </p:sp>
      <p:sp>
        <p:nvSpPr>
          <p:cNvPr id="6" name="progress-track-32">
            <a:extLst xmlns:a="http://schemas.openxmlformats.org/drawingml/2006/main">
              <a:ext uri="{FF2B5EF4-FFF2-40B4-BE49-F238E27FC236}">
                <a16:creationId xmlns:a16="http://schemas.microsoft.com/office/drawing/2014/main" id="{AE915C8B-3B7E-477A-A547-5F743DDDEB1D}"/>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32">
            <a:extLst xmlns:a="http://schemas.openxmlformats.org/drawingml/2006/main">
              <a:ext uri="{FF2B5EF4-FFF2-40B4-BE49-F238E27FC236}">
                <a16:creationId xmlns:a16="http://schemas.microsoft.com/office/drawing/2014/main" id="{2E78F28D-A1A3-434A-8D78-C9FD86CBDFF8}"/>
              </a:ext>
            </a:extLst>
          </p:cNvPr>
          <p:cNvSpPr>
            <a:spLocks xmlns:a="http://schemas.openxmlformats.org/drawingml/2006/main" noGrp="1"/>
          </p:cNvSpPr>
          <p:nvPr/>
        </p:nvSpPr>
        <p:spPr>
          <a:xfrm xmlns:a="http://schemas.openxmlformats.org/drawingml/2006/main">
            <a:off x="952500" y="17002125"/>
            <a:ext cx="44704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32">
            <a:extLst xmlns:a="http://schemas.openxmlformats.org/drawingml/2006/main">
              <a:ext uri="{FF2B5EF4-FFF2-40B4-BE49-F238E27FC236}">
                <a16:creationId xmlns:a16="http://schemas.microsoft.com/office/drawing/2014/main" id="{6584678E-6CA3-44E3-894F-11B061335BE6}"/>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75671194"/>
      </p:ext>
    </p:extLst>
  </p:cSld>
</p:sld>
</file>

<file path=ppt/slides/slide33.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33">
            <a:extLst xmlns:a="http://schemas.openxmlformats.org/drawingml/2006/main">
              <a:ext uri="{FF2B5EF4-FFF2-40B4-BE49-F238E27FC236}">
                <a16:creationId xmlns:a16="http://schemas.microsoft.com/office/drawing/2014/main" id="{0D212BAC-19C4-4E0D-9A7D-927C2BB5A228}"/>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33">
            <a:extLst xmlns:a="http://schemas.openxmlformats.org/drawingml/2006/main">
              <a:ext uri="{FF2B5EF4-FFF2-40B4-BE49-F238E27FC236}">
                <a16:creationId xmlns:a16="http://schemas.microsoft.com/office/drawing/2014/main" id="{EE3D6EF7-9FEA-44BE-8F2A-C8F2E421FB94}"/>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33 / 60</a:t>
            </a:r>
          </a:p>
        </p:txBody>
      </p:sp>
      <p:sp>
        <p:nvSpPr>
          <p:cNvPr id="3" name="title-33">
            <a:extLst xmlns:a="http://schemas.openxmlformats.org/drawingml/2006/main">
              <a:ext uri="{FF2B5EF4-FFF2-40B4-BE49-F238E27FC236}">
                <a16:creationId xmlns:a16="http://schemas.microsoft.com/office/drawing/2014/main" id="{55FDDDEB-4E81-458D-90BA-AE710A43201A}"/>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PRÉDICTIONS DOUBLES</a:t>
            </a:r>
          </a:p>
        </p:txBody>
      </p:sp>
      <p:sp>
        <p:nvSpPr>
          <p:cNvPr id="4" name="accent-33">
            <a:extLst xmlns:a="http://schemas.openxmlformats.org/drawingml/2006/main">
              <a:ext uri="{FF2B5EF4-FFF2-40B4-BE49-F238E27FC236}">
                <a16:creationId xmlns:a16="http://schemas.microsoft.com/office/drawing/2014/main" id="{93025F37-000B-42B6-9C58-53062D55FCD2}"/>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33">
            <a:extLst xmlns:a="http://schemas.openxmlformats.org/drawingml/2006/main">
              <a:ext uri="{FF2B5EF4-FFF2-40B4-BE49-F238E27FC236}">
                <a16:creationId xmlns:a16="http://schemas.microsoft.com/office/drawing/2014/main" id="{1781D505-4D8E-4FC4-A390-52047B3C79B6}"/>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Il nous aide aussi à retirer les prédictions doubles. Donc, si deux boîtes se confondent fortement autour du même objet, on garde celle avec le score de confiance le plus élevé.</a:t>
            </a:r>
          </a:p>
        </p:txBody>
      </p:sp>
      <p:sp>
        <p:nvSpPr>
          <p:cNvPr id="6" name="progress-track-33">
            <a:extLst xmlns:a="http://schemas.openxmlformats.org/drawingml/2006/main">
              <a:ext uri="{FF2B5EF4-FFF2-40B4-BE49-F238E27FC236}">
                <a16:creationId xmlns:a16="http://schemas.microsoft.com/office/drawing/2014/main" id="{133C63AA-8FC8-4C0B-962D-2F72E216660A}"/>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33">
            <a:extLst xmlns:a="http://schemas.openxmlformats.org/drawingml/2006/main">
              <a:ext uri="{FF2B5EF4-FFF2-40B4-BE49-F238E27FC236}">
                <a16:creationId xmlns:a16="http://schemas.microsoft.com/office/drawing/2014/main" id="{BE8C82ED-F75B-4847-BD65-D1B6E42A0A17}"/>
              </a:ext>
            </a:extLst>
          </p:cNvPr>
          <p:cNvSpPr>
            <a:spLocks xmlns:a="http://schemas.openxmlformats.org/drawingml/2006/main" noGrp="1"/>
          </p:cNvSpPr>
          <p:nvPr/>
        </p:nvSpPr>
        <p:spPr>
          <a:xfrm xmlns:a="http://schemas.openxmlformats.org/drawingml/2006/main">
            <a:off x="952500" y="17002125"/>
            <a:ext cx="46101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33">
            <a:extLst xmlns:a="http://schemas.openxmlformats.org/drawingml/2006/main">
              <a:ext uri="{FF2B5EF4-FFF2-40B4-BE49-F238E27FC236}">
                <a16:creationId xmlns:a16="http://schemas.microsoft.com/office/drawing/2014/main" id="{933B1563-562D-4688-958E-702B973C2A72}"/>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340014213"/>
      </p:ext>
    </p:extLst>
  </p:cSld>
</p:sld>
</file>

<file path=ppt/slides/slide34.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34">
            <a:extLst xmlns:a="http://schemas.openxmlformats.org/drawingml/2006/main">
              <a:ext uri="{FF2B5EF4-FFF2-40B4-BE49-F238E27FC236}">
                <a16:creationId xmlns:a16="http://schemas.microsoft.com/office/drawing/2014/main" id="{8F38542C-0800-4E43-9E1D-8D5474ABD45D}"/>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34">
            <a:extLst xmlns:a="http://schemas.openxmlformats.org/drawingml/2006/main">
              <a:ext uri="{FF2B5EF4-FFF2-40B4-BE49-F238E27FC236}">
                <a16:creationId xmlns:a16="http://schemas.microsoft.com/office/drawing/2014/main" id="{26CB0883-1227-477C-90E3-9FD09848F9EF}"/>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34 / 60</a:t>
            </a:r>
          </a:p>
        </p:txBody>
      </p:sp>
      <p:sp>
        <p:nvSpPr>
          <p:cNvPr id="3" name="title-34">
            <a:extLst xmlns:a="http://schemas.openxmlformats.org/drawingml/2006/main">
              <a:ext uri="{FF2B5EF4-FFF2-40B4-BE49-F238E27FC236}">
                <a16:creationId xmlns:a16="http://schemas.microsoft.com/office/drawing/2014/main" id="{170882B7-D7AD-4F54-B52C-B96BC3C3EDBF}"/>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IOU CONTRE CONFIANCE</a:t>
            </a:r>
          </a:p>
        </p:txBody>
      </p:sp>
      <p:sp>
        <p:nvSpPr>
          <p:cNvPr id="4" name="accent-34">
            <a:extLst xmlns:a="http://schemas.openxmlformats.org/drawingml/2006/main">
              <a:ext uri="{FF2B5EF4-FFF2-40B4-BE49-F238E27FC236}">
                <a16:creationId xmlns:a16="http://schemas.microsoft.com/office/drawing/2014/main" id="{73EE8D5F-CFE6-4475-A3EA-2FA374EE861B}"/>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34">
            <a:extLst xmlns:a="http://schemas.openxmlformats.org/drawingml/2006/main">
              <a:ext uri="{FF2B5EF4-FFF2-40B4-BE49-F238E27FC236}">
                <a16:creationId xmlns:a16="http://schemas.microsoft.com/office/drawing/2014/main" id="{7C0F6298-5B1C-4431-A79F-B63887A01289}"/>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Il faut juste faire attention à ne pas confondre l'IoU avec le score de confiance. Le score de confiance vient directement du modèle et indique à quel point il croit en sa prédiction, alors que l'IoU mesure seulement la qualité de la superposition des boîtes. Donc, un modèle peut être très confiant, mais avoir placé sa boîte au mauvais endroit.</a:t>
            </a:r>
          </a:p>
        </p:txBody>
      </p:sp>
      <p:sp>
        <p:nvSpPr>
          <p:cNvPr id="6" name="progress-track-34">
            <a:extLst xmlns:a="http://schemas.openxmlformats.org/drawingml/2006/main">
              <a:ext uri="{FF2B5EF4-FFF2-40B4-BE49-F238E27FC236}">
                <a16:creationId xmlns:a16="http://schemas.microsoft.com/office/drawing/2014/main" id="{451D1627-A2E3-47BE-900D-91494AD63E00}"/>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34">
            <a:extLst xmlns:a="http://schemas.openxmlformats.org/drawingml/2006/main">
              <a:ext uri="{FF2B5EF4-FFF2-40B4-BE49-F238E27FC236}">
                <a16:creationId xmlns:a16="http://schemas.microsoft.com/office/drawing/2014/main" id="{35B77C84-C9A9-49F7-98C1-1EBA6C68A8A6}"/>
              </a:ext>
            </a:extLst>
          </p:cNvPr>
          <p:cNvSpPr>
            <a:spLocks xmlns:a="http://schemas.openxmlformats.org/drawingml/2006/main" noGrp="1"/>
          </p:cNvSpPr>
          <p:nvPr/>
        </p:nvSpPr>
        <p:spPr>
          <a:xfrm xmlns:a="http://schemas.openxmlformats.org/drawingml/2006/main">
            <a:off x="952500" y="17002125"/>
            <a:ext cx="47498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34">
            <a:extLst xmlns:a="http://schemas.openxmlformats.org/drawingml/2006/main">
              <a:ext uri="{FF2B5EF4-FFF2-40B4-BE49-F238E27FC236}">
                <a16:creationId xmlns:a16="http://schemas.microsoft.com/office/drawing/2014/main" id="{6F9E0069-159B-4AFA-9A03-E94EEE8619FA}"/>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478236218"/>
      </p:ext>
    </p:extLst>
  </p:cSld>
</p:sld>
</file>

<file path=ppt/slides/slide35.xml><?xml version="1.0" encoding="utf-8"?>
<p:sld xmlns:p="http://schemas.openxmlformats.org/presentationml/2006/main">
  <p:cSld>
    <p:bg>
      <p:bgPr>
        <a:solidFill xmlns:a="http://schemas.openxmlformats.org/drawingml/2006/main">
          <a:srgbClr val="250B14"/>
        </a:solidFill>
      </p:bgPr>
    </p:bg>
    <p:spTree>
      <p:nvGrpSpPr>
        <p:cNvPr id="1" name=""/>
        <p:cNvGrpSpPr/>
        <p:nvPr/>
      </p:nvGrpSpPr>
      <p:grpSpPr>
        <a:xfrm xmlns:a="http://schemas.openxmlformats.org/drawingml/2006/main"/>
      </p:grpSpPr>
      <p:sp>
        <p:nvSpPr>
          <p:cNvPr id="1" name="section-35">
            <a:extLst xmlns:a="http://schemas.openxmlformats.org/drawingml/2006/main">
              <a:ext uri="{FF2B5EF4-FFF2-40B4-BE49-F238E27FC236}">
                <a16:creationId xmlns:a16="http://schemas.microsoft.com/office/drawing/2014/main" id="{4E31ECAB-3C75-4CCF-AD7C-5D3D016C7964}"/>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FA7B3"/>
                </a:solidFill>
                <a:latin typeface="Arial"/>
                <a:ea typeface="Arial"/>
                <a:cs typeface="Arial"/>
              </a:defRPr>
            </a:pPr>
            <a:r>
              <a:rPr sz="1650" b="1">
                <a:solidFill>
                  <a:srgbClr val="DFA7B3"/>
                </a:solidFill>
                <a:latin typeface="Arial"/>
                <a:ea typeface="Arial"/>
                <a:cs typeface="Arial"/>
              </a:rPr>
              <a:t>DIAPO 2 - IOU ET RESULTATS</a:t>
            </a:r>
          </a:p>
        </p:txBody>
      </p:sp>
      <p:sp>
        <p:nvSpPr>
          <p:cNvPr id="2" name="progress-35">
            <a:extLst xmlns:a="http://schemas.openxmlformats.org/drawingml/2006/main">
              <a:ext uri="{FF2B5EF4-FFF2-40B4-BE49-F238E27FC236}">
                <a16:creationId xmlns:a16="http://schemas.microsoft.com/office/drawing/2014/main" id="{EEE28411-101F-4F60-B8F7-455D34FCC711}"/>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FA7B3"/>
                </a:solidFill>
                <a:latin typeface="Arial"/>
                <a:ea typeface="Arial"/>
                <a:cs typeface="Arial"/>
              </a:defRPr>
            </a:pPr>
            <a:r>
              <a:rPr sz="1800" b="1">
                <a:solidFill>
                  <a:srgbClr val="DFA7B3"/>
                </a:solidFill>
                <a:latin typeface="Arial"/>
                <a:ea typeface="Arial"/>
                <a:cs typeface="Arial"/>
              </a:rPr>
              <a:t>35 / 60</a:t>
            </a:r>
          </a:p>
        </p:txBody>
      </p:sp>
      <p:sp>
        <p:nvSpPr>
          <p:cNvPr id="3" name="title-35">
            <a:extLst xmlns:a="http://schemas.openxmlformats.org/drawingml/2006/main">
              <a:ext uri="{FF2B5EF4-FFF2-40B4-BE49-F238E27FC236}">
                <a16:creationId xmlns:a16="http://schemas.microsoft.com/office/drawing/2014/main" id="{C9356A5F-7937-4C78-B45E-4D26ECB1D896}"/>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F91A8"/>
                </a:solidFill>
                <a:latin typeface="Arial"/>
                <a:ea typeface="Arial"/>
                <a:cs typeface="Arial"/>
              </a:defRPr>
            </a:pPr>
            <a:r>
              <a:rPr sz="2700" b="1">
                <a:solidFill>
                  <a:srgbClr val="FF91A8"/>
                </a:solidFill>
                <a:latin typeface="Arial"/>
                <a:ea typeface="Arial"/>
                <a:cs typeface="Arial"/>
              </a:rPr>
              <a:t>ACTION - SOURIS</a:t>
            </a:r>
          </a:p>
        </p:txBody>
      </p:sp>
      <p:sp>
        <p:nvSpPr>
          <p:cNvPr id="4" name="accent-35">
            <a:extLst xmlns:a="http://schemas.openxmlformats.org/drawingml/2006/main">
              <a:ext uri="{FF2B5EF4-FFF2-40B4-BE49-F238E27FC236}">
                <a16:creationId xmlns:a16="http://schemas.microsoft.com/office/drawing/2014/main" id="{3CD1B5B9-D030-44CA-B62E-3CBE27C42B5E}"/>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5" name="body-35">
            <a:extLst xmlns:a="http://schemas.openxmlformats.org/drawingml/2006/main">
              <a:ext uri="{FF2B5EF4-FFF2-40B4-BE49-F238E27FC236}">
                <a16:creationId xmlns:a16="http://schemas.microsoft.com/office/drawing/2014/main" id="{39F2E33C-A221-400A-BBC1-9497DDC0A04E}"/>
              </a:ext>
            </a:extLst>
          </p:cNvPr>
          <p:cNvSpPr>
            <a:spLocks xmlns:a="http://schemas.openxmlformats.org/drawingml/2006/main" noGrp="1"/>
          </p:cNvSpPr>
          <p:nvPr/>
        </p:nvSpPr>
        <p:spPr>
          <a:xfrm xmlns:a="http://schemas.openxmlformats.org/drawingml/2006/main">
            <a:off x="952500" y="4476750"/>
            <a:ext cx="8382000" cy="838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4800" b="1">
                <a:solidFill>
                  <a:srgbClr val="FFF4F6"/>
                </a:solidFill>
                <a:latin typeface="Arial"/>
                <a:ea typeface="Arial"/>
                <a:cs typeface="Arial"/>
              </a:defRPr>
            </a:pPr>
            <a:r>
              <a:rPr sz="4800" b="1">
                <a:solidFill>
                  <a:srgbClr val="FFF4F6"/>
                </a:solidFill>
                <a:latin typeface="Arial"/>
                <a:ea typeface="Arial"/>
                <a:cs typeface="Arial"/>
              </a:rPr>
              <a:t>[POINTER LE GRAPHE DES RÉSULTATS]</a:t>
            </a:r>
          </a:p>
        </p:txBody>
      </p:sp>
      <p:sp>
        <p:nvSpPr>
          <p:cNvPr id="6" name="progress-track-35">
            <a:extLst xmlns:a="http://schemas.openxmlformats.org/drawingml/2006/main">
              <a:ext uri="{FF2B5EF4-FFF2-40B4-BE49-F238E27FC236}">
                <a16:creationId xmlns:a16="http://schemas.microsoft.com/office/drawing/2014/main" id="{4AAD0416-3E90-432D-92FC-7989C9E163CA}"/>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35">
            <a:extLst xmlns:a="http://schemas.openxmlformats.org/drawingml/2006/main">
              <a:ext uri="{FF2B5EF4-FFF2-40B4-BE49-F238E27FC236}">
                <a16:creationId xmlns:a16="http://schemas.microsoft.com/office/drawing/2014/main" id="{6FE7AAB4-ED66-470F-B431-DAA74832C228}"/>
              </a:ext>
            </a:extLst>
          </p:cNvPr>
          <p:cNvSpPr>
            <a:spLocks xmlns:a="http://schemas.openxmlformats.org/drawingml/2006/main" noGrp="1"/>
          </p:cNvSpPr>
          <p:nvPr/>
        </p:nvSpPr>
        <p:spPr>
          <a:xfrm xmlns:a="http://schemas.openxmlformats.org/drawingml/2006/main">
            <a:off x="952500" y="17002125"/>
            <a:ext cx="4889500" cy="5715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8" name="footer-35">
            <a:extLst xmlns:a="http://schemas.openxmlformats.org/drawingml/2006/main">
              <a:ext uri="{FF2B5EF4-FFF2-40B4-BE49-F238E27FC236}">
                <a16:creationId xmlns:a16="http://schemas.microsoft.com/office/drawing/2014/main" id="{DEB992B5-9A9A-4765-A806-05DBA9972726}"/>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FA7B3"/>
                </a:solidFill>
                <a:latin typeface="Arial"/>
                <a:ea typeface="Arial"/>
                <a:cs typeface="Arial"/>
              </a:defRPr>
            </a:pPr>
            <a:r>
              <a:rPr sz="1350" b="1">
                <a:solidFill>
                  <a:srgbClr val="DFA7B3"/>
                </a:solidFill>
                <a:latin typeface="Arial"/>
                <a:ea typeface="Arial"/>
                <a:cs typeface="Arial"/>
              </a:rPr>
              <a:t>SCRIPT MOBILE - SOUTENANCE YOLO-OBB</a:t>
            </a:r>
          </a:p>
        </p:txBody>
      </p:sp>
    </p:spTree>
    <p:extLst>
      <p:ext uri="{BB962C8B-B14F-4D97-AF65-F5344CB8AC3E}">
        <p14:creationId xmlns:p14="http://schemas.microsoft.com/office/powerpoint/2010/main" val="991977049"/>
      </p:ext>
    </p:extLst>
  </p:cSld>
</p:sld>
</file>

<file path=ppt/slides/slide36.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36">
            <a:extLst xmlns:a="http://schemas.openxmlformats.org/drawingml/2006/main">
              <a:ext uri="{FF2B5EF4-FFF2-40B4-BE49-F238E27FC236}">
                <a16:creationId xmlns:a16="http://schemas.microsoft.com/office/drawing/2014/main" id="{034F652E-1C50-4B77-AF76-38803A0E1530}"/>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36">
            <a:extLst xmlns:a="http://schemas.openxmlformats.org/drawingml/2006/main">
              <a:ext uri="{FF2B5EF4-FFF2-40B4-BE49-F238E27FC236}">
                <a16:creationId xmlns:a16="http://schemas.microsoft.com/office/drawing/2014/main" id="{38AC6C12-98BF-49D1-9D23-A13CE3FE4608}"/>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36 / 60</a:t>
            </a:r>
          </a:p>
        </p:txBody>
      </p:sp>
      <p:sp>
        <p:nvSpPr>
          <p:cNvPr id="3" name="title-36">
            <a:extLst xmlns:a="http://schemas.openxmlformats.org/drawingml/2006/main">
              <a:ext uri="{FF2B5EF4-FFF2-40B4-BE49-F238E27FC236}">
                <a16:creationId xmlns:a16="http://schemas.microsoft.com/office/drawing/2014/main" id="{12555A40-974C-4035-939D-01E081579CD3}"/>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TRANSITION VERS LES RÉSULTATS</a:t>
            </a:r>
          </a:p>
        </p:txBody>
      </p:sp>
      <p:sp>
        <p:nvSpPr>
          <p:cNvPr id="4" name="accent-36">
            <a:extLst xmlns:a="http://schemas.openxmlformats.org/drawingml/2006/main">
              <a:ext uri="{FF2B5EF4-FFF2-40B4-BE49-F238E27FC236}">
                <a16:creationId xmlns:a16="http://schemas.microsoft.com/office/drawing/2014/main" id="{265F0E66-2A9C-4F8E-8126-A57EBB6E7F65}"/>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36">
            <a:extLst xmlns:a="http://schemas.openxmlformats.org/drawingml/2006/main">
              <a:ext uri="{FF2B5EF4-FFF2-40B4-BE49-F238E27FC236}">
                <a16:creationId xmlns:a16="http://schemas.microsoft.com/office/drawing/2014/main" id="{8DD34000-A846-4909-B8C3-072F9BDBCE90}"/>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OK. Donc, après avoir vu comment on mesure l'IoU, on peut passer aux résultats obtenus par les deux modèles. Dans le graphe devant nous, on a la comparaison entre Faster R-CNN en vert clair et YOLO en vert plus sombre.</a:t>
            </a:r>
          </a:p>
        </p:txBody>
      </p:sp>
      <p:sp>
        <p:nvSpPr>
          <p:cNvPr id="6" name="progress-track-36">
            <a:extLst xmlns:a="http://schemas.openxmlformats.org/drawingml/2006/main">
              <a:ext uri="{FF2B5EF4-FFF2-40B4-BE49-F238E27FC236}">
                <a16:creationId xmlns:a16="http://schemas.microsoft.com/office/drawing/2014/main" id="{96122634-9074-498D-AA56-3862F43FF974}"/>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36">
            <a:extLst xmlns:a="http://schemas.openxmlformats.org/drawingml/2006/main">
              <a:ext uri="{FF2B5EF4-FFF2-40B4-BE49-F238E27FC236}">
                <a16:creationId xmlns:a16="http://schemas.microsoft.com/office/drawing/2014/main" id="{9246428B-7B8F-46B7-9A5D-7FEBEE275F56}"/>
              </a:ext>
            </a:extLst>
          </p:cNvPr>
          <p:cNvSpPr>
            <a:spLocks xmlns:a="http://schemas.openxmlformats.org/drawingml/2006/main" noGrp="1"/>
          </p:cNvSpPr>
          <p:nvPr/>
        </p:nvSpPr>
        <p:spPr>
          <a:xfrm xmlns:a="http://schemas.openxmlformats.org/drawingml/2006/main">
            <a:off x="952500" y="17002125"/>
            <a:ext cx="50292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36">
            <a:extLst xmlns:a="http://schemas.openxmlformats.org/drawingml/2006/main">
              <a:ext uri="{FF2B5EF4-FFF2-40B4-BE49-F238E27FC236}">
                <a16:creationId xmlns:a16="http://schemas.microsoft.com/office/drawing/2014/main" id="{D7EA5BB0-2B72-40CA-9C9A-E657FE584B37}"/>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305276509"/>
      </p:ext>
    </p:extLst>
  </p:cSld>
</p:sld>
</file>

<file path=ppt/slides/slide37.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37">
            <a:extLst xmlns:a="http://schemas.openxmlformats.org/drawingml/2006/main">
              <a:ext uri="{FF2B5EF4-FFF2-40B4-BE49-F238E27FC236}">
                <a16:creationId xmlns:a16="http://schemas.microsoft.com/office/drawing/2014/main" id="{B1AEE179-A156-40A7-BE37-579843D036D3}"/>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37">
            <a:extLst xmlns:a="http://schemas.openxmlformats.org/drawingml/2006/main">
              <a:ext uri="{FF2B5EF4-FFF2-40B4-BE49-F238E27FC236}">
                <a16:creationId xmlns:a16="http://schemas.microsoft.com/office/drawing/2014/main" id="{987EC126-51AC-49AE-83B1-60D57E1ACD37}"/>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37 / 60</a:t>
            </a:r>
          </a:p>
        </p:txBody>
      </p:sp>
      <p:sp>
        <p:nvSpPr>
          <p:cNvPr id="3" name="title-37">
            <a:extLst xmlns:a="http://schemas.openxmlformats.org/drawingml/2006/main">
              <a:ext uri="{FF2B5EF4-FFF2-40B4-BE49-F238E27FC236}">
                <a16:creationId xmlns:a16="http://schemas.microsoft.com/office/drawing/2014/main" id="{E4039072-5ADD-4189-8BED-65C2FBFABF80}"/>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SCORE F1</a:t>
            </a:r>
          </a:p>
        </p:txBody>
      </p:sp>
      <p:sp>
        <p:nvSpPr>
          <p:cNvPr id="4" name="accent-37">
            <a:extLst xmlns:a="http://schemas.openxmlformats.org/drawingml/2006/main">
              <a:ext uri="{FF2B5EF4-FFF2-40B4-BE49-F238E27FC236}">
                <a16:creationId xmlns:a16="http://schemas.microsoft.com/office/drawing/2014/main" id="{5541ACB4-081A-4B6E-85FF-E15E01EC58B3}"/>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37">
            <a:extLst xmlns:a="http://schemas.openxmlformats.org/drawingml/2006/main">
              <a:ext uri="{FF2B5EF4-FFF2-40B4-BE49-F238E27FC236}">
                <a16:creationId xmlns:a16="http://schemas.microsoft.com/office/drawing/2014/main" id="{82B43A5B-F1B4-48E6-B251-37A3F27664B7}"/>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La première mesure, c'est le score F1. Pour l'expliquer simplement, c'est l'équilibre entre la qualité des prédictions et la capacité du modèle à retrouver les objets présents. Faster R-CNN obtient un score de 0,213, alors que YOLO obtient 0,386.</a:t>
            </a:r>
          </a:p>
        </p:txBody>
      </p:sp>
      <p:sp>
        <p:nvSpPr>
          <p:cNvPr id="6" name="progress-track-37">
            <a:extLst xmlns:a="http://schemas.openxmlformats.org/drawingml/2006/main">
              <a:ext uri="{FF2B5EF4-FFF2-40B4-BE49-F238E27FC236}">
                <a16:creationId xmlns:a16="http://schemas.microsoft.com/office/drawing/2014/main" id="{E5E6F6DB-E00D-4A49-8A9E-069FA01C5601}"/>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37">
            <a:extLst xmlns:a="http://schemas.openxmlformats.org/drawingml/2006/main">
              <a:ext uri="{FF2B5EF4-FFF2-40B4-BE49-F238E27FC236}">
                <a16:creationId xmlns:a16="http://schemas.microsoft.com/office/drawing/2014/main" id="{199FB9D2-2A5F-4CC3-9381-5FBAD19C13B0}"/>
              </a:ext>
            </a:extLst>
          </p:cNvPr>
          <p:cNvSpPr>
            <a:spLocks xmlns:a="http://schemas.openxmlformats.org/drawingml/2006/main" noGrp="1"/>
          </p:cNvSpPr>
          <p:nvPr/>
        </p:nvSpPr>
        <p:spPr>
          <a:xfrm xmlns:a="http://schemas.openxmlformats.org/drawingml/2006/main">
            <a:off x="952500" y="17002125"/>
            <a:ext cx="51689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37">
            <a:extLst xmlns:a="http://schemas.openxmlformats.org/drawingml/2006/main">
              <a:ext uri="{FF2B5EF4-FFF2-40B4-BE49-F238E27FC236}">
                <a16:creationId xmlns:a16="http://schemas.microsoft.com/office/drawing/2014/main" id="{8363859E-F73F-4D3B-A4F2-34B1246284AC}"/>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047537552"/>
      </p:ext>
    </p:extLst>
  </p:cSld>
</p:sld>
</file>

<file path=ppt/slides/slide38.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38">
            <a:extLst xmlns:a="http://schemas.openxmlformats.org/drawingml/2006/main">
              <a:ext uri="{FF2B5EF4-FFF2-40B4-BE49-F238E27FC236}">
                <a16:creationId xmlns:a16="http://schemas.microsoft.com/office/drawing/2014/main" id="{E7B867D3-E426-4689-BAB3-86D859C2B34A}"/>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38">
            <a:extLst xmlns:a="http://schemas.openxmlformats.org/drawingml/2006/main">
              <a:ext uri="{FF2B5EF4-FFF2-40B4-BE49-F238E27FC236}">
                <a16:creationId xmlns:a16="http://schemas.microsoft.com/office/drawing/2014/main" id="{80ADDCA0-621B-456A-B173-4D8BBAF9A60E}"/>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38 / 60</a:t>
            </a:r>
          </a:p>
        </p:txBody>
      </p:sp>
      <p:sp>
        <p:nvSpPr>
          <p:cNvPr id="3" name="title-38">
            <a:extLst xmlns:a="http://schemas.openxmlformats.org/drawingml/2006/main">
              <a:ext uri="{FF2B5EF4-FFF2-40B4-BE49-F238E27FC236}">
                <a16:creationId xmlns:a16="http://schemas.microsoft.com/office/drawing/2014/main" id="{BBAAF3B2-3837-4087-BB63-DB77C1892E2B}"/>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MAP 50-95</a:t>
            </a:r>
          </a:p>
        </p:txBody>
      </p:sp>
      <p:sp>
        <p:nvSpPr>
          <p:cNvPr id="4" name="accent-38">
            <a:extLst xmlns:a="http://schemas.openxmlformats.org/drawingml/2006/main">
              <a:ext uri="{FF2B5EF4-FFF2-40B4-BE49-F238E27FC236}">
                <a16:creationId xmlns:a16="http://schemas.microsoft.com/office/drawing/2014/main" id="{A90F6EC3-BDC0-4426-8A67-EEE1DC085DC3}"/>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38">
            <a:extLst xmlns:a="http://schemas.openxmlformats.org/drawingml/2006/main">
              <a:ext uri="{FF2B5EF4-FFF2-40B4-BE49-F238E27FC236}">
                <a16:creationId xmlns:a16="http://schemas.microsoft.com/office/drawing/2014/main" id="{2901DDEB-CDD1-48A9-8901-7A49572DFAF3}"/>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Ensuite, on a la mAP 50-95. mAP signifie littéralement mean Average Precision, donc la moyenne des précisions moyennes. Ici, elle évalue les prédictions à plusieurs niveaux de superposition, de 50 % à 95 %. Plus le score est élevé, plus les détections sont correctes et les boîtes sont bien placées.</a:t>
            </a:r>
          </a:p>
        </p:txBody>
      </p:sp>
      <p:sp>
        <p:nvSpPr>
          <p:cNvPr id="6" name="progress-track-38">
            <a:extLst xmlns:a="http://schemas.openxmlformats.org/drawingml/2006/main">
              <a:ext uri="{FF2B5EF4-FFF2-40B4-BE49-F238E27FC236}">
                <a16:creationId xmlns:a16="http://schemas.microsoft.com/office/drawing/2014/main" id="{808028BE-C556-43BE-BA66-DCAFA1E9FAF6}"/>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38">
            <a:extLst xmlns:a="http://schemas.openxmlformats.org/drawingml/2006/main">
              <a:ext uri="{FF2B5EF4-FFF2-40B4-BE49-F238E27FC236}">
                <a16:creationId xmlns:a16="http://schemas.microsoft.com/office/drawing/2014/main" id="{8B95DB68-FC0F-4F37-9877-AC8E86996D71}"/>
              </a:ext>
            </a:extLst>
          </p:cNvPr>
          <p:cNvSpPr>
            <a:spLocks xmlns:a="http://schemas.openxmlformats.org/drawingml/2006/main" noGrp="1"/>
          </p:cNvSpPr>
          <p:nvPr/>
        </p:nvSpPr>
        <p:spPr>
          <a:xfrm xmlns:a="http://schemas.openxmlformats.org/drawingml/2006/main">
            <a:off x="952500" y="17002125"/>
            <a:ext cx="53086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38">
            <a:extLst xmlns:a="http://schemas.openxmlformats.org/drawingml/2006/main">
              <a:ext uri="{FF2B5EF4-FFF2-40B4-BE49-F238E27FC236}">
                <a16:creationId xmlns:a16="http://schemas.microsoft.com/office/drawing/2014/main" id="{42478E85-BE74-4E2E-9134-007C7F30126B}"/>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228112636"/>
      </p:ext>
    </p:extLst>
  </p:cSld>
</p:sld>
</file>

<file path=ppt/slides/slide39.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39">
            <a:extLst xmlns:a="http://schemas.openxmlformats.org/drawingml/2006/main">
              <a:ext uri="{FF2B5EF4-FFF2-40B4-BE49-F238E27FC236}">
                <a16:creationId xmlns:a16="http://schemas.microsoft.com/office/drawing/2014/main" id="{AC0C332B-3E0C-4AEF-B968-C73D1A1682F9}"/>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39">
            <a:extLst xmlns:a="http://schemas.openxmlformats.org/drawingml/2006/main">
              <a:ext uri="{FF2B5EF4-FFF2-40B4-BE49-F238E27FC236}">
                <a16:creationId xmlns:a16="http://schemas.microsoft.com/office/drawing/2014/main" id="{35A3AB48-4015-4D36-B76D-F308E06C0DF0}"/>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39 / 60</a:t>
            </a:r>
          </a:p>
        </p:txBody>
      </p:sp>
      <p:sp>
        <p:nvSpPr>
          <p:cNvPr id="3" name="title-39">
            <a:extLst xmlns:a="http://schemas.openxmlformats.org/drawingml/2006/main">
              <a:ext uri="{FF2B5EF4-FFF2-40B4-BE49-F238E27FC236}">
                <a16:creationId xmlns:a16="http://schemas.microsoft.com/office/drawing/2014/main" id="{606D2040-2A9E-49FC-9C94-D23057224559}"/>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RÉSULTATS MAP</a:t>
            </a:r>
          </a:p>
        </p:txBody>
      </p:sp>
      <p:sp>
        <p:nvSpPr>
          <p:cNvPr id="4" name="accent-39">
            <a:extLst xmlns:a="http://schemas.openxmlformats.org/drawingml/2006/main">
              <a:ext uri="{FF2B5EF4-FFF2-40B4-BE49-F238E27FC236}">
                <a16:creationId xmlns:a16="http://schemas.microsoft.com/office/drawing/2014/main" id="{0F2DFB8A-2048-4136-ABCF-509270ECAC05}"/>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39">
            <a:extLst xmlns:a="http://schemas.openxmlformats.org/drawingml/2006/main">
              <a:ext uri="{FF2B5EF4-FFF2-40B4-BE49-F238E27FC236}">
                <a16:creationId xmlns:a16="http://schemas.microsoft.com/office/drawing/2014/main" id="{ADFFC383-36C7-4BBE-B8C8-7ABDD47D9C92}"/>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050" b="0">
                <a:solidFill>
                  <a:srgbClr val="F6FAFC"/>
                </a:solidFill>
                <a:latin typeface="Arial"/>
                <a:ea typeface="Arial"/>
                <a:cs typeface="Arial"/>
              </a:defRPr>
            </a:pPr>
            <a:r>
              <a:rPr sz="4050" b="0">
                <a:solidFill>
                  <a:srgbClr val="F6FAFC"/>
                </a:solidFill>
                <a:latin typeface="Arial"/>
                <a:ea typeface="Arial"/>
                <a:cs typeface="Arial"/>
              </a:rPr>
              <a:t>Faster R-CNN obtient 0,06 et YOLO obtient 0,185. Donc, sur les deux mesures présentées, la configuration YOLO donne de meilleurs résultats.</a:t>
            </a:r>
          </a:p>
        </p:txBody>
      </p:sp>
      <p:sp>
        <p:nvSpPr>
          <p:cNvPr id="6" name="progress-track-39">
            <a:extLst xmlns:a="http://schemas.openxmlformats.org/drawingml/2006/main">
              <a:ext uri="{FF2B5EF4-FFF2-40B4-BE49-F238E27FC236}">
                <a16:creationId xmlns:a16="http://schemas.microsoft.com/office/drawing/2014/main" id="{71AE5494-24C7-4226-8D65-5982DC027DA2}"/>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39">
            <a:extLst xmlns:a="http://schemas.openxmlformats.org/drawingml/2006/main">
              <a:ext uri="{FF2B5EF4-FFF2-40B4-BE49-F238E27FC236}">
                <a16:creationId xmlns:a16="http://schemas.microsoft.com/office/drawing/2014/main" id="{801DC9F8-A597-4640-AD17-239B85A7FABC}"/>
              </a:ext>
            </a:extLst>
          </p:cNvPr>
          <p:cNvSpPr>
            <a:spLocks xmlns:a="http://schemas.openxmlformats.org/drawingml/2006/main" noGrp="1"/>
          </p:cNvSpPr>
          <p:nvPr/>
        </p:nvSpPr>
        <p:spPr>
          <a:xfrm xmlns:a="http://schemas.openxmlformats.org/drawingml/2006/main">
            <a:off x="952500" y="17002125"/>
            <a:ext cx="54483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39">
            <a:extLst xmlns:a="http://schemas.openxmlformats.org/drawingml/2006/main">
              <a:ext uri="{FF2B5EF4-FFF2-40B4-BE49-F238E27FC236}">
                <a16:creationId xmlns:a16="http://schemas.microsoft.com/office/drawing/2014/main" id="{950A7BF2-FE73-45E6-BF22-A7B60EF9F7D8}"/>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859607809"/>
      </p:ext>
    </p:extLst>
  </p:cSld>
</p:sld>
</file>

<file path=ppt/slides/slide4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40">
            <a:extLst xmlns:a="http://schemas.openxmlformats.org/drawingml/2006/main">
              <a:ext uri="{FF2B5EF4-FFF2-40B4-BE49-F238E27FC236}">
                <a16:creationId xmlns:a16="http://schemas.microsoft.com/office/drawing/2014/main" id="{E3D58A34-4D3F-4182-A93F-7110C0092A15}"/>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40">
            <a:extLst xmlns:a="http://schemas.openxmlformats.org/drawingml/2006/main">
              <a:ext uri="{FF2B5EF4-FFF2-40B4-BE49-F238E27FC236}">
                <a16:creationId xmlns:a16="http://schemas.microsoft.com/office/drawing/2014/main" id="{5F95A865-E083-4A48-94DA-C58B0FE23A9F}"/>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40 / 60</a:t>
            </a:r>
          </a:p>
        </p:txBody>
      </p:sp>
      <p:sp>
        <p:nvSpPr>
          <p:cNvPr id="3" name="title-40">
            <a:extLst xmlns:a="http://schemas.openxmlformats.org/drawingml/2006/main">
              <a:ext uri="{FF2B5EF4-FFF2-40B4-BE49-F238E27FC236}">
                <a16:creationId xmlns:a16="http://schemas.microsoft.com/office/drawing/2014/main" id="{CF4E2AA3-A756-4565-99D5-9DA51E5A8B54}"/>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VITESSE</a:t>
            </a:r>
          </a:p>
        </p:txBody>
      </p:sp>
      <p:sp>
        <p:nvSpPr>
          <p:cNvPr id="4" name="accent-40">
            <a:extLst xmlns:a="http://schemas.openxmlformats.org/drawingml/2006/main">
              <a:ext uri="{FF2B5EF4-FFF2-40B4-BE49-F238E27FC236}">
                <a16:creationId xmlns:a16="http://schemas.microsoft.com/office/drawing/2014/main" id="{6BBAAF32-2BB2-4E74-9BE6-63DE28C3A0A5}"/>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40">
            <a:extLst xmlns:a="http://schemas.openxmlformats.org/drawingml/2006/main">
              <a:ext uri="{FF2B5EF4-FFF2-40B4-BE49-F238E27FC236}">
                <a16:creationId xmlns:a16="http://schemas.microsoft.com/office/drawing/2014/main" id="{9634FC4A-41F2-4C86-B16D-14BED88D195A}"/>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On voit aussi une différence au niveau de la vitesse. Pendant la validation, YOLO a pris en moyenne 7,9 millisecondes d'inférence par image, contre 17,1 millisecondes pour Faster R-CNN. Dans cette expérience, YOLO est donc 2,2 fois plus rapide que Faster R-CNN.</a:t>
            </a:r>
          </a:p>
        </p:txBody>
      </p:sp>
      <p:sp>
        <p:nvSpPr>
          <p:cNvPr id="6" name="progress-track-40">
            <a:extLst xmlns:a="http://schemas.openxmlformats.org/drawingml/2006/main">
              <a:ext uri="{FF2B5EF4-FFF2-40B4-BE49-F238E27FC236}">
                <a16:creationId xmlns:a16="http://schemas.microsoft.com/office/drawing/2014/main" id="{D0AB31F1-8212-41DA-BA9E-A02DD6936CED}"/>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40">
            <a:extLst xmlns:a="http://schemas.openxmlformats.org/drawingml/2006/main">
              <a:ext uri="{FF2B5EF4-FFF2-40B4-BE49-F238E27FC236}">
                <a16:creationId xmlns:a16="http://schemas.microsoft.com/office/drawing/2014/main" id="{751C347C-D759-447F-89CA-69248DCD43AF}"/>
              </a:ext>
            </a:extLst>
          </p:cNvPr>
          <p:cNvSpPr>
            <a:spLocks xmlns:a="http://schemas.openxmlformats.org/drawingml/2006/main" noGrp="1"/>
          </p:cNvSpPr>
          <p:nvPr/>
        </p:nvSpPr>
        <p:spPr>
          <a:xfrm xmlns:a="http://schemas.openxmlformats.org/drawingml/2006/main">
            <a:off x="952500" y="17002125"/>
            <a:ext cx="55880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40">
            <a:extLst xmlns:a="http://schemas.openxmlformats.org/drawingml/2006/main">
              <a:ext uri="{FF2B5EF4-FFF2-40B4-BE49-F238E27FC236}">
                <a16:creationId xmlns:a16="http://schemas.microsoft.com/office/drawing/2014/main" id="{4B07E27D-FA0E-4702-9ABC-DB322090882D}"/>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81366388"/>
      </p:ext>
    </p:extLst>
  </p:cSld>
</p:sld>
</file>

<file path=ppt/slides/slide41.xml><?xml version="1.0" encoding="utf-8"?>
<p:sld xmlns:p="http://schemas.openxmlformats.org/presentationml/2006/main">
  <p:cSld>
    <p:bg>
      <p:bgPr>
        <a:solidFill xmlns:a="http://schemas.openxmlformats.org/drawingml/2006/main">
          <a:srgbClr val="211907"/>
        </a:solidFill>
      </p:bgPr>
    </p:bg>
    <p:spTree>
      <p:nvGrpSpPr>
        <p:cNvPr id="1" name=""/>
        <p:cNvGrpSpPr/>
        <p:nvPr/>
      </p:nvGrpSpPr>
      <p:grpSpPr>
        <a:xfrm xmlns:a="http://schemas.openxmlformats.org/drawingml/2006/main"/>
      </p:grpSpPr>
      <p:sp>
        <p:nvSpPr>
          <p:cNvPr id="1" name="section-41">
            <a:extLst xmlns:a="http://schemas.openxmlformats.org/drawingml/2006/main">
              <a:ext uri="{FF2B5EF4-FFF2-40B4-BE49-F238E27FC236}">
                <a16:creationId xmlns:a16="http://schemas.microsoft.com/office/drawing/2014/main" id="{BF62DE83-0AC8-4D1F-80C3-FD42C37DDCC5}"/>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9C386"/>
                </a:solidFill>
                <a:latin typeface="Arial"/>
                <a:ea typeface="Arial"/>
                <a:cs typeface="Arial"/>
              </a:defRPr>
            </a:pPr>
            <a:r>
              <a:rPr sz="1650" b="1">
                <a:solidFill>
                  <a:srgbClr val="D9C386"/>
                </a:solidFill>
                <a:latin typeface="Arial"/>
                <a:ea typeface="Arial"/>
                <a:cs typeface="Arial"/>
              </a:rPr>
              <a:t>DIAPO 2 - IOU ET RESULTATS</a:t>
            </a:r>
          </a:p>
        </p:txBody>
      </p:sp>
      <p:sp>
        <p:nvSpPr>
          <p:cNvPr id="2" name="progress-41">
            <a:extLst xmlns:a="http://schemas.openxmlformats.org/drawingml/2006/main">
              <a:ext uri="{FF2B5EF4-FFF2-40B4-BE49-F238E27FC236}">
                <a16:creationId xmlns:a16="http://schemas.microsoft.com/office/drawing/2014/main" id="{04F9B4D2-7AB7-42B9-B329-7CFCC28A1958}"/>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9C386"/>
                </a:solidFill>
                <a:latin typeface="Arial"/>
                <a:ea typeface="Arial"/>
                <a:cs typeface="Arial"/>
              </a:defRPr>
            </a:pPr>
            <a:r>
              <a:rPr sz="1800" b="1">
                <a:solidFill>
                  <a:srgbClr val="D9C386"/>
                </a:solidFill>
                <a:latin typeface="Arial"/>
                <a:ea typeface="Arial"/>
                <a:cs typeface="Arial"/>
              </a:rPr>
              <a:t>41 / 60</a:t>
            </a:r>
          </a:p>
        </p:txBody>
      </p:sp>
      <p:sp>
        <p:nvSpPr>
          <p:cNvPr id="3" name="body-41">
            <a:extLst xmlns:a="http://schemas.openxmlformats.org/drawingml/2006/main">
              <a:ext uri="{FF2B5EF4-FFF2-40B4-BE49-F238E27FC236}">
                <a16:creationId xmlns:a16="http://schemas.microsoft.com/office/drawing/2014/main" id="{47371D14-5224-4AB3-8F56-AA532B60FEF7}"/>
              </a:ext>
            </a:extLst>
          </p:cNvPr>
          <p:cNvSpPr>
            <a:spLocks xmlns:a="http://schemas.openxmlformats.org/drawingml/2006/main" noGrp="1"/>
          </p:cNvSpPr>
          <p:nvPr/>
        </p:nvSpPr>
        <p:spPr>
          <a:xfrm xmlns:a="http://schemas.openxmlformats.org/drawingml/2006/main">
            <a:off x="952500" y="4476750"/>
            <a:ext cx="8382000" cy="838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900" b="1">
                <a:solidFill>
                  <a:srgbClr val="FFF3C9"/>
                </a:solidFill>
                <a:latin typeface="Arial"/>
                <a:ea typeface="Arial"/>
                <a:cs typeface="Arial"/>
              </a:defRPr>
            </a:pPr>
            <a:r>
              <a:rPr sz="6900" b="1">
                <a:solidFill>
                  <a:srgbClr val="FFF3C9"/>
                </a:solidFill>
                <a:latin typeface="Arial"/>
                <a:ea typeface="Arial"/>
                <a:cs typeface="Arial"/>
              </a:rPr>
              <a:t>(PAUSE)</a:t>
            </a:r>
          </a:p>
        </p:txBody>
      </p:sp>
      <p:sp>
        <p:nvSpPr>
          <p:cNvPr id="4" name="progress-track-41">
            <a:extLst xmlns:a="http://schemas.openxmlformats.org/drawingml/2006/main">
              <a:ext uri="{FF2B5EF4-FFF2-40B4-BE49-F238E27FC236}">
                <a16:creationId xmlns:a16="http://schemas.microsoft.com/office/drawing/2014/main" id="{8759DA63-FA77-4317-A95E-077BAADF435F}"/>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5" name="progress-fill-41">
            <a:extLst xmlns:a="http://schemas.openxmlformats.org/drawingml/2006/main">
              <a:ext uri="{FF2B5EF4-FFF2-40B4-BE49-F238E27FC236}">
                <a16:creationId xmlns:a16="http://schemas.microsoft.com/office/drawing/2014/main" id="{5B0D9661-C15A-4FD7-B20C-550687FE0DB9}"/>
              </a:ext>
            </a:extLst>
          </p:cNvPr>
          <p:cNvSpPr>
            <a:spLocks xmlns:a="http://schemas.openxmlformats.org/drawingml/2006/main" noGrp="1"/>
          </p:cNvSpPr>
          <p:nvPr/>
        </p:nvSpPr>
        <p:spPr>
          <a:xfrm xmlns:a="http://schemas.openxmlformats.org/drawingml/2006/main">
            <a:off x="952500" y="17002125"/>
            <a:ext cx="5727700" cy="57150"/>
          </a:xfrm>
          <a:prstGeom xmlns:a="http://schemas.openxmlformats.org/drawingml/2006/main" prst="rect">
            <a:avLst/>
          </a:prstGeom>
          <a:solidFill xmlns:a="http://schemas.openxmlformats.org/drawingml/2006/main">
            <a:srgbClr val="F5C451"/>
          </a:solidFill>
          <a:ln xmlns:a="http://schemas.openxmlformats.org/drawingml/2006/main" w="0">
            <a:solidFill>
              <a:srgbClr val="F5C451"/>
            </a:solidFill>
            <a:prstDash val="solid"/>
          </a:ln>
        </p:spPr>
      </p:sp>
      <p:sp>
        <p:nvSpPr>
          <p:cNvPr id="6" name="footer-41">
            <a:extLst xmlns:a="http://schemas.openxmlformats.org/drawingml/2006/main">
              <a:ext uri="{FF2B5EF4-FFF2-40B4-BE49-F238E27FC236}">
                <a16:creationId xmlns:a16="http://schemas.microsoft.com/office/drawing/2014/main" id="{45EA38D5-289E-46B6-91DF-F95E23B0C3C0}"/>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9C386"/>
                </a:solidFill>
                <a:latin typeface="Arial"/>
                <a:ea typeface="Arial"/>
                <a:cs typeface="Arial"/>
              </a:defRPr>
            </a:pPr>
            <a:r>
              <a:rPr sz="1350" b="1">
                <a:solidFill>
                  <a:srgbClr val="D9C386"/>
                </a:solidFill>
                <a:latin typeface="Arial"/>
                <a:ea typeface="Arial"/>
                <a:cs typeface="Arial"/>
              </a:rPr>
              <a:t>SCRIPT MOBILE - SOUTENANCE YOLO-OBB</a:t>
            </a:r>
          </a:p>
        </p:txBody>
      </p:sp>
    </p:spTree>
    <p:extLst>
      <p:ext uri="{BB962C8B-B14F-4D97-AF65-F5344CB8AC3E}">
        <p14:creationId xmlns:p14="http://schemas.microsoft.com/office/powerpoint/2010/main" val="1497323997"/>
      </p:ext>
    </p:extLst>
  </p:cSld>
</p:sld>
</file>

<file path=ppt/slides/slide42.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42">
            <a:extLst xmlns:a="http://schemas.openxmlformats.org/drawingml/2006/main">
              <a:ext uri="{FF2B5EF4-FFF2-40B4-BE49-F238E27FC236}">
                <a16:creationId xmlns:a16="http://schemas.microsoft.com/office/drawing/2014/main" id="{898FD5BF-8759-46ED-B3E6-17A3565541F3}"/>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42">
            <a:extLst xmlns:a="http://schemas.openxmlformats.org/drawingml/2006/main">
              <a:ext uri="{FF2B5EF4-FFF2-40B4-BE49-F238E27FC236}">
                <a16:creationId xmlns:a16="http://schemas.microsoft.com/office/drawing/2014/main" id="{A00FF1AB-22A0-44D3-A213-654C0DA6A156}"/>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42 / 60</a:t>
            </a:r>
          </a:p>
        </p:txBody>
      </p:sp>
      <p:sp>
        <p:nvSpPr>
          <p:cNvPr id="3" name="title-42">
            <a:extLst xmlns:a="http://schemas.openxmlformats.org/drawingml/2006/main">
              <a:ext uri="{FF2B5EF4-FFF2-40B4-BE49-F238E27FC236}">
                <a16:creationId xmlns:a16="http://schemas.microsoft.com/office/drawing/2014/main" id="{54EB7A10-4A9E-40AC-92E5-3E791FAA6A9B}"/>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LIMITES</a:t>
            </a:r>
          </a:p>
        </p:txBody>
      </p:sp>
      <p:sp>
        <p:nvSpPr>
          <p:cNvPr id="4" name="accent-42">
            <a:extLst xmlns:a="http://schemas.openxmlformats.org/drawingml/2006/main">
              <a:ext uri="{FF2B5EF4-FFF2-40B4-BE49-F238E27FC236}">
                <a16:creationId xmlns:a16="http://schemas.microsoft.com/office/drawing/2014/main" id="{E50D3E7F-59B7-4B60-9A64-2885FC07E5B8}"/>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42">
            <a:extLst xmlns:a="http://schemas.openxmlformats.org/drawingml/2006/main">
              <a:ext uri="{FF2B5EF4-FFF2-40B4-BE49-F238E27FC236}">
                <a16:creationId xmlns:a16="http://schemas.microsoft.com/office/drawing/2014/main" id="{04464386-9A53-49F3-A1EF-C4A5E285A5D1}"/>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050" b="0">
                <a:solidFill>
                  <a:srgbClr val="F6FAFC"/>
                </a:solidFill>
                <a:latin typeface="Arial"/>
                <a:ea typeface="Arial"/>
                <a:cs typeface="Arial"/>
              </a:defRPr>
            </a:pPr>
            <a:r>
              <a:rPr sz="4050" b="0">
                <a:solidFill>
                  <a:srgbClr val="F6FAFC"/>
                </a:solidFill>
                <a:latin typeface="Arial"/>
                <a:ea typeface="Arial"/>
                <a:cs typeface="Arial"/>
              </a:rPr>
              <a:t>Ça reste des résultats préliminaires, donc il faut les interpréter avec prudence. Même si le modèle YOLO est meilleur, il manque encore une partie importante des objets.</a:t>
            </a:r>
          </a:p>
        </p:txBody>
      </p:sp>
      <p:sp>
        <p:nvSpPr>
          <p:cNvPr id="6" name="progress-track-42">
            <a:extLst xmlns:a="http://schemas.openxmlformats.org/drawingml/2006/main">
              <a:ext uri="{FF2B5EF4-FFF2-40B4-BE49-F238E27FC236}">
                <a16:creationId xmlns:a16="http://schemas.microsoft.com/office/drawing/2014/main" id="{1FF50932-AACE-4B6B-B6B5-03E3B2E59618}"/>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42">
            <a:extLst xmlns:a="http://schemas.openxmlformats.org/drawingml/2006/main">
              <a:ext uri="{FF2B5EF4-FFF2-40B4-BE49-F238E27FC236}">
                <a16:creationId xmlns:a16="http://schemas.microsoft.com/office/drawing/2014/main" id="{0F537989-E889-4561-82F2-F85CCB289B9E}"/>
              </a:ext>
            </a:extLst>
          </p:cNvPr>
          <p:cNvSpPr>
            <a:spLocks xmlns:a="http://schemas.openxmlformats.org/drawingml/2006/main" noGrp="1"/>
          </p:cNvSpPr>
          <p:nvPr/>
        </p:nvSpPr>
        <p:spPr>
          <a:xfrm xmlns:a="http://schemas.openxmlformats.org/drawingml/2006/main">
            <a:off x="952500" y="17002125"/>
            <a:ext cx="58674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42">
            <a:extLst xmlns:a="http://schemas.openxmlformats.org/drawingml/2006/main">
              <a:ext uri="{FF2B5EF4-FFF2-40B4-BE49-F238E27FC236}">
                <a16:creationId xmlns:a16="http://schemas.microsoft.com/office/drawing/2014/main" id="{04212945-667A-4075-9852-51B90F1C3172}"/>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803907555"/>
      </p:ext>
    </p:extLst>
  </p:cSld>
</p:sld>
</file>

<file path=ppt/slides/slide43.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43">
            <a:extLst xmlns:a="http://schemas.openxmlformats.org/drawingml/2006/main">
              <a:ext uri="{FF2B5EF4-FFF2-40B4-BE49-F238E27FC236}">
                <a16:creationId xmlns:a16="http://schemas.microsoft.com/office/drawing/2014/main" id="{00699C0C-6606-4456-AE89-A33C5B3E5686}"/>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DIAPO 2 - IOU ET RESULTATS</a:t>
            </a:r>
          </a:p>
        </p:txBody>
      </p:sp>
      <p:sp>
        <p:nvSpPr>
          <p:cNvPr id="2" name="progress-43">
            <a:extLst xmlns:a="http://schemas.openxmlformats.org/drawingml/2006/main">
              <a:ext uri="{FF2B5EF4-FFF2-40B4-BE49-F238E27FC236}">
                <a16:creationId xmlns:a16="http://schemas.microsoft.com/office/drawing/2014/main" id="{86875200-B138-4012-87EC-6DF594311A01}"/>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43 / 60</a:t>
            </a:r>
          </a:p>
        </p:txBody>
      </p:sp>
      <p:sp>
        <p:nvSpPr>
          <p:cNvPr id="3" name="title-43">
            <a:extLst xmlns:a="http://schemas.openxmlformats.org/drawingml/2006/main">
              <a:ext uri="{FF2B5EF4-FFF2-40B4-BE49-F238E27FC236}">
                <a16:creationId xmlns:a16="http://schemas.microsoft.com/office/drawing/2014/main" id="{83E77610-70DB-4D94-A3B3-647A781900F3}"/>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FIN DES DIAPOS</a:t>
            </a:r>
          </a:p>
        </p:txBody>
      </p:sp>
      <p:sp>
        <p:nvSpPr>
          <p:cNvPr id="4" name="accent-43">
            <a:extLst xmlns:a="http://schemas.openxmlformats.org/drawingml/2006/main">
              <a:ext uri="{FF2B5EF4-FFF2-40B4-BE49-F238E27FC236}">
                <a16:creationId xmlns:a16="http://schemas.microsoft.com/office/drawing/2014/main" id="{2B842531-4C62-4543-94A5-B723B3D5A4EE}"/>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43">
            <a:extLst xmlns:a="http://schemas.openxmlformats.org/drawingml/2006/main">
              <a:ext uri="{FF2B5EF4-FFF2-40B4-BE49-F238E27FC236}">
                <a16:creationId xmlns:a16="http://schemas.microsoft.com/office/drawing/2014/main" id="{F22C6609-BF92-45E3-A0A8-D9B5AB133205}"/>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500" b="0">
                <a:solidFill>
                  <a:srgbClr val="F6FAFC"/>
                </a:solidFill>
                <a:latin typeface="Arial"/>
                <a:ea typeface="Arial"/>
                <a:cs typeface="Arial"/>
              </a:defRPr>
            </a:pPr>
            <a:r>
              <a:rPr sz="4500" b="0">
                <a:solidFill>
                  <a:srgbClr val="F6FAFC"/>
                </a:solidFill>
                <a:latin typeface="Arial"/>
                <a:ea typeface="Arial"/>
                <a:cs typeface="Arial"/>
              </a:rPr>
              <a:t>Je pense que c'est bon pour les deux diapos.</a:t>
            </a:r>
          </a:p>
        </p:txBody>
      </p:sp>
      <p:sp>
        <p:nvSpPr>
          <p:cNvPr id="6" name="progress-track-43">
            <a:extLst xmlns:a="http://schemas.openxmlformats.org/drawingml/2006/main">
              <a:ext uri="{FF2B5EF4-FFF2-40B4-BE49-F238E27FC236}">
                <a16:creationId xmlns:a16="http://schemas.microsoft.com/office/drawing/2014/main" id="{CECCB097-0AA7-4DF7-AA2B-0D8045673F0F}"/>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43">
            <a:extLst xmlns:a="http://schemas.openxmlformats.org/drawingml/2006/main">
              <a:ext uri="{FF2B5EF4-FFF2-40B4-BE49-F238E27FC236}">
                <a16:creationId xmlns:a16="http://schemas.microsoft.com/office/drawing/2014/main" id="{36F605BF-BB2C-4135-A94F-C9B827A4B3FD}"/>
              </a:ext>
            </a:extLst>
          </p:cNvPr>
          <p:cNvSpPr>
            <a:spLocks xmlns:a="http://schemas.openxmlformats.org/drawingml/2006/main" noGrp="1"/>
          </p:cNvSpPr>
          <p:nvPr/>
        </p:nvSpPr>
        <p:spPr>
          <a:xfrm xmlns:a="http://schemas.openxmlformats.org/drawingml/2006/main">
            <a:off x="952500" y="17002125"/>
            <a:ext cx="60071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43">
            <a:extLst xmlns:a="http://schemas.openxmlformats.org/drawingml/2006/main">
              <a:ext uri="{FF2B5EF4-FFF2-40B4-BE49-F238E27FC236}">
                <a16:creationId xmlns:a16="http://schemas.microsoft.com/office/drawing/2014/main" id="{88DC344E-B135-4228-B205-F64B0515579F}"/>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272309369"/>
      </p:ext>
    </p:extLst>
  </p:cSld>
</p:sld>
</file>

<file path=ppt/slides/slide44.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44">
            <a:extLst xmlns:a="http://schemas.openxmlformats.org/drawingml/2006/main">
              <a:ext uri="{FF2B5EF4-FFF2-40B4-BE49-F238E27FC236}">
                <a16:creationId xmlns:a16="http://schemas.microsoft.com/office/drawing/2014/main" id="{2C1226BB-1D7B-4A4D-8EF2-8410487C30A0}"/>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TRANSITION NOTEBOOK</a:t>
            </a:r>
          </a:p>
        </p:txBody>
      </p:sp>
      <p:sp>
        <p:nvSpPr>
          <p:cNvPr id="2" name="progress-44">
            <a:extLst xmlns:a="http://schemas.openxmlformats.org/drawingml/2006/main">
              <a:ext uri="{FF2B5EF4-FFF2-40B4-BE49-F238E27FC236}">
                <a16:creationId xmlns:a16="http://schemas.microsoft.com/office/drawing/2014/main" id="{78B18F95-6252-4B53-A7AF-57084A3AB32D}"/>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44 / 60</a:t>
            </a:r>
          </a:p>
        </p:txBody>
      </p:sp>
      <p:sp>
        <p:nvSpPr>
          <p:cNvPr id="3" name="title-44">
            <a:extLst xmlns:a="http://schemas.openxmlformats.org/drawingml/2006/main">
              <a:ext uri="{FF2B5EF4-FFF2-40B4-BE49-F238E27FC236}">
                <a16:creationId xmlns:a16="http://schemas.microsoft.com/office/drawing/2014/main" id="{90A6D5B0-8C50-4B10-801B-A54F6B4A3356}"/>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DÉMONSTRATION</a:t>
            </a:r>
          </a:p>
        </p:txBody>
      </p:sp>
      <p:sp>
        <p:nvSpPr>
          <p:cNvPr id="4" name="accent-44">
            <a:extLst xmlns:a="http://schemas.openxmlformats.org/drawingml/2006/main">
              <a:ext uri="{FF2B5EF4-FFF2-40B4-BE49-F238E27FC236}">
                <a16:creationId xmlns:a16="http://schemas.microsoft.com/office/drawing/2014/main" id="{2B7E29D5-7162-4780-9B6F-254AD9444A79}"/>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44">
            <a:extLst xmlns:a="http://schemas.openxmlformats.org/drawingml/2006/main">
              <a:ext uri="{FF2B5EF4-FFF2-40B4-BE49-F238E27FC236}">
                <a16:creationId xmlns:a16="http://schemas.microsoft.com/office/drawing/2014/main" id="{831BB4D4-66C9-4843-A015-A1F345CB9F62}"/>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500" b="0">
                <a:solidFill>
                  <a:srgbClr val="F6FAFC"/>
                </a:solidFill>
                <a:latin typeface="Arial"/>
                <a:ea typeface="Arial"/>
                <a:cs typeface="Arial"/>
              </a:defRPr>
            </a:pPr>
            <a:r>
              <a:rPr sz="4500" b="0">
                <a:solidFill>
                  <a:srgbClr val="F6FAFC"/>
                </a:solidFill>
                <a:latin typeface="Arial"/>
                <a:ea typeface="Arial"/>
                <a:cs typeface="Arial"/>
              </a:rPr>
              <a:t>Je vais passer directement au notebook et vous montrer l'exécution du modèle.</a:t>
            </a:r>
          </a:p>
        </p:txBody>
      </p:sp>
      <p:sp>
        <p:nvSpPr>
          <p:cNvPr id="6" name="progress-track-44">
            <a:extLst xmlns:a="http://schemas.openxmlformats.org/drawingml/2006/main">
              <a:ext uri="{FF2B5EF4-FFF2-40B4-BE49-F238E27FC236}">
                <a16:creationId xmlns:a16="http://schemas.microsoft.com/office/drawing/2014/main" id="{D8AA4EBD-5412-4EE5-891A-2F3CB551CD2C}"/>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44">
            <a:extLst xmlns:a="http://schemas.openxmlformats.org/drawingml/2006/main">
              <a:ext uri="{FF2B5EF4-FFF2-40B4-BE49-F238E27FC236}">
                <a16:creationId xmlns:a16="http://schemas.microsoft.com/office/drawing/2014/main" id="{F70F029C-C50C-4757-B4F1-F7CBC5AC278D}"/>
              </a:ext>
            </a:extLst>
          </p:cNvPr>
          <p:cNvSpPr>
            <a:spLocks xmlns:a="http://schemas.openxmlformats.org/drawingml/2006/main" noGrp="1"/>
          </p:cNvSpPr>
          <p:nvPr/>
        </p:nvSpPr>
        <p:spPr>
          <a:xfrm xmlns:a="http://schemas.openxmlformats.org/drawingml/2006/main">
            <a:off x="952500" y="17002125"/>
            <a:ext cx="61468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44">
            <a:extLst xmlns:a="http://schemas.openxmlformats.org/drawingml/2006/main">
              <a:ext uri="{FF2B5EF4-FFF2-40B4-BE49-F238E27FC236}">
                <a16:creationId xmlns:a16="http://schemas.microsoft.com/office/drawing/2014/main" id="{2AA95F81-7D22-4941-B2D2-90B84428C500}"/>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708397827"/>
      </p:ext>
    </p:extLst>
  </p:cSld>
</p:sld>
</file>

<file path=ppt/slides/slide45.xml><?xml version="1.0" encoding="utf-8"?>
<p:sld xmlns:p="http://schemas.openxmlformats.org/presentationml/2006/main">
  <p:cSld>
    <p:bg>
      <p:bgPr>
        <a:solidFill xmlns:a="http://schemas.openxmlformats.org/drawingml/2006/main">
          <a:srgbClr val="250B14"/>
        </a:solidFill>
      </p:bgPr>
    </p:bg>
    <p:spTree>
      <p:nvGrpSpPr>
        <p:cNvPr id="1" name=""/>
        <p:cNvGrpSpPr/>
        <p:nvPr/>
      </p:nvGrpSpPr>
      <p:grpSpPr>
        <a:xfrm xmlns:a="http://schemas.openxmlformats.org/drawingml/2006/main"/>
      </p:grpSpPr>
      <p:sp>
        <p:nvSpPr>
          <p:cNvPr id="1" name="section-45">
            <a:extLst xmlns:a="http://schemas.openxmlformats.org/drawingml/2006/main">
              <a:ext uri="{FF2B5EF4-FFF2-40B4-BE49-F238E27FC236}">
                <a16:creationId xmlns:a16="http://schemas.microsoft.com/office/drawing/2014/main" id="{98577E74-01F2-462C-A3E8-28CA88DBC2E0}"/>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FA7B3"/>
                </a:solidFill>
                <a:latin typeface="Arial"/>
                <a:ea typeface="Arial"/>
                <a:cs typeface="Arial"/>
              </a:defRPr>
            </a:pPr>
            <a:r>
              <a:rPr sz="1650" b="1">
                <a:solidFill>
                  <a:srgbClr val="DFA7B3"/>
                </a:solidFill>
                <a:latin typeface="Arial"/>
                <a:ea typeface="Arial"/>
                <a:cs typeface="Arial"/>
              </a:rPr>
              <a:t>TRANSITION NOTEBOOK</a:t>
            </a:r>
          </a:p>
        </p:txBody>
      </p:sp>
      <p:sp>
        <p:nvSpPr>
          <p:cNvPr id="2" name="progress-45">
            <a:extLst xmlns:a="http://schemas.openxmlformats.org/drawingml/2006/main">
              <a:ext uri="{FF2B5EF4-FFF2-40B4-BE49-F238E27FC236}">
                <a16:creationId xmlns:a16="http://schemas.microsoft.com/office/drawing/2014/main" id="{80237716-408D-448E-AB4C-45C99A390688}"/>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FA7B3"/>
                </a:solidFill>
                <a:latin typeface="Arial"/>
                <a:ea typeface="Arial"/>
                <a:cs typeface="Arial"/>
              </a:defRPr>
            </a:pPr>
            <a:r>
              <a:rPr sz="1800" b="1">
                <a:solidFill>
                  <a:srgbClr val="DFA7B3"/>
                </a:solidFill>
                <a:latin typeface="Arial"/>
                <a:ea typeface="Arial"/>
                <a:cs typeface="Arial"/>
              </a:rPr>
              <a:t>45 / 60</a:t>
            </a:r>
          </a:p>
        </p:txBody>
      </p:sp>
      <p:sp>
        <p:nvSpPr>
          <p:cNvPr id="3" name="title-45">
            <a:extLst xmlns:a="http://schemas.openxmlformats.org/drawingml/2006/main">
              <a:ext uri="{FF2B5EF4-FFF2-40B4-BE49-F238E27FC236}">
                <a16:creationId xmlns:a16="http://schemas.microsoft.com/office/drawing/2014/main" id="{1868C67A-A5B0-4ACB-80AB-0C52F5C484A9}"/>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F91A8"/>
                </a:solidFill>
                <a:latin typeface="Arial"/>
                <a:ea typeface="Arial"/>
                <a:cs typeface="Arial"/>
              </a:defRPr>
            </a:pPr>
            <a:r>
              <a:rPr sz="2700" b="1">
                <a:solidFill>
                  <a:srgbClr val="FF91A8"/>
                </a:solidFill>
                <a:latin typeface="Arial"/>
                <a:ea typeface="Arial"/>
                <a:cs typeface="Arial"/>
              </a:rPr>
              <a:t>ACTION - SOURIS</a:t>
            </a:r>
          </a:p>
        </p:txBody>
      </p:sp>
      <p:sp>
        <p:nvSpPr>
          <p:cNvPr id="4" name="accent-45">
            <a:extLst xmlns:a="http://schemas.openxmlformats.org/drawingml/2006/main">
              <a:ext uri="{FF2B5EF4-FFF2-40B4-BE49-F238E27FC236}">
                <a16:creationId xmlns:a16="http://schemas.microsoft.com/office/drawing/2014/main" id="{FF61E7EF-7C67-4833-8283-DF5614381E66}"/>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5" name="body-45">
            <a:extLst xmlns:a="http://schemas.openxmlformats.org/drawingml/2006/main">
              <a:ext uri="{FF2B5EF4-FFF2-40B4-BE49-F238E27FC236}">
                <a16:creationId xmlns:a16="http://schemas.microsoft.com/office/drawing/2014/main" id="{12E91BDA-A9DC-49E6-BC6F-526FE8C43BEB}"/>
              </a:ext>
            </a:extLst>
          </p:cNvPr>
          <p:cNvSpPr>
            <a:spLocks xmlns:a="http://schemas.openxmlformats.org/drawingml/2006/main" noGrp="1"/>
          </p:cNvSpPr>
          <p:nvPr/>
        </p:nvSpPr>
        <p:spPr>
          <a:xfrm xmlns:a="http://schemas.openxmlformats.org/drawingml/2006/main">
            <a:off x="952500" y="4476750"/>
            <a:ext cx="8382000" cy="838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4800" b="1">
                <a:solidFill>
                  <a:srgbClr val="FFF4F6"/>
                </a:solidFill>
                <a:latin typeface="Arial"/>
                <a:ea typeface="Arial"/>
                <a:cs typeface="Arial"/>
              </a:defRPr>
            </a:pPr>
            <a:r>
              <a:rPr sz="4800" b="1">
                <a:solidFill>
                  <a:srgbClr val="FFF4F6"/>
                </a:solidFill>
                <a:latin typeface="Arial"/>
                <a:ea typeface="Arial"/>
                <a:cs typeface="Arial"/>
              </a:rPr>
              <a:t>[OUVRIR LE NOTEBOOK]</a:t>
            </a:r>
          </a:p>
        </p:txBody>
      </p:sp>
      <p:sp>
        <p:nvSpPr>
          <p:cNvPr id="6" name="progress-track-45">
            <a:extLst xmlns:a="http://schemas.openxmlformats.org/drawingml/2006/main">
              <a:ext uri="{FF2B5EF4-FFF2-40B4-BE49-F238E27FC236}">
                <a16:creationId xmlns:a16="http://schemas.microsoft.com/office/drawing/2014/main" id="{EF0B14ED-3943-4586-9D30-C3BC15E1A6C1}"/>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45">
            <a:extLst xmlns:a="http://schemas.openxmlformats.org/drawingml/2006/main">
              <a:ext uri="{FF2B5EF4-FFF2-40B4-BE49-F238E27FC236}">
                <a16:creationId xmlns:a16="http://schemas.microsoft.com/office/drawing/2014/main" id="{02336AE0-A3E0-4243-A162-A9CFA8AA903E}"/>
              </a:ext>
            </a:extLst>
          </p:cNvPr>
          <p:cNvSpPr>
            <a:spLocks xmlns:a="http://schemas.openxmlformats.org/drawingml/2006/main" noGrp="1"/>
          </p:cNvSpPr>
          <p:nvPr/>
        </p:nvSpPr>
        <p:spPr>
          <a:xfrm xmlns:a="http://schemas.openxmlformats.org/drawingml/2006/main">
            <a:off x="952500" y="17002125"/>
            <a:ext cx="6286500" cy="5715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8" name="footer-45">
            <a:extLst xmlns:a="http://schemas.openxmlformats.org/drawingml/2006/main">
              <a:ext uri="{FF2B5EF4-FFF2-40B4-BE49-F238E27FC236}">
                <a16:creationId xmlns:a16="http://schemas.microsoft.com/office/drawing/2014/main" id="{7B97E6EB-5247-4ECA-B579-1912B7072CF3}"/>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FA7B3"/>
                </a:solidFill>
                <a:latin typeface="Arial"/>
                <a:ea typeface="Arial"/>
                <a:cs typeface="Arial"/>
              </a:defRPr>
            </a:pPr>
            <a:r>
              <a:rPr sz="1350" b="1">
                <a:solidFill>
                  <a:srgbClr val="DFA7B3"/>
                </a:solidFill>
                <a:latin typeface="Arial"/>
                <a:ea typeface="Arial"/>
                <a:cs typeface="Arial"/>
              </a:rPr>
              <a:t>SCRIPT MOBILE - SOUTENANCE YOLO-OBB</a:t>
            </a:r>
          </a:p>
        </p:txBody>
      </p:sp>
    </p:spTree>
    <p:extLst>
      <p:ext uri="{BB962C8B-B14F-4D97-AF65-F5344CB8AC3E}">
        <p14:creationId xmlns:p14="http://schemas.microsoft.com/office/powerpoint/2010/main" val="490273638"/>
      </p:ext>
    </p:extLst>
  </p:cSld>
</p:sld>
</file>

<file path=ppt/slides/slide46.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46">
            <a:extLst xmlns:a="http://schemas.openxmlformats.org/drawingml/2006/main">
              <a:ext uri="{FF2B5EF4-FFF2-40B4-BE49-F238E27FC236}">
                <a16:creationId xmlns:a16="http://schemas.microsoft.com/office/drawing/2014/main" id="{47403274-85CF-4CF6-9E36-F686CDE4437D}"/>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NOTEBOOK - EXÉCUTION</a:t>
            </a:r>
          </a:p>
        </p:txBody>
      </p:sp>
      <p:sp>
        <p:nvSpPr>
          <p:cNvPr id="2" name="progress-46">
            <a:extLst xmlns:a="http://schemas.openxmlformats.org/drawingml/2006/main">
              <a:ext uri="{FF2B5EF4-FFF2-40B4-BE49-F238E27FC236}">
                <a16:creationId xmlns:a16="http://schemas.microsoft.com/office/drawing/2014/main" id="{27319B73-226D-4E6F-B191-1E58AD733DBD}"/>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46 / 60</a:t>
            </a:r>
          </a:p>
        </p:txBody>
      </p:sp>
      <p:sp>
        <p:nvSpPr>
          <p:cNvPr id="3" name="title-46">
            <a:extLst xmlns:a="http://schemas.openxmlformats.org/drawingml/2006/main">
              <a:ext uri="{FF2B5EF4-FFF2-40B4-BE49-F238E27FC236}">
                <a16:creationId xmlns:a16="http://schemas.microsoft.com/office/drawing/2014/main" id="{FC196D89-CE06-4513-B36D-89CACB384A74}"/>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NOTEBOOK SÉPARÉ</a:t>
            </a:r>
          </a:p>
        </p:txBody>
      </p:sp>
      <p:sp>
        <p:nvSpPr>
          <p:cNvPr id="4" name="accent-46">
            <a:extLst xmlns:a="http://schemas.openxmlformats.org/drawingml/2006/main">
              <a:ext uri="{FF2B5EF4-FFF2-40B4-BE49-F238E27FC236}">
                <a16:creationId xmlns:a16="http://schemas.microsoft.com/office/drawing/2014/main" id="{4EBD1742-F39C-40BF-BFAB-EA0F8C468699}"/>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46">
            <a:extLst xmlns:a="http://schemas.openxmlformats.org/drawingml/2006/main">
              <a:ext uri="{FF2B5EF4-FFF2-40B4-BE49-F238E27FC236}">
                <a16:creationId xmlns:a16="http://schemas.microsoft.com/office/drawing/2014/main" id="{1434ECEC-C169-4960-AC4E-58E68C281844}"/>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Alors, maintenant, je passe directement au notebook. J'ai préparé une version séparée spécialement pour la présentation. Elle reprend l'exploration des données, le prétraitement et toute la partie prédictive, mais elle s'arrête après la comparaison des deux modèles puisque c'est cette partie qui nous intéresse aujourd'hui.</a:t>
            </a:r>
          </a:p>
        </p:txBody>
      </p:sp>
      <p:sp>
        <p:nvSpPr>
          <p:cNvPr id="6" name="progress-track-46">
            <a:extLst xmlns:a="http://schemas.openxmlformats.org/drawingml/2006/main">
              <a:ext uri="{FF2B5EF4-FFF2-40B4-BE49-F238E27FC236}">
                <a16:creationId xmlns:a16="http://schemas.microsoft.com/office/drawing/2014/main" id="{07B2E4AC-C6CF-4344-AFE9-AF9550B5DB84}"/>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46">
            <a:extLst xmlns:a="http://schemas.openxmlformats.org/drawingml/2006/main">
              <a:ext uri="{FF2B5EF4-FFF2-40B4-BE49-F238E27FC236}">
                <a16:creationId xmlns:a16="http://schemas.microsoft.com/office/drawing/2014/main" id="{E11C8B32-3A78-4FB3-B037-8DADE0AE0844}"/>
              </a:ext>
            </a:extLst>
          </p:cNvPr>
          <p:cNvSpPr>
            <a:spLocks xmlns:a="http://schemas.openxmlformats.org/drawingml/2006/main" noGrp="1"/>
          </p:cNvSpPr>
          <p:nvPr/>
        </p:nvSpPr>
        <p:spPr>
          <a:xfrm xmlns:a="http://schemas.openxmlformats.org/drawingml/2006/main">
            <a:off x="952500" y="17002125"/>
            <a:ext cx="64262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46">
            <a:extLst xmlns:a="http://schemas.openxmlformats.org/drawingml/2006/main">
              <a:ext uri="{FF2B5EF4-FFF2-40B4-BE49-F238E27FC236}">
                <a16:creationId xmlns:a16="http://schemas.microsoft.com/office/drawing/2014/main" id="{1C7B89FB-D4BF-43EC-939A-C9EFEEC1722F}"/>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534933965"/>
      </p:ext>
    </p:extLst>
  </p:cSld>
</p:sld>
</file>

<file path=ppt/slides/slide47.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47">
            <a:extLst xmlns:a="http://schemas.openxmlformats.org/drawingml/2006/main">
              <a:ext uri="{FF2B5EF4-FFF2-40B4-BE49-F238E27FC236}">
                <a16:creationId xmlns:a16="http://schemas.microsoft.com/office/drawing/2014/main" id="{97A89160-23A3-43EB-B0F8-170404D46F41}"/>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NOTEBOOK - EXÉCUTION</a:t>
            </a:r>
          </a:p>
        </p:txBody>
      </p:sp>
      <p:sp>
        <p:nvSpPr>
          <p:cNvPr id="2" name="progress-47">
            <a:extLst xmlns:a="http://schemas.openxmlformats.org/drawingml/2006/main">
              <a:ext uri="{FF2B5EF4-FFF2-40B4-BE49-F238E27FC236}">
                <a16:creationId xmlns:a16="http://schemas.microsoft.com/office/drawing/2014/main" id="{492F7CE5-31E4-41B1-8D24-E8EDDE359B44}"/>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47 / 60</a:t>
            </a:r>
          </a:p>
        </p:txBody>
      </p:sp>
      <p:sp>
        <p:nvSpPr>
          <p:cNvPr id="3" name="title-47">
            <a:extLst xmlns:a="http://schemas.openxmlformats.org/drawingml/2006/main">
              <a:ext uri="{FF2B5EF4-FFF2-40B4-BE49-F238E27FC236}">
                <a16:creationId xmlns:a16="http://schemas.microsoft.com/office/drawing/2014/main" id="{CDD61F55-A938-49CC-8A0F-1634017F27F8}"/>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SORTIES DÉJÀ ENREGISTRÉES</a:t>
            </a:r>
          </a:p>
        </p:txBody>
      </p:sp>
      <p:sp>
        <p:nvSpPr>
          <p:cNvPr id="4" name="accent-47">
            <a:extLst xmlns:a="http://schemas.openxmlformats.org/drawingml/2006/main">
              <a:ext uri="{FF2B5EF4-FFF2-40B4-BE49-F238E27FC236}">
                <a16:creationId xmlns:a16="http://schemas.microsoft.com/office/drawing/2014/main" id="{48399189-BB3C-4453-8DF3-BEB97EDEC6DA}"/>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47">
            <a:extLst xmlns:a="http://schemas.openxmlformats.org/drawingml/2006/main">
              <a:ext uri="{FF2B5EF4-FFF2-40B4-BE49-F238E27FC236}">
                <a16:creationId xmlns:a16="http://schemas.microsoft.com/office/drawing/2014/main" id="{7572866F-DE13-453F-BEA7-23E6D097BCC5}"/>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Je ne vais pas relancer tout le notebook parce qu'il contient aussi les étapes de préparation et d'entraînement, qui sont beaucoup plus longues. Par contre, toutes les sorties sont déjà enregistrées, donc on peut quand même voir les résultats obtenus dans les différentes sections.</a:t>
            </a:r>
          </a:p>
        </p:txBody>
      </p:sp>
      <p:sp>
        <p:nvSpPr>
          <p:cNvPr id="6" name="progress-track-47">
            <a:extLst xmlns:a="http://schemas.openxmlformats.org/drawingml/2006/main">
              <a:ext uri="{FF2B5EF4-FFF2-40B4-BE49-F238E27FC236}">
                <a16:creationId xmlns:a16="http://schemas.microsoft.com/office/drawing/2014/main" id="{3B452129-EDD2-45F6-BB4B-627D6368C601}"/>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47">
            <a:extLst xmlns:a="http://schemas.openxmlformats.org/drawingml/2006/main">
              <a:ext uri="{FF2B5EF4-FFF2-40B4-BE49-F238E27FC236}">
                <a16:creationId xmlns:a16="http://schemas.microsoft.com/office/drawing/2014/main" id="{1E69E33F-5971-472A-947D-62D94F3BDF25}"/>
              </a:ext>
            </a:extLst>
          </p:cNvPr>
          <p:cNvSpPr>
            <a:spLocks xmlns:a="http://schemas.openxmlformats.org/drawingml/2006/main" noGrp="1"/>
          </p:cNvSpPr>
          <p:nvPr/>
        </p:nvSpPr>
        <p:spPr>
          <a:xfrm xmlns:a="http://schemas.openxmlformats.org/drawingml/2006/main">
            <a:off x="952500" y="17002125"/>
            <a:ext cx="65659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47">
            <a:extLst xmlns:a="http://schemas.openxmlformats.org/drawingml/2006/main">
              <a:ext uri="{FF2B5EF4-FFF2-40B4-BE49-F238E27FC236}">
                <a16:creationId xmlns:a16="http://schemas.microsoft.com/office/drawing/2014/main" id="{A33BE34D-FAC1-4E5A-9D96-6996AA6F686F}"/>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263290770"/>
      </p:ext>
    </p:extLst>
  </p:cSld>
</p:sld>
</file>

<file path=ppt/slides/slide48.xml><?xml version="1.0" encoding="utf-8"?>
<p:sld xmlns:p="http://schemas.openxmlformats.org/presentationml/2006/main">
  <p:cSld>
    <p:bg>
      <p:bgPr>
        <a:solidFill xmlns:a="http://schemas.openxmlformats.org/drawingml/2006/main">
          <a:srgbClr val="250B14"/>
        </a:solidFill>
      </p:bgPr>
    </p:bg>
    <p:spTree>
      <p:nvGrpSpPr>
        <p:cNvPr id="1" name=""/>
        <p:cNvGrpSpPr/>
        <p:nvPr/>
      </p:nvGrpSpPr>
      <p:grpSpPr>
        <a:xfrm xmlns:a="http://schemas.openxmlformats.org/drawingml/2006/main"/>
      </p:grpSpPr>
      <p:sp>
        <p:nvSpPr>
          <p:cNvPr id="1" name="section-48">
            <a:extLst xmlns:a="http://schemas.openxmlformats.org/drawingml/2006/main">
              <a:ext uri="{FF2B5EF4-FFF2-40B4-BE49-F238E27FC236}">
                <a16:creationId xmlns:a16="http://schemas.microsoft.com/office/drawing/2014/main" id="{91E51EE3-1019-43FE-AD0B-CA2D3B1AAC0F}"/>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FA7B3"/>
                </a:solidFill>
                <a:latin typeface="Arial"/>
                <a:ea typeface="Arial"/>
                <a:cs typeface="Arial"/>
              </a:defRPr>
            </a:pPr>
            <a:r>
              <a:rPr sz="1650" b="1">
                <a:solidFill>
                  <a:srgbClr val="DFA7B3"/>
                </a:solidFill>
                <a:latin typeface="Arial"/>
                <a:ea typeface="Arial"/>
                <a:cs typeface="Arial"/>
              </a:rPr>
              <a:t>NOTEBOOK - EXÉCUTION</a:t>
            </a:r>
          </a:p>
        </p:txBody>
      </p:sp>
      <p:sp>
        <p:nvSpPr>
          <p:cNvPr id="2" name="progress-48">
            <a:extLst xmlns:a="http://schemas.openxmlformats.org/drawingml/2006/main">
              <a:ext uri="{FF2B5EF4-FFF2-40B4-BE49-F238E27FC236}">
                <a16:creationId xmlns:a16="http://schemas.microsoft.com/office/drawing/2014/main" id="{90641301-B9BB-499F-A96D-9A43B0FF41C0}"/>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FA7B3"/>
                </a:solidFill>
                <a:latin typeface="Arial"/>
                <a:ea typeface="Arial"/>
                <a:cs typeface="Arial"/>
              </a:defRPr>
            </a:pPr>
            <a:r>
              <a:rPr sz="1800" b="1">
                <a:solidFill>
                  <a:srgbClr val="DFA7B3"/>
                </a:solidFill>
                <a:latin typeface="Arial"/>
                <a:ea typeface="Arial"/>
                <a:cs typeface="Arial"/>
              </a:rPr>
              <a:t>48 / 60</a:t>
            </a:r>
          </a:p>
        </p:txBody>
      </p:sp>
      <p:sp>
        <p:nvSpPr>
          <p:cNvPr id="3" name="title-48">
            <a:extLst xmlns:a="http://schemas.openxmlformats.org/drawingml/2006/main">
              <a:ext uri="{FF2B5EF4-FFF2-40B4-BE49-F238E27FC236}">
                <a16:creationId xmlns:a16="http://schemas.microsoft.com/office/drawing/2014/main" id="{E6B7F2EA-F567-4914-A8D3-3B21BFBB76C3}"/>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F91A8"/>
                </a:solidFill>
                <a:latin typeface="Arial"/>
                <a:ea typeface="Arial"/>
                <a:cs typeface="Arial"/>
              </a:defRPr>
            </a:pPr>
            <a:r>
              <a:rPr sz="2700" b="1">
                <a:solidFill>
                  <a:srgbClr val="FF91A8"/>
                </a:solidFill>
                <a:latin typeface="Arial"/>
                <a:ea typeface="Arial"/>
                <a:cs typeface="Arial"/>
              </a:rPr>
              <a:t>ACTION - SOURIS</a:t>
            </a:r>
          </a:p>
        </p:txBody>
      </p:sp>
      <p:sp>
        <p:nvSpPr>
          <p:cNvPr id="4" name="accent-48">
            <a:extLst xmlns:a="http://schemas.openxmlformats.org/drawingml/2006/main">
              <a:ext uri="{FF2B5EF4-FFF2-40B4-BE49-F238E27FC236}">
                <a16:creationId xmlns:a16="http://schemas.microsoft.com/office/drawing/2014/main" id="{12F11B77-9228-4089-9BCC-234ED28AD67F}"/>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5" name="body-48">
            <a:extLst xmlns:a="http://schemas.openxmlformats.org/drawingml/2006/main">
              <a:ext uri="{FF2B5EF4-FFF2-40B4-BE49-F238E27FC236}">
                <a16:creationId xmlns:a16="http://schemas.microsoft.com/office/drawing/2014/main" id="{A5125D2C-4CBB-4852-9B67-42AAD8357685}"/>
              </a:ext>
            </a:extLst>
          </p:cNvPr>
          <p:cNvSpPr>
            <a:spLocks xmlns:a="http://schemas.openxmlformats.org/drawingml/2006/main" noGrp="1"/>
          </p:cNvSpPr>
          <p:nvPr/>
        </p:nvSpPr>
        <p:spPr>
          <a:xfrm xmlns:a="http://schemas.openxmlformats.org/drawingml/2006/main">
            <a:off x="952500" y="4476750"/>
            <a:ext cx="8382000" cy="838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4800" b="1">
                <a:solidFill>
                  <a:srgbClr val="FFF4F6"/>
                </a:solidFill>
                <a:latin typeface="Arial"/>
                <a:ea typeface="Arial"/>
                <a:cs typeface="Arial"/>
              </a:defRPr>
            </a:pPr>
            <a:r>
              <a:rPr sz="4800" b="1">
                <a:solidFill>
                  <a:srgbClr val="FFF4F6"/>
                </a:solidFill>
                <a:latin typeface="Arial"/>
                <a:ea typeface="Arial"/>
                <a:cs typeface="Arial"/>
              </a:rPr>
              <a:t>[Descendre jusqu'à la section « Démonstration finale pour la soutenance ».]</a:t>
            </a:r>
          </a:p>
        </p:txBody>
      </p:sp>
      <p:sp>
        <p:nvSpPr>
          <p:cNvPr id="6" name="progress-track-48">
            <a:extLst xmlns:a="http://schemas.openxmlformats.org/drawingml/2006/main">
              <a:ext uri="{FF2B5EF4-FFF2-40B4-BE49-F238E27FC236}">
                <a16:creationId xmlns:a16="http://schemas.microsoft.com/office/drawing/2014/main" id="{D51717D5-A819-4FBD-B30D-F59AAB018E59}"/>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48">
            <a:extLst xmlns:a="http://schemas.openxmlformats.org/drawingml/2006/main">
              <a:ext uri="{FF2B5EF4-FFF2-40B4-BE49-F238E27FC236}">
                <a16:creationId xmlns:a16="http://schemas.microsoft.com/office/drawing/2014/main" id="{AB2FFAA0-0834-4277-9CEF-A3C281F4CCE0}"/>
              </a:ext>
            </a:extLst>
          </p:cNvPr>
          <p:cNvSpPr>
            <a:spLocks xmlns:a="http://schemas.openxmlformats.org/drawingml/2006/main" noGrp="1"/>
          </p:cNvSpPr>
          <p:nvPr/>
        </p:nvSpPr>
        <p:spPr>
          <a:xfrm xmlns:a="http://schemas.openxmlformats.org/drawingml/2006/main">
            <a:off x="952500" y="17002125"/>
            <a:ext cx="6705600" cy="5715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8" name="footer-48">
            <a:extLst xmlns:a="http://schemas.openxmlformats.org/drawingml/2006/main">
              <a:ext uri="{FF2B5EF4-FFF2-40B4-BE49-F238E27FC236}">
                <a16:creationId xmlns:a16="http://schemas.microsoft.com/office/drawing/2014/main" id="{DFD9C09A-29C9-4494-98F8-4C42999D8967}"/>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FA7B3"/>
                </a:solidFill>
                <a:latin typeface="Arial"/>
                <a:ea typeface="Arial"/>
                <a:cs typeface="Arial"/>
              </a:defRPr>
            </a:pPr>
            <a:r>
              <a:rPr sz="1350" b="1">
                <a:solidFill>
                  <a:srgbClr val="DFA7B3"/>
                </a:solidFill>
                <a:latin typeface="Arial"/>
                <a:ea typeface="Arial"/>
                <a:cs typeface="Arial"/>
              </a:rPr>
              <a:t>SCRIPT MOBILE - SOUTENANCE YOLO-OBB</a:t>
            </a:r>
          </a:p>
        </p:txBody>
      </p:sp>
    </p:spTree>
    <p:extLst>
      <p:ext uri="{BB962C8B-B14F-4D97-AF65-F5344CB8AC3E}">
        <p14:creationId xmlns:p14="http://schemas.microsoft.com/office/powerpoint/2010/main" val="419601563"/>
      </p:ext>
    </p:extLst>
  </p:cSld>
</p:sld>
</file>

<file path=ppt/slides/slide49.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49">
            <a:extLst xmlns:a="http://schemas.openxmlformats.org/drawingml/2006/main">
              <a:ext uri="{FF2B5EF4-FFF2-40B4-BE49-F238E27FC236}">
                <a16:creationId xmlns:a16="http://schemas.microsoft.com/office/drawing/2014/main" id="{853F3F44-761F-4603-981F-684879DD5F44}"/>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NOTEBOOK - EXÉCUTION</a:t>
            </a:r>
          </a:p>
        </p:txBody>
      </p:sp>
      <p:sp>
        <p:nvSpPr>
          <p:cNvPr id="2" name="progress-49">
            <a:extLst xmlns:a="http://schemas.openxmlformats.org/drawingml/2006/main">
              <a:ext uri="{FF2B5EF4-FFF2-40B4-BE49-F238E27FC236}">
                <a16:creationId xmlns:a16="http://schemas.microsoft.com/office/drawing/2014/main" id="{BA6EF1DD-192B-4567-A56C-886F548E38B0}"/>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49 / 60</a:t>
            </a:r>
          </a:p>
        </p:txBody>
      </p:sp>
      <p:sp>
        <p:nvSpPr>
          <p:cNvPr id="3" name="title-49">
            <a:extLst xmlns:a="http://schemas.openxmlformats.org/drawingml/2006/main">
              <a:ext uri="{FF2B5EF4-FFF2-40B4-BE49-F238E27FC236}">
                <a16:creationId xmlns:a16="http://schemas.microsoft.com/office/drawing/2014/main" id="{6C0F184A-3E10-443F-BB06-6C44CA7964CE}"/>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DÉMONSTRATION AUTONOME</a:t>
            </a:r>
          </a:p>
        </p:txBody>
      </p:sp>
      <p:sp>
        <p:nvSpPr>
          <p:cNvPr id="4" name="accent-49">
            <a:extLst xmlns:a="http://schemas.openxmlformats.org/drawingml/2006/main">
              <a:ext uri="{FF2B5EF4-FFF2-40B4-BE49-F238E27FC236}">
                <a16:creationId xmlns:a16="http://schemas.microsoft.com/office/drawing/2014/main" id="{7E0548D3-C426-48CF-AD73-3CED542AA2F7}"/>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49">
            <a:extLst xmlns:a="http://schemas.openxmlformats.org/drawingml/2006/main">
              <a:ext uri="{FF2B5EF4-FFF2-40B4-BE49-F238E27FC236}">
                <a16:creationId xmlns:a16="http://schemas.microsoft.com/office/drawing/2014/main" id="{FB5594A5-1684-4F46-A241-9AF63C210FE7}"/>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050" b="0">
                <a:solidFill>
                  <a:srgbClr val="F6FAFC"/>
                </a:solidFill>
                <a:latin typeface="Arial"/>
                <a:ea typeface="Arial"/>
                <a:cs typeface="Arial"/>
              </a:defRPr>
            </a:pPr>
            <a:r>
              <a:rPr sz="4050" b="0">
                <a:solidFill>
                  <a:srgbClr val="F6FAFC"/>
                </a:solidFill>
                <a:latin typeface="Arial"/>
                <a:ea typeface="Arial"/>
                <a:cs typeface="Arial"/>
              </a:rPr>
              <a:t>Pour l'exécution en direct, j'ai ajouté une dernière section qui est complètement autonome. Juste au-dessus du code, j'ai résumé ce qu'il fait en quatre étapes.</a:t>
            </a:r>
          </a:p>
        </p:txBody>
      </p:sp>
      <p:sp>
        <p:nvSpPr>
          <p:cNvPr id="6" name="progress-track-49">
            <a:extLst xmlns:a="http://schemas.openxmlformats.org/drawingml/2006/main">
              <a:ext uri="{FF2B5EF4-FFF2-40B4-BE49-F238E27FC236}">
                <a16:creationId xmlns:a16="http://schemas.microsoft.com/office/drawing/2014/main" id="{14FBA5A1-0BBC-4352-B382-76AAD7C67E5D}"/>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49">
            <a:extLst xmlns:a="http://schemas.openxmlformats.org/drawingml/2006/main">
              <a:ext uri="{FF2B5EF4-FFF2-40B4-BE49-F238E27FC236}">
                <a16:creationId xmlns:a16="http://schemas.microsoft.com/office/drawing/2014/main" id="{688D2179-908A-454B-9C46-87874327055B}"/>
              </a:ext>
            </a:extLst>
          </p:cNvPr>
          <p:cNvSpPr>
            <a:spLocks xmlns:a="http://schemas.openxmlformats.org/drawingml/2006/main" noGrp="1"/>
          </p:cNvSpPr>
          <p:nvPr/>
        </p:nvSpPr>
        <p:spPr>
          <a:xfrm xmlns:a="http://schemas.openxmlformats.org/drawingml/2006/main">
            <a:off x="952500" y="17002125"/>
            <a:ext cx="68453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49">
            <a:extLst xmlns:a="http://schemas.openxmlformats.org/drawingml/2006/main">
              <a:ext uri="{FF2B5EF4-FFF2-40B4-BE49-F238E27FC236}">
                <a16:creationId xmlns:a16="http://schemas.microsoft.com/office/drawing/2014/main" id="{B1EA04E2-3815-4286-BA31-2219FD8B2B4F}"/>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329400122"/>
      </p:ext>
    </p:extLst>
  </p:cSld>
</p:sld>
</file>

<file path=ppt/slides/slide5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50">
            <a:extLst xmlns:a="http://schemas.openxmlformats.org/drawingml/2006/main">
              <a:ext uri="{FF2B5EF4-FFF2-40B4-BE49-F238E27FC236}">
                <a16:creationId xmlns:a16="http://schemas.microsoft.com/office/drawing/2014/main" id="{E4331AB0-32E1-47E5-B7D1-B8FBFD01B266}"/>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NOTEBOOK - EXÉCUTION</a:t>
            </a:r>
          </a:p>
        </p:txBody>
      </p:sp>
      <p:sp>
        <p:nvSpPr>
          <p:cNvPr id="2" name="progress-50">
            <a:extLst xmlns:a="http://schemas.openxmlformats.org/drawingml/2006/main">
              <a:ext uri="{FF2B5EF4-FFF2-40B4-BE49-F238E27FC236}">
                <a16:creationId xmlns:a16="http://schemas.microsoft.com/office/drawing/2014/main" id="{62329D2A-77D3-48CA-807A-B4532C81D915}"/>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50 / 60</a:t>
            </a:r>
          </a:p>
        </p:txBody>
      </p:sp>
      <p:sp>
        <p:nvSpPr>
          <p:cNvPr id="3" name="title-50">
            <a:extLst xmlns:a="http://schemas.openxmlformats.org/drawingml/2006/main">
              <a:ext uri="{FF2B5EF4-FFF2-40B4-BE49-F238E27FC236}">
                <a16:creationId xmlns:a16="http://schemas.microsoft.com/office/drawing/2014/main" id="{4EEF9F5E-1295-46CF-999C-4BA4FDF990A7}"/>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LES QUATRE ÉTAPES</a:t>
            </a:r>
          </a:p>
        </p:txBody>
      </p:sp>
      <p:sp>
        <p:nvSpPr>
          <p:cNvPr id="4" name="accent-50">
            <a:extLst xmlns:a="http://schemas.openxmlformats.org/drawingml/2006/main">
              <a:ext uri="{FF2B5EF4-FFF2-40B4-BE49-F238E27FC236}">
                <a16:creationId xmlns:a16="http://schemas.microsoft.com/office/drawing/2014/main" id="{05C1C5E3-26F3-4680-B4CA-4060926D1749}"/>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50">
            <a:extLst xmlns:a="http://schemas.openxmlformats.org/drawingml/2006/main">
              <a:ext uri="{FF2B5EF4-FFF2-40B4-BE49-F238E27FC236}">
                <a16:creationId xmlns:a16="http://schemas.microsoft.com/office/drawing/2014/main" id="{6F2C761B-E18D-4625-8735-5843962407FA}"/>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Donc, premièrement, il retrouve les fichiers nécessaires dans le projet. Ensuite, il vérifie si le GPU est disponible. Après ça, il charge le meilleur poids de YOLO que j'ai sauvegardé à la fin de l'entraînement. Et finalement, il envoie une tuile de validation au modèle, compte les détections et affiche l'image avec les boîtes orientées.</a:t>
            </a:r>
          </a:p>
        </p:txBody>
      </p:sp>
      <p:sp>
        <p:nvSpPr>
          <p:cNvPr id="6" name="progress-track-50">
            <a:extLst xmlns:a="http://schemas.openxmlformats.org/drawingml/2006/main">
              <a:ext uri="{FF2B5EF4-FFF2-40B4-BE49-F238E27FC236}">
                <a16:creationId xmlns:a16="http://schemas.microsoft.com/office/drawing/2014/main" id="{2FE5576F-14E0-495C-BF7F-1A7764490522}"/>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50">
            <a:extLst xmlns:a="http://schemas.openxmlformats.org/drawingml/2006/main">
              <a:ext uri="{FF2B5EF4-FFF2-40B4-BE49-F238E27FC236}">
                <a16:creationId xmlns:a16="http://schemas.microsoft.com/office/drawing/2014/main" id="{8ABDDCC2-3389-4CBA-9E66-49F59AEDA5BD}"/>
              </a:ext>
            </a:extLst>
          </p:cNvPr>
          <p:cNvSpPr>
            <a:spLocks xmlns:a="http://schemas.openxmlformats.org/drawingml/2006/main" noGrp="1"/>
          </p:cNvSpPr>
          <p:nvPr/>
        </p:nvSpPr>
        <p:spPr>
          <a:xfrm xmlns:a="http://schemas.openxmlformats.org/drawingml/2006/main">
            <a:off x="952500" y="17002125"/>
            <a:ext cx="69850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50">
            <a:extLst xmlns:a="http://schemas.openxmlformats.org/drawingml/2006/main">
              <a:ext uri="{FF2B5EF4-FFF2-40B4-BE49-F238E27FC236}">
                <a16:creationId xmlns:a16="http://schemas.microsoft.com/office/drawing/2014/main" id="{143433BC-4E0D-4A57-B88B-E330A86C7C3C}"/>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855311728"/>
      </p:ext>
    </p:extLst>
  </p:cSld>
</p:sld>
</file>

<file path=ppt/slides/slide51.xml><?xml version="1.0" encoding="utf-8"?>
<p:sld xmlns:p="http://schemas.openxmlformats.org/presentationml/2006/main">
  <p:cSld>
    <p:bg>
      <p:bgPr>
        <a:solidFill xmlns:a="http://schemas.openxmlformats.org/drawingml/2006/main">
          <a:srgbClr val="250B14"/>
        </a:solidFill>
      </p:bgPr>
    </p:bg>
    <p:spTree>
      <p:nvGrpSpPr>
        <p:cNvPr id="1" name=""/>
        <p:cNvGrpSpPr/>
        <p:nvPr/>
      </p:nvGrpSpPr>
      <p:grpSpPr>
        <a:xfrm xmlns:a="http://schemas.openxmlformats.org/drawingml/2006/main"/>
      </p:grpSpPr>
      <p:sp>
        <p:nvSpPr>
          <p:cNvPr id="1" name="section-51">
            <a:extLst xmlns:a="http://schemas.openxmlformats.org/drawingml/2006/main">
              <a:ext uri="{FF2B5EF4-FFF2-40B4-BE49-F238E27FC236}">
                <a16:creationId xmlns:a16="http://schemas.microsoft.com/office/drawing/2014/main" id="{800DCE95-4DCC-4DF9-A0D8-22449CE8E507}"/>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FA7B3"/>
                </a:solidFill>
                <a:latin typeface="Arial"/>
                <a:ea typeface="Arial"/>
                <a:cs typeface="Arial"/>
              </a:defRPr>
            </a:pPr>
            <a:r>
              <a:rPr sz="1650" b="1">
                <a:solidFill>
                  <a:srgbClr val="DFA7B3"/>
                </a:solidFill>
                <a:latin typeface="Arial"/>
                <a:ea typeface="Arial"/>
                <a:cs typeface="Arial"/>
              </a:rPr>
              <a:t>NOTEBOOK - EXÉCUTION</a:t>
            </a:r>
          </a:p>
        </p:txBody>
      </p:sp>
      <p:sp>
        <p:nvSpPr>
          <p:cNvPr id="2" name="progress-51">
            <a:extLst xmlns:a="http://schemas.openxmlformats.org/drawingml/2006/main">
              <a:ext uri="{FF2B5EF4-FFF2-40B4-BE49-F238E27FC236}">
                <a16:creationId xmlns:a16="http://schemas.microsoft.com/office/drawing/2014/main" id="{C28EEF61-8799-4408-8E1C-98E908EEEE00}"/>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FA7B3"/>
                </a:solidFill>
                <a:latin typeface="Arial"/>
                <a:ea typeface="Arial"/>
                <a:cs typeface="Arial"/>
              </a:defRPr>
            </a:pPr>
            <a:r>
              <a:rPr sz="1800" b="1">
                <a:solidFill>
                  <a:srgbClr val="DFA7B3"/>
                </a:solidFill>
                <a:latin typeface="Arial"/>
                <a:ea typeface="Arial"/>
                <a:cs typeface="Arial"/>
              </a:rPr>
              <a:t>51 / 60</a:t>
            </a:r>
          </a:p>
        </p:txBody>
      </p:sp>
      <p:sp>
        <p:nvSpPr>
          <p:cNvPr id="3" name="title-51">
            <a:extLst xmlns:a="http://schemas.openxmlformats.org/drawingml/2006/main">
              <a:ext uri="{FF2B5EF4-FFF2-40B4-BE49-F238E27FC236}">
                <a16:creationId xmlns:a16="http://schemas.microsoft.com/office/drawing/2014/main" id="{06E12964-4F9F-493E-8FBA-D59F7118D9C9}"/>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F91A8"/>
                </a:solidFill>
                <a:latin typeface="Arial"/>
                <a:ea typeface="Arial"/>
                <a:cs typeface="Arial"/>
              </a:defRPr>
            </a:pPr>
            <a:r>
              <a:rPr sz="2700" b="1">
                <a:solidFill>
                  <a:srgbClr val="FF91A8"/>
                </a:solidFill>
                <a:latin typeface="Arial"/>
                <a:ea typeface="Arial"/>
                <a:cs typeface="Arial"/>
              </a:rPr>
              <a:t>ACTION - SOURIS</a:t>
            </a:r>
          </a:p>
        </p:txBody>
      </p:sp>
      <p:sp>
        <p:nvSpPr>
          <p:cNvPr id="4" name="accent-51">
            <a:extLst xmlns:a="http://schemas.openxmlformats.org/drawingml/2006/main">
              <a:ext uri="{FF2B5EF4-FFF2-40B4-BE49-F238E27FC236}">
                <a16:creationId xmlns:a16="http://schemas.microsoft.com/office/drawing/2014/main" id="{11F8F7F0-04B3-4F10-AF08-DB7384468518}"/>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5" name="body-51">
            <a:extLst xmlns:a="http://schemas.openxmlformats.org/drawingml/2006/main">
              <a:ext uri="{FF2B5EF4-FFF2-40B4-BE49-F238E27FC236}">
                <a16:creationId xmlns:a16="http://schemas.microsoft.com/office/drawing/2014/main" id="{412C5A01-A95E-4314-836F-639C3F71B029}"/>
              </a:ext>
            </a:extLst>
          </p:cNvPr>
          <p:cNvSpPr>
            <a:spLocks xmlns:a="http://schemas.openxmlformats.org/drawingml/2006/main" noGrp="1"/>
          </p:cNvSpPr>
          <p:nvPr/>
        </p:nvSpPr>
        <p:spPr>
          <a:xfrm xmlns:a="http://schemas.openxmlformats.org/drawingml/2006/main">
            <a:off x="952500" y="4476750"/>
            <a:ext cx="8382000" cy="838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4050" b="1">
                <a:solidFill>
                  <a:srgbClr val="FFF4F6"/>
                </a:solidFill>
                <a:latin typeface="Arial"/>
                <a:ea typeface="Arial"/>
                <a:cs typeface="Arial"/>
              </a:defRPr>
            </a:pPr>
            <a:r>
              <a:rPr sz="4050" b="1">
                <a:solidFill>
                  <a:srgbClr val="FFF4F6"/>
                </a:solidFill>
                <a:latin typeface="Arial"/>
                <a:ea typeface="Arial"/>
                <a:cs typeface="Arial"/>
              </a:rPr>
              <a:t>[Lancer la grande cellule de code placée juste sous les quatre étapes.]</a:t>
            </a:r>
          </a:p>
        </p:txBody>
      </p:sp>
      <p:sp>
        <p:nvSpPr>
          <p:cNvPr id="6" name="progress-track-51">
            <a:extLst xmlns:a="http://schemas.openxmlformats.org/drawingml/2006/main">
              <a:ext uri="{FF2B5EF4-FFF2-40B4-BE49-F238E27FC236}">
                <a16:creationId xmlns:a16="http://schemas.microsoft.com/office/drawing/2014/main" id="{00EF07E6-DB9F-4894-8765-076A163C8FA9}"/>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51">
            <a:extLst xmlns:a="http://schemas.openxmlformats.org/drawingml/2006/main">
              <a:ext uri="{FF2B5EF4-FFF2-40B4-BE49-F238E27FC236}">
                <a16:creationId xmlns:a16="http://schemas.microsoft.com/office/drawing/2014/main" id="{71F95B8C-B18E-49B5-9735-239BA9902A09}"/>
              </a:ext>
            </a:extLst>
          </p:cNvPr>
          <p:cNvSpPr>
            <a:spLocks xmlns:a="http://schemas.openxmlformats.org/drawingml/2006/main" noGrp="1"/>
          </p:cNvSpPr>
          <p:nvPr/>
        </p:nvSpPr>
        <p:spPr>
          <a:xfrm xmlns:a="http://schemas.openxmlformats.org/drawingml/2006/main">
            <a:off x="952500" y="17002125"/>
            <a:ext cx="7124700" cy="5715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8" name="footer-51">
            <a:extLst xmlns:a="http://schemas.openxmlformats.org/drawingml/2006/main">
              <a:ext uri="{FF2B5EF4-FFF2-40B4-BE49-F238E27FC236}">
                <a16:creationId xmlns:a16="http://schemas.microsoft.com/office/drawing/2014/main" id="{F4ED065E-7B0D-48B2-AE50-94739754851D}"/>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FA7B3"/>
                </a:solidFill>
                <a:latin typeface="Arial"/>
                <a:ea typeface="Arial"/>
                <a:cs typeface="Arial"/>
              </a:defRPr>
            </a:pPr>
            <a:r>
              <a:rPr sz="1350" b="1">
                <a:solidFill>
                  <a:srgbClr val="DFA7B3"/>
                </a:solidFill>
                <a:latin typeface="Arial"/>
                <a:ea typeface="Arial"/>
                <a:cs typeface="Arial"/>
              </a:rPr>
              <a:t>SCRIPT MOBILE - SOUTENANCE YOLO-OBB</a:t>
            </a:r>
          </a:p>
        </p:txBody>
      </p:sp>
    </p:spTree>
    <p:extLst>
      <p:ext uri="{BB962C8B-B14F-4D97-AF65-F5344CB8AC3E}">
        <p14:creationId xmlns:p14="http://schemas.microsoft.com/office/powerpoint/2010/main" val="2089806521"/>
      </p:ext>
    </p:extLst>
  </p:cSld>
</p:sld>
</file>

<file path=ppt/slides/slide52.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52">
            <a:extLst xmlns:a="http://schemas.openxmlformats.org/drawingml/2006/main">
              <a:ext uri="{FF2B5EF4-FFF2-40B4-BE49-F238E27FC236}">
                <a16:creationId xmlns:a16="http://schemas.microsoft.com/office/drawing/2014/main" id="{257C4CB4-93BA-4CD6-B476-C65ECE5116A7}"/>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NOTEBOOK - EXÉCUTION</a:t>
            </a:r>
          </a:p>
        </p:txBody>
      </p:sp>
      <p:sp>
        <p:nvSpPr>
          <p:cNvPr id="2" name="progress-52">
            <a:extLst xmlns:a="http://schemas.openxmlformats.org/drawingml/2006/main">
              <a:ext uri="{FF2B5EF4-FFF2-40B4-BE49-F238E27FC236}">
                <a16:creationId xmlns:a16="http://schemas.microsoft.com/office/drawing/2014/main" id="{D48F11E7-9D1B-4348-8A23-1E98F2993BD7}"/>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52 / 60</a:t>
            </a:r>
          </a:p>
        </p:txBody>
      </p:sp>
      <p:sp>
        <p:nvSpPr>
          <p:cNvPr id="3" name="title-52">
            <a:extLst xmlns:a="http://schemas.openxmlformats.org/drawingml/2006/main">
              <a:ext uri="{FF2B5EF4-FFF2-40B4-BE49-F238E27FC236}">
                <a16:creationId xmlns:a16="http://schemas.microsoft.com/office/drawing/2014/main" id="{652BABB3-B513-4201-991C-1512373099C0}"/>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AUCUN NOUVEL ENTRAÎNEMENT</a:t>
            </a:r>
          </a:p>
        </p:txBody>
      </p:sp>
      <p:sp>
        <p:nvSpPr>
          <p:cNvPr id="4" name="accent-52">
            <a:extLst xmlns:a="http://schemas.openxmlformats.org/drawingml/2006/main">
              <a:ext uri="{FF2B5EF4-FFF2-40B4-BE49-F238E27FC236}">
                <a16:creationId xmlns:a16="http://schemas.microsoft.com/office/drawing/2014/main" id="{9EE2A624-4583-45C0-B1F8-2476CF1DE12C}"/>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52">
            <a:extLst xmlns:a="http://schemas.openxmlformats.org/drawingml/2006/main">
              <a:ext uri="{FF2B5EF4-FFF2-40B4-BE49-F238E27FC236}">
                <a16:creationId xmlns:a16="http://schemas.microsoft.com/office/drawing/2014/main" id="{BC72E82E-E5E6-4B88-9A65-55CFE55C3816}"/>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Donc ici, je ne relance aucun entraînement. Le modèle a déjà appris ses poids auparavant. Je lui donne simplement une tuile de validation de 1024 par 1024 pixels, donc une image qui n'a pas été utilisée pour entraîner directement le modèle.</a:t>
            </a:r>
          </a:p>
        </p:txBody>
      </p:sp>
      <p:sp>
        <p:nvSpPr>
          <p:cNvPr id="6" name="progress-track-52">
            <a:extLst xmlns:a="http://schemas.openxmlformats.org/drawingml/2006/main">
              <a:ext uri="{FF2B5EF4-FFF2-40B4-BE49-F238E27FC236}">
                <a16:creationId xmlns:a16="http://schemas.microsoft.com/office/drawing/2014/main" id="{C05A4CF3-0F65-401B-A4F6-7A04FBC7840A}"/>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52">
            <a:extLst xmlns:a="http://schemas.openxmlformats.org/drawingml/2006/main">
              <a:ext uri="{FF2B5EF4-FFF2-40B4-BE49-F238E27FC236}">
                <a16:creationId xmlns:a16="http://schemas.microsoft.com/office/drawing/2014/main" id="{88A5AF86-4469-4D21-AFA2-3DCF57EBCA48}"/>
              </a:ext>
            </a:extLst>
          </p:cNvPr>
          <p:cNvSpPr>
            <a:spLocks xmlns:a="http://schemas.openxmlformats.org/drawingml/2006/main" noGrp="1"/>
          </p:cNvSpPr>
          <p:nvPr/>
        </p:nvSpPr>
        <p:spPr>
          <a:xfrm xmlns:a="http://schemas.openxmlformats.org/drawingml/2006/main">
            <a:off x="952500" y="17002125"/>
            <a:ext cx="72644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52">
            <a:extLst xmlns:a="http://schemas.openxmlformats.org/drawingml/2006/main">
              <a:ext uri="{FF2B5EF4-FFF2-40B4-BE49-F238E27FC236}">
                <a16:creationId xmlns:a16="http://schemas.microsoft.com/office/drawing/2014/main" id="{31FCC9E4-29FF-4A2E-8CC5-C84F4AAED554}"/>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28068391"/>
      </p:ext>
    </p:extLst>
  </p:cSld>
</p:sld>
</file>

<file path=ppt/slides/slide53.xml><?xml version="1.0" encoding="utf-8"?>
<p:sld xmlns:p="http://schemas.openxmlformats.org/presentationml/2006/main">
  <p:cSld>
    <p:bg>
      <p:bgPr>
        <a:solidFill xmlns:a="http://schemas.openxmlformats.org/drawingml/2006/main">
          <a:srgbClr val="250B14"/>
        </a:solidFill>
      </p:bgPr>
    </p:bg>
    <p:spTree>
      <p:nvGrpSpPr>
        <p:cNvPr id="1" name=""/>
        <p:cNvGrpSpPr/>
        <p:nvPr/>
      </p:nvGrpSpPr>
      <p:grpSpPr>
        <a:xfrm xmlns:a="http://schemas.openxmlformats.org/drawingml/2006/main"/>
      </p:grpSpPr>
      <p:sp>
        <p:nvSpPr>
          <p:cNvPr id="1" name="section-53">
            <a:extLst xmlns:a="http://schemas.openxmlformats.org/drawingml/2006/main">
              <a:ext uri="{FF2B5EF4-FFF2-40B4-BE49-F238E27FC236}">
                <a16:creationId xmlns:a16="http://schemas.microsoft.com/office/drawing/2014/main" id="{A8E089E6-FA85-42C7-AEE5-927B1CAB2F83}"/>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FA7B3"/>
                </a:solidFill>
                <a:latin typeface="Arial"/>
                <a:ea typeface="Arial"/>
                <a:cs typeface="Arial"/>
              </a:defRPr>
            </a:pPr>
            <a:r>
              <a:rPr sz="1650" b="1">
                <a:solidFill>
                  <a:srgbClr val="DFA7B3"/>
                </a:solidFill>
                <a:latin typeface="Arial"/>
                <a:ea typeface="Arial"/>
                <a:cs typeface="Arial"/>
              </a:rPr>
              <a:t>NOTEBOOK - EXÉCUTION</a:t>
            </a:r>
          </a:p>
        </p:txBody>
      </p:sp>
      <p:sp>
        <p:nvSpPr>
          <p:cNvPr id="2" name="progress-53">
            <a:extLst xmlns:a="http://schemas.openxmlformats.org/drawingml/2006/main">
              <a:ext uri="{FF2B5EF4-FFF2-40B4-BE49-F238E27FC236}">
                <a16:creationId xmlns:a16="http://schemas.microsoft.com/office/drawing/2014/main" id="{9C6ABF50-AB9B-4BD8-B3CC-DBBE0518BBC4}"/>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FA7B3"/>
                </a:solidFill>
                <a:latin typeface="Arial"/>
                <a:ea typeface="Arial"/>
                <a:cs typeface="Arial"/>
              </a:defRPr>
            </a:pPr>
            <a:r>
              <a:rPr sz="1800" b="1">
                <a:solidFill>
                  <a:srgbClr val="DFA7B3"/>
                </a:solidFill>
                <a:latin typeface="Arial"/>
                <a:ea typeface="Arial"/>
                <a:cs typeface="Arial"/>
              </a:rPr>
              <a:t>53 / 60</a:t>
            </a:r>
          </a:p>
        </p:txBody>
      </p:sp>
      <p:sp>
        <p:nvSpPr>
          <p:cNvPr id="3" name="title-53">
            <a:extLst xmlns:a="http://schemas.openxmlformats.org/drawingml/2006/main">
              <a:ext uri="{FF2B5EF4-FFF2-40B4-BE49-F238E27FC236}">
                <a16:creationId xmlns:a16="http://schemas.microsoft.com/office/drawing/2014/main" id="{0B364A21-1959-4EF3-B571-0FECEBCDCE92}"/>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F91A8"/>
                </a:solidFill>
                <a:latin typeface="Arial"/>
                <a:ea typeface="Arial"/>
                <a:cs typeface="Arial"/>
              </a:defRPr>
            </a:pPr>
            <a:r>
              <a:rPr sz="2700" b="1">
                <a:solidFill>
                  <a:srgbClr val="FF91A8"/>
                </a:solidFill>
                <a:latin typeface="Arial"/>
                <a:ea typeface="Arial"/>
                <a:cs typeface="Arial"/>
              </a:rPr>
              <a:t>ACTION - SOURIS</a:t>
            </a:r>
          </a:p>
        </p:txBody>
      </p:sp>
      <p:sp>
        <p:nvSpPr>
          <p:cNvPr id="4" name="accent-53">
            <a:extLst xmlns:a="http://schemas.openxmlformats.org/drawingml/2006/main">
              <a:ext uri="{FF2B5EF4-FFF2-40B4-BE49-F238E27FC236}">
                <a16:creationId xmlns:a16="http://schemas.microsoft.com/office/drawing/2014/main" id="{834C506D-DCC2-43AB-97FC-7CE45C4034C5}"/>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5" name="body-53">
            <a:extLst xmlns:a="http://schemas.openxmlformats.org/drawingml/2006/main">
              <a:ext uri="{FF2B5EF4-FFF2-40B4-BE49-F238E27FC236}">
                <a16:creationId xmlns:a16="http://schemas.microsoft.com/office/drawing/2014/main" id="{E73FBB8A-EE09-42CD-96BA-645CBED2E545}"/>
              </a:ext>
            </a:extLst>
          </p:cNvPr>
          <p:cNvSpPr>
            <a:spLocks xmlns:a="http://schemas.openxmlformats.org/drawingml/2006/main" noGrp="1"/>
          </p:cNvSpPr>
          <p:nvPr/>
        </p:nvSpPr>
        <p:spPr>
          <a:xfrm xmlns:a="http://schemas.openxmlformats.org/drawingml/2006/main">
            <a:off x="952500" y="4476750"/>
            <a:ext cx="8382000" cy="838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4800" b="1">
                <a:solidFill>
                  <a:srgbClr val="FFF4F6"/>
                </a:solidFill>
                <a:latin typeface="Arial"/>
                <a:ea typeface="Arial"/>
                <a:cs typeface="Arial"/>
              </a:defRPr>
            </a:pPr>
            <a:r>
              <a:rPr sz="4800" b="1">
                <a:solidFill>
                  <a:srgbClr val="FFF4F6"/>
                </a:solidFill>
                <a:latin typeface="Arial"/>
                <a:ea typeface="Arial"/>
                <a:cs typeface="Arial"/>
              </a:rPr>
              <a:t>[Montrer les lignes affichées sous la cellule.]</a:t>
            </a:r>
          </a:p>
        </p:txBody>
      </p:sp>
      <p:sp>
        <p:nvSpPr>
          <p:cNvPr id="6" name="progress-track-53">
            <a:extLst xmlns:a="http://schemas.openxmlformats.org/drawingml/2006/main">
              <a:ext uri="{FF2B5EF4-FFF2-40B4-BE49-F238E27FC236}">
                <a16:creationId xmlns:a16="http://schemas.microsoft.com/office/drawing/2014/main" id="{429182F0-C4EB-408B-A444-35F993E72A31}"/>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53">
            <a:extLst xmlns:a="http://schemas.openxmlformats.org/drawingml/2006/main">
              <a:ext uri="{FF2B5EF4-FFF2-40B4-BE49-F238E27FC236}">
                <a16:creationId xmlns:a16="http://schemas.microsoft.com/office/drawing/2014/main" id="{95DB1B36-EE2B-4E98-A10B-9B078D082023}"/>
              </a:ext>
            </a:extLst>
          </p:cNvPr>
          <p:cNvSpPr>
            <a:spLocks xmlns:a="http://schemas.openxmlformats.org/drawingml/2006/main" noGrp="1"/>
          </p:cNvSpPr>
          <p:nvPr/>
        </p:nvSpPr>
        <p:spPr>
          <a:xfrm xmlns:a="http://schemas.openxmlformats.org/drawingml/2006/main">
            <a:off x="952500" y="17002125"/>
            <a:ext cx="7404100" cy="5715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8" name="footer-53">
            <a:extLst xmlns:a="http://schemas.openxmlformats.org/drawingml/2006/main">
              <a:ext uri="{FF2B5EF4-FFF2-40B4-BE49-F238E27FC236}">
                <a16:creationId xmlns:a16="http://schemas.microsoft.com/office/drawing/2014/main" id="{E2ABA165-75E0-4B3E-9801-CBCF1667356F}"/>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FA7B3"/>
                </a:solidFill>
                <a:latin typeface="Arial"/>
                <a:ea typeface="Arial"/>
                <a:cs typeface="Arial"/>
              </a:defRPr>
            </a:pPr>
            <a:r>
              <a:rPr sz="1350" b="1">
                <a:solidFill>
                  <a:srgbClr val="DFA7B3"/>
                </a:solidFill>
                <a:latin typeface="Arial"/>
                <a:ea typeface="Arial"/>
                <a:cs typeface="Arial"/>
              </a:rPr>
              <a:t>SCRIPT MOBILE - SOUTENANCE YOLO-OBB</a:t>
            </a:r>
          </a:p>
        </p:txBody>
      </p:sp>
    </p:spTree>
    <p:extLst>
      <p:ext uri="{BB962C8B-B14F-4D97-AF65-F5344CB8AC3E}">
        <p14:creationId xmlns:p14="http://schemas.microsoft.com/office/powerpoint/2010/main" val="704278185"/>
      </p:ext>
    </p:extLst>
  </p:cSld>
</p:sld>
</file>

<file path=ppt/slides/slide54.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54">
            <a:extLst xmlns:a="http://schemas.openxmlformats.org/drawingml/2006/main">
              <a:ext uri="{FF2B5EF4-FFF2-40B4-BE49-F238E27FC236}">
                <a16:creationId xmlns:a16="http://schemas.microsoft.com/office/drawing/2014/main" id="{7DA62907-03C9-4864-AFEB-497EA59AE269}"/>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NOTEBOOK - EXÉCUTION</a:t>
            </a:r>
          </a:p>
        </p:txBody>
      </p:sp>
      <p:sp>
        <p:nvSpPr>
          <p:cNvPr id="2" name="progress-54">
            <a:extLst xmlns:a="http://schemas.openxmlformats.org/drawingml/2006/main">
              <a:ext uri="{FF2B5EF4-FFF2-40B4-BE49-F238E27FC236}">
                <a16:creationId xmlns:a16="http://schemas.microsoft.com/office/drawing/2014/main" id="{F7918816-2072-49E2-A0B6-C5AB5EF7665B}"/>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54 / 60</a:t>
            </a:r>
          </a:p>
        </p:txBody>
      </p:sp>
      <p:sp>
        <p:nvSpPr>
          <p:cNvPr id="3" name="title-54">
            <a:extLst xmlns:a="http://schemas.openxmlformats.org/drawingml/2006/main">
              <a:ext uri="{FF2B5EF4-FFF2-40B4-BE49-F238E27FC236}">
                <a16:creationId xmlns:a16="http://schemas.microsoft.com/office/drawing/2014/main" id="{732FB187-18F6-4909-9B81-18E7EB641BF8}"/>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SEIZE DÉTECTIONS</a:t>
            </a:r>
          </a:p>
        </p:txBody>
      </p:sp>
      <p:sp>
        <p:nvSpPr>
          <p:cNvPr id="4" name="accent-54">
            <a:extLst xmlns:a="http://schemas.openxmlformats.org/drawingml/2006/main">
              <a:ext uri="{FF2B5EF4-FFF2-40B4-BE49-F238E27FC236}">
                <a16:creationId xmlns:a16="http://schemas.microsoft.com/office/drawing/2014/main" id="{3A448809-1B4A-4C95-BCED-859737EE38A7}"/>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54">
            <a:extLst xmlns:a="http://schemas.openxmlformats.org/drawingml/2006/main">
              <a:ext uri="{FF2B5EF4-FFF2-40B4-BE49-F238E27FC236}">
                <a16:creationId xmlns:a16="http://schemas.microsoft.com/office/drawing/2014/main" id="{68F77A37-C83E-4C95-8349-FC3DF2A2FBD9}"/>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050" b="0">
                <a:solidFill>
                  <a:srgbClr val="F6FAFC"/>
                </a:solidFill>
                <a:latin typeface="Arial"/>
                <a:ea typeface="Arial"/>
                <a:cs typeface="Arial"/>
              </a:defRPr>
            </a:pPr>
            <a:r>
              <a:rPr sz="4050" b="0">
                <a:solidFill>
                  <a:srgbClr val="F6FAFC"/>
                </a:solidFill>
                <a:latin typeface="Arial"/>
                <a:ea typeface="Arial"/>
                <a:cs typeface="Arial"/>
              </a:rPr>
              <a:t>La sortie confirme d'abord le modèle utilisé, le nom de la tuile et le matériel choisi. Sur cet exemple, le modèle conserve seize détections.</a:t>
            </a:r>
          </a:p>
        </p:txBody>
      </p:sp>
      <p:sp>
        <p:nvSpPr>
          <p:cNvPr id="6" name="progress-track-54">
            <a:extLst xmlns:a="http://schemas.openxmlformats.org/drawingml/2006/main">
              <a:ext uri="{FF2B5EF4-FFF2-40B4-BE49-F238E27FC236}">
                <a16:creationId xmlns:a16="http://schemas.microsoft.com/office/drawing/2014/main" id="{5FE1E486-2A52-4F9F-955D-DEC8A93BA193}"/>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54">
            <a:extLst xmlns:a="http://schemas.openxmlformats.org/drawingml/2006/main">
              <a:ext uri="{FF2B5EF4-FFF2-40B4-BE49-F238E27FC236}">
                <a16:creationId xmlns:a16="http://schemas.microsoft.com/office/drawing/2014/main" id="{E475D8AB-8125-49F2-828C-269951145608}"/>
              </a:ext>
            </a:extLst>
          </p:cNvPr>
          <p:cNvSpPr>
            <a:spLocks xmlns:a="http://schemas.openxmlformats.org/drawingml/2006/main" noGrp="1"/>
          </p:cNvSpPr>
          <p:nvPr/>
        </p:nvSpPr>
        <p:spPr>
          <a:xfrm xmlns:a="http://schemas.openxmlformats.org/drawingml/2006/main">
            <a:off x="952500" y="17002125"/>
            <a:ext cx="75438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54">
            <a:extLst xmlns:a="http://schemas.openxmlformats.org/drawingml/2006/main">
              <a:ext uri="{FF2B5EF4-FFF2-40B4-BE49-F238E27FC236}">
                <a16:creationId xmlns:a16="http://schemas.microsoft.com/office/drawing/2014/main" id="{FF3B5170-72AA-4490-9974-9661D47DDFAA}"/>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335271630"/>
      </p:ext>
    </p:extLst>
  </p:cSld>
</p:sld>
</file>

<file path=ppt/slides/slide55.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55">
            <a:extLst xmlns:a="http://schemas.openxmlformats.org/drawingml/2006/main">
              <a:ext uri="{FF2B5EF4-FFF2-40B4-BE49-F238E27FC236}">
                <a16:creationId xmlns:a16="http://schemas.microsoft.com/office/drawing/2014/main" id="{EEC943AA-F2D3-48BA-90CA-FEFA4BE046B4}"/>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NOTEBOOK - EXÉCUTION</a:t>
            </a:r>
          </a:p>
        </p:txBody>
      </p:sp>
      <p:sp>
        <p:nvSpPr>
          <p:cNvPr id="2" name="progress-55">
            <a:extLst xmlns:a="http://schemas.openxmlformats.org/drawingml/2006/main">
              <a:ext uri="{FF2B5EF4-FFF2-40B4-BE49-F238E27FC236}">
                <a16:creationId xmlns:a16="http://schemas.microsoft.com/office/drawing/2014/main" id="{624FD6BE-AAEE-4E64-BB3F-67DC2AD9C6FB}"/>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55 / 60</a:t>
            </a:r>
          </a:p>
        </p:txBody>
      </p:sp>
      <p:sp>
        <p:nvSpPr>
          <p:cNvPr id="3" name="title-55">
            <a:extLst xmlns:a="http://schemas.openxmlformats.org/drawingml/2006/main">
              <a:ext uri="{FF2B5EF4-FFF2-40B4-BE49-F238E27FC236}">
                <a16:creationId xmlns:a16="http://schemas.microsoft.com/office/drawing/2014/main" id="{ECC72890-7E64-4262-9F92-87C370D69DDF}"/>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COMPRENDRE LES DEUX TEMPS</a:t>
            </a:r>
          </a:p>
        </p:txBody>
      </p:sp>
      <p:sp>
        <p:nvSpPr>
          <p:cNvPr id="4" name="accent-55">
            <a:extLst xmlns:a="http://schemas.openxmlformats.org/drawingml/2006/main">
              <a:ext uri="{FF2B5EF4-FFF2-40B4-BE49-F238E27FC236}">
                <a16:creationId xmlns:a16="http://schemas.microsoft.com/office/drawing/2014/main" id="{57E97819-EA68-467A-8434-0A04081D62E3}"/>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55">
            <a:extLst xmlns:a="http://schemas.openxmlformats.org/drawingml/2006/main">
              <a:ext uri="{FF2B5EF4-FFF2-40B4-BE49-F238E27FC236}">
                <a16:creationId xmlns:a16="http://schemas.microsoft.com/office/drawing/2014/main" id="{C4DA5DF6-1D65-4740-8D8B-6D4EE2EDA6A6}"/>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On voit aussi deux temps différents. Le temps total correspond à toute la cellule, donc il comprend le chargement du modèle, l'inférence et l'affichage. C'est pour ça qu'il est plus élevé que les 7,9 millisecondes présentées sur la diapositive. Les 7,9 millisecondes correspondent seulement au temps moyen de l'inférence pendant l'évaluation.</a:t>
            </a:r>
          </a:p>
        </p:txBody>
      </p:sp>
      <p:sp>
        <p:nvSpPr>
          <p:cNvPr id="6" name="progress-track-55">
            <a:extLst xmlns:a="http://schemas.openxmlformats.org/drawingml/2006/main">
              <a:ext uri="{FF2B5EF4-FFF2-40B4-BE49-F238E27FC236}">
                <a16:creationId xmlns:a16="http://schemas.microsoft.com/office/drawing/2014/main" id="{3FC43E59-E3FF-4A42-AAFE-B856941C3E46}"/>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55">
            <a:extLst xmlns:a="http://schemas.openxmlformats.org/drawingml/2006/main">
              <a:ext uri="{FF2B5EF4-FFF2-40B4-BE49-F238E27FC236}">
                <a16:creationId xmlns:a16="http://schemas.microsoft.com/office/drawing/2014/main" id="{CE735D4C-06F0-4CB3-8792-E765BB38A7C4}"/>
              </a:ext>
            </a:extLst>
          </p:cNvPr>
          <p:cNvSpPr>
            <a:spLocks xmlns:a="http://schemas.openxmlformats.org/drawingml/2006/main" noGrp="1"/>
          </p:cNvSpPr>
          <p:nvPr/>
        </p:nvSpPr>
        <p:spPr>
          <a:xfrm xmlns:a="http://schemas.openxmlformats.org/drawingml/2006/main">
            <a:off x="952500" y="17002125"/>
            <a:ext cx="76835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55">
            <a:extLst xmlns:a="http://schemas.openxmlformats.org/drawingml/2006/main">
              <a:ext uri="{FF2B5EF4-FFF2-40B4-BE49-F238E27FC236}">
                <a16:creationId xmlns:a16="http://schemas.microsoft.com/office/drawing/2014/main" id="{77AB8E1D-DAAB-4202-9C1F-E2DF36C60322}"/>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560271220"/>
      </p:ext>
    </p:extLst>
  </p:cSld>
</p:sld>
</file>

<file path=ppt/slides/slide56.xml><?xml version="1.0" encoding="utf-8"?>
<p:sld xmlns:p="http://schemas.openxmlformats.org/presentationml/2006/main">
  <p:cSld>
    <p:bg>
      <p:bgPr>
        <a:solidFill xmlns:a="http://schemas.openxmlformats.org/drawingml/2006/main">
          <a:srgbClr val="250B14"/>
        </a:solidFill>
      </p:bgPr>
    </p:bg>
    <p:spTree>
      <p:nvGrpSpPr>
        <p:cNvPr id="1" name=""/>
        <p:cNvGrpSpPr/>
        <p:nvPr/>
      </p:nvGrpSpPr>
      <p:grpSpPr>
        <a:xfrm xmlns:a="http://schemas.openxmlformats.org/drawingml/2006/main"/>
      </p:grpSpPr>
      <p:sp>
        <p:nvSpPr>
          <p:cNvPr id="1" name="section-56">
            <a:extLst xmlns:a="http://schemas.openxmlformats.org/drawingml/2006/main">
              <a:ext uri="{FF2B5EF4-FFF2-40B4-BE49-F238E27FC236}">
                <a16:creationId xmlns:a16="http://schemas.microsoft.com/office/drawing/2014/main" id="{CDE5FBDF-1A06-463C-B3FF-927E80051113}"/>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FA7B3"/>
                </a:solidFill>
                <a:latin typeface="Arial"/>
                <a:ea typeface="Arial"/>
                <a:cs typeface="Arial"/>
              </a:defRPr>
            </a:pPr>
            <a:r>
              <a:rPr sz="1650" b="1">
                <a:solidFill>
                  <a:srgbClr val="DFA7B3"/>
                </a:solidFill>
                <a:latin typeface="Arial"/>
                <a:ea typeface="Arial"/>
                <a:cs typeface="Arial"/>
              </a:rPr>
              <a:t>NOTEBOOK - EXÉCUTION</a:t>
            </a:r>
          </a:p>
        </p:txBody>
      </p:sp>
      <p:sp>
        <p:nvSpPr>
          <p:cNvPr id="2" name="progress-56">
            <a:extLst xmlns:a="http://schemas.openxmlformats.org/drawingml/2006/main">
              <a:ext uri="{FF2B5EF4-FFF2-40B4-BE49-F238E27FC236}">
                <a16:creationId xmlns:a16="http://schemas.microsoft.com/office/drawing/2014/main" id="{DADC945A-15ED-4C8C-BC6A-C1BA763860AC}"/>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FA7B3"/>
                </a:solidFill>
                <a:latin typeface="Arial"/>
                <a:ea typeface="Arial"/>
                <a:cs typeface="Arial"/>
              </a:defRPr>
            </a:pPr>
            <a:r>
              <a:rPr sz="1800" b="1">
                <a:solidFill>
                  <a:srgbClr val="DFA7B3"/>
                </a:solidFill>
                <a:latin typeface="Arial"/>
                <a:ea typeface="Arial"/>
                <a:cs typeface="Arial"/>
              </a:rPr>
              <a:t>56 / 60</a:t>
            </a:r>
          </a:p>
        </p:txBody>
      </p:sp>
      <p:sp>
        <p:nvSpPr>
          <p:cNvPr id="3" name="title-56">
            <a:extLst xmlns:a="http://schemas.openxmlformats.org/drawingml/2006/main">
              <a:ext uri="{FF2B5EF4-FFF2-40B4-BE49-F238E27FC236}">
                <a16:creationId xmlns:a16="http://schemas.microsoft.com/office/drawing/2014/main" id="{4C4B2ED3-533C-4AC8-BA55-A01168BD33D7}"/>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F91A8"/>
                </a:solidFill>
                <a:latin typeface="Arial"/>
                <a:ea typeface="Arial"/>
                <a:cs typeface="Arial"/>
              </a:defRPr>
            </a:pPr>
            <a:r>
              <a:rPr sz="2700" b="1">
                <a:solidFill>
                  <a:srgbClr val="FF91A8"/>
                </a:solidFill>
                <a:latin typeface="Arial"/>
                <a:ea typeface="Arial"/>
                <a:cs typeface="Arial"/>
              </a:rPr>
              <a:t>ACTION - SOURIS</a:t>
            </a:r>
          </a:p>
        </p:txBody>
      </p:sp>
      <p:sp>
        <p:nvSpPr>
          <p:cNvPr id="4" name="accent-56">
            <a:extLst xmlns:a="http://schemas.openxmlformats.org/drawingml/2006/main">
              <a:ext uri="{FF2B5EF4-FFF2-40B4-BE49-F238E27FC236}">
                <a16:creationId xmlns:a16="http://schemas.microsoft.com/office/drawing/2014/main" id="{B5DF2AA4-DD9B-47B6-BFDA-6DD511AB961C}"/>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5" name="body-56">
            <a:extLst xmlns:a="http://schemas.openxmlformats.org/drawingml/2006/main">
              <a:ext uri="{FF2B5EF4-FFF2-40B4-BE49-F238E27FC236}">
                <a16:creationId xmlns:a16="http://schemas.microsoft.com/office/drawing/2014/main" id="{02D16EF6-8FD7-436E-ACE7-E036519F8875}"/>
              </a:ext>
            </a:extLst>
          </p:cNvPr>
          <p:cNvSpPr>
            <a:spLocks xmlns:a="http://schemas.openxmlformats.org/drawingml/2006/main" noGrp="1"/>
          </p:cNvSpPr>
          <p:nvPr/>
        </p:nvSpPr>
        <p:spPr>
          <a:xfrm xmlns:a="http://schemas.openxmlformats.org/drawingml/2006/main">
            <a:off x="952500" y="4476750"/>
            <a:ext cx="8382000" cy="838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4800" b="1">
                <a:solidFill>
                  <a:srgbClr val="FFF4F6"/>
                </a:solidFill>
                <a:latin typeface="Arial"/>
                <a:ea typeface="Arial"/>
                <a:cs typeface="Arial"/>
              </a:defRPr>
            </a:pPr>
            <a:r>
              <a:rPr sz="4800" b="1">
                <a:solidFill>
                  <a:srgbClr val="FFF4F6"/>
                </a:solidFill>
                <a:latin typeface="Arial"/>
                <a:ea typeface="Arial"/>
                <a:cs typeface="Arial"/>
              </a:rPr>
              <a:t>[Montrer l'image annotée.]</a:t>
            </a:r>
          </a:p>
        </p:txBody>
      </p:sp>
      <p:sp>
        <p:nvSpPr>
          <p:cNvPr id="6" name="progress-track-56">
            <a:extLst xmlns:a="http://schemas.openxmlformats.org/drawingml/2006/main">
              <a:ext uri="{FF2B5EF4-FFF2-40B4-BE49-F238E27FC236}">
                <a16:creationId xmlns:a16="http://schemas.microsoft.com/office/drawing/2014/main" id="{00F5808E-1FDA-4FA6-9756-8A9ED927A1C1}"/>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56">
            <a:extLst xmlns:a="http://schemas.openxmlformats.org/drawingml/2006/main">
              <a:ext uri="{FF2B5EF4-FFF2-40B4-BE49-F238E27FC236}">
                <a16:creationId xmlns:a16="http://schemas.microsoft.com/office/drawing/2014/main" id="{0CEF7509-94DD-41FF-AEDC-E26B449C6A8C}"/>
              </a:ext>
            </a:extLst>
          </p:cNvPr>
          <p:cNvSpPr>
            <a:spLocks xmlns:a="http://schemas.openxmlformats.org/drawingml/2006/main" noGrp="1"/>
          </p:cNvSpPr>
          <p:nvPr/>
        </p:nvSpPr>
        <p:spPr>
          <a:xfrm xmlns:a="http://schemas.openxmlformats.org/drawingml/2006/main">
            <a:off x="952500" y="17002125"/>
            <a:ext cx="7823200" cy="57150"/>
          </a:xfrm>
          <a:prstGeom xmlns:a="http://schemas.openxmlformats.org/drawingml/2006/main" prst="rect">
            <a:avLst/>
          </a:prstGeom>
          <a:solidFill xmlns:a="http://schemas.openxmlformats.org/drawingml/2006/main">
            <a:srgbClr val="FF6685"/>
          </a:solidFill>
          <a:ln xmlns:a="http://schemas.openxmlformats.org/drawingml/2006/main" w="0">
            <a:solidFill>
              <a:srgbClr val="FF6685"/>
            </a:solidFill>
            <a:prstDash val="solid"/>
          </a:ln>
        </p:spPr>
      </p:sp>
      <p:sp>
        <p:nvSpPr>
          <p:cNvPr id="8" name="footer-56">
            <a:extLst xmlns:a="http://schemas.openxmlformats.org/drawingml/2006/main">
              <a:ext uri="{FF2B5EF4-FFF2-40B4-BE49-F238E27FC236}">
                <a16:creationId xmlns:a16="http://schemas.microsoft.com/office/drawing/2014/main" id="{DC2775CB-B476-432B-B462-4176D672565F}"/>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FA7B3"/>
                </a:solidFill>
                <a:latin typeface="Arial"/>
                <a:ea typeface="Arial"/>
                <a:cs typeface="Arial"/>
              </a:defRPr>
            </a:pPr>
            <a:r>
              <a:rPr sz="1350" b="1">
                <a:solidFill>
                  <a:srgbClr val="DFA7B3"/>
                </a:solidFill>
                <a:latin typeface="Arial"/>
                <a:ea typeface="Arial"/>
                <a:cs typeface="Arial"/>
              </a:rPr>
              <a:t>SCRIPT MOBILE - SOUTENANCE YOLO-OBB</a:t>
            </a:r>
          </a:p>
        </p:txBody>
      </p:sp>
    </p:spTree>
    <p:extLst>
      <p:ext uri="{BB962C8B-B14F-4D97-AF65-F5344CB8AC3E}">
        <p14:creationId xmlns:p14="http://schemas.microsoft.com/office/powerpoint/2010/main" val="132299049"/>
      </p:ext>
    </p:extLst>
  </p:cSld>
</p:sld>
</file>

<file path=ppt/slides/slide57.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57">
            <a:extLst xmlns:a="http://schemas.openxmlformats.org/drawingml/2006/main">
              <a:ext uri="{FF2B5EF4-FFF2-40B4-BE49-F238E27FC236}">
                <a16:creationId xmlns:a16="http://schemas.microsoft.com/office/drawing/2014/main" id="{666A797F-885F-4DF5-97BA-53D2560C1DB3}"/>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NOTEBOOK - EXÉCUTION</a:t>
            </a:r>
          </a:p>
        </p:txBody>
      </p:sp>
      <p:sp>
        <p:nvSpPr>
          <p:cNvPr id="2" name="progress-57">
            <a:extLst xmlns:a="http://schemas.openxmlformats.org/drawingml/2006/main">
              <a:ext uri="{FF2B5EF4-FFF2-40B4-BE49-F238E27FC236}">
                <a16:creationId xmlns:a16="http://schemas.microsoft.com/office/drawing/2014/main" id="{B0C66DCD-221F-4614-843C-D4755D086784}"/>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57 / 60</a:t>
            </a:r>
          </a:p>
        </p:txBody>
      </p:sp>
      <p:sp>
        <p:nvSpPr>
          <p:cNvPr id="3" name="title-57">
            <a:extLst xmlns:a="http://schemas.openxmlformats.org/drawingml/2006/main">
              <a:ext uri="{FF2B5EF4-FFF2-40B4-BE49-F238E27FC236}">
                <a16:creationId xmlns:a16="http://schemas.microsoft.com/office/drawing/2014/main" id="{9C8DEB2A-8ABA-4635-8A2D-169C1114F5FA}"/>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RÉSULTAT VISUEL</a:t>
            </a:r>
          </a:p>
        </p:txBody>
      </p:sp>
      <p:sp>
        <p:nvSpPr>
          <p:cNvPr id="4" name="accent-57">
            <a:extLst xmlns:a="http://schemas.openxmlformats.org/drawingml/2006/main">
              <a:ext uri="{FF2B5EF4-FFF2-40B4-BE49-F238E27FC236}">
                <a16:creationId xmlns:a16="http://schemas.microsoft.com/office/drawing/2014/main" id="{357E91F5-A2CC-4F14-8F20-AB2624EEC614}"/>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57">
            <a:extLst xmlns:a="http://schemas.openxmlformats.org/drawingml/2006/main">
              <a:ext uri="{FF2B5EF4-FFF2-40B4-BE49-F238E27FC236}">
                <a16:creationId xmlns:a16="http://schemas.microsoft.com/office/drawing/2014/main" id="{A7D8F9D2-C005-435B-8D16-BA69E03791CC}"/>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Et ici, on obtient le résultat final. On voit que les rectangles suivent bien l'orientation des avions au lieu de rester complètement horizontaux. C'est vraiment le résultat principal que je voulais montrer avec YOLO-OBB : le modèle localise les objets, indique leur classe et leur niveau de confiance, tout en conservant leur orientation.</a:t>
            </a:r>
          </a:p>
        </p:txBody>
      </p:sp>
      <p:sp>
        <p:nvSpPr>
          <p:cNvPr id="6" name="progress-track-57">
            <a:extLst xmlns:a="http://schemas.openxmlformats.org/drawingml/2006/main">
              <a:ext uri="{FF2B5EF4-FFF2-40B4-BE49-F238E27FC236}">
                <a16:creationId xmlns:a16="http://schemas.microsoft.com/office/drawing/2014/main" id="{9F7A162E-6FC5-4DA2-95EC-64D9EDA2F3FD}"/>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57">
            <a:extLst xmlns:a="http://schemas.openxmlformats.org/drawingml/2006/main">
              <a:ext uri="{FF2B5EF4-FFF2-40B4-BE49-F238E27FC236}">
                <a16:creationId xmlns:a16="http://schemas.microsoft.com/office/drawing/2014/main" id="{5E5C6848-AB22-4C58-86D0-90DE5ECC915B}"/>
              </a:ext>
            </a:extLst>
          </p:cNvPr>
          <p:cNvSpPr>
            <a:spLocks xmlns:a="http://schemas.openxmlformats.org/drawingml/2006/main" noGrp="1"/>
          </p:cNvSpPr>
          <p:nvPr/>
        </p:nvSpPr>
        <p:spPr>
          <a:xfrm xmlns:a="http://schemas.openxmlformats.org/drawingml/2006/main">
            <a:off x="952500" y="17002125"/>
            <a:ext cx="79629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57">
            <a:extLst xmlns:a="http://schemas.openxmlformats.org/drawingml/2006/main">
              <a:ext uri="{FF2B5EF4-FFF2-40B4-BE49-F238E27FC236}">
                <a16:creationId xmlns:a16="http://schemas.microsoft.com/office/drawing/2014/main" id="{CA9AD080-D128-4219-96DB-FA1598EF10D5}"/>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318322986"/>
      </p:ext>
    </p:extLst>
  </p:cSld>
</p:sld>
</file>

<file path=ppt/slides/slide58.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58">
            <a:extLst xmlns:a="http://schemas.openxmlformats.org/drawingml/2006/main">
              <a:ext uri="{FF2B5EF4-FFF2-40B4-BE49-F238E27FC236}">
                <a16:creationId xmlns:a16="http://schemas.microsoft.com/office/drawing/2014/main" id="{FFFB01AD-9112-4A8A-B59F-59EC022D2DEE}"/>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NOTEBOOK - EXÉCUTION</a:t>
            </a:r>
          </a:p>
        </p:txBody>
      </p:sp>
      <p:sp>
        <p:nvSpPr>
          <p:cNvPr id="2" name="progress-58">
            <a:extLst xmlns:a="http://schemas.openxmlformats.org/drawingml/2006/main">
              <a:ext uri="{FF2B5EF4-FFF2-40B4-BE49-F238E27FC236}">
                <a16:creationId xmlns:a16="http://schemas.microsoft.com/office/drawing/2014/main" id="{F5F431E9-7049-40E8-A5B6-BA32F0803963}"/>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58 / 60</a:t>
            </a:r>
          </a:p>
        </p:txBody>
      </p:sp>
      <p:sp>
        <p:nvSpPr>
          <p:cNvPr id="3" name="title-58">
            <a:extLst xmlns:a="http://schemas.openxmlformats.org/drawingml/2006/main">
              <a:ext uri="{FF2B5EF4-FFF2-40B4-BE49-F238E27FC236}">
                <a16:creationId xmlns:a16="http://schemas.microsoft.com/office/drawing/2014/main" id="{72F45E22-6C2A-4C61-A291-33B2511DE13E}"/>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UNE TUILE D'EXEMPLE</a:t>
            </a:r>
          </a:p>
        </p:txBody>
      </p:sp>
      <p:sp>
        <p:nvSpPr>
          <p:cNvPr id="4" name="accent-58">
            <a:extLst xmlns:a="http://schemas.openxmlformats.org/drawingml/2006/main">
              <a:ext uri="{FF2B5EF4-FFF2-40B4-BE49-F238E27FC236}">
                <a16:creationId xmlns:a16="http://schemas.microsoft.com/office/drawing/2014/main" id="{156CDBFF-1997-4592-924B-47287E2FB9FB}"/>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58">
            <a:extLst xmlns:a="http://schemas.openxmlformats.org/drawingml/2006/main">
              <a:ext uri="{FF2B5EF4-FFF2-40B4-BE49-F238E27FC236}">
                <a16:creationId xmlns:a16="http://schemas.microsoft.com/office/drawing/2014/main" id="{CD942CE7-3E51-4A5E-89B7-56956C53B68F}"/>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0">
                <a:solidFill>
                  <a:srgbClr val="F6FAFC"/>
                </a:solidFill>
                <a:latin typeface="Arial"/>
                <a:ea typeface="Arial"/>
                <a:cs typeface="Arial"/>
              </a:defRPr>
            </a:pPr>
            <a:r>
              <a:rPr sz="3750" b="0">
                <a:solidFill>
                  <a:srgbClr val="F6FAFC"/>
                </a:solidFill>
                <a:latin typeface="Arial"/>
                <a:ea typeface="Arial"/>
                <a:cs typeface="Arial"/>
              </a:rPr>
              <a:t>Il faut quand même préciser qu'ici, je montre seulement une tuile choisie pour illustrer le fonctionnement du modèle. Les résultats globaux présentés juste avant ne viennent pas de cette seule image : ils viennent de l'évaluation complète sur les 245 tuiles de validation.</a:t>
            </a:r>
          </a:p>
        </p:txBody>
      </p:sp>
      <p:sp>
        <p:nvSpPr>
          <p:cNvPr id="6" name="progress-track-58">
            <a:extLst xmlns:a="http://schemas.openxmlformats.org/drawingml/2006/main">
              <a:ext uri="{FF2B5EF4-FFF2-40B4-BE49-F238E27FC236}">
                <a16:creationId xmlns:a16="http://schemas.microsoft.com/office/drawing/2014/main" id="{11F6C49E-F693-4B34-968D-34441AA4F7F3}"/>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58">
            <a:extLst xmlns:a="http://schemas.openxmlformats.org/drawingml/2006/main">
              <a:ext uri="{FF2B5EF4-FFF2-40B4-BE49-F238E27FC236}">
                <a16:creationId xmlns:a16="http://schemas.microsoft.com/office/drawing/2014/main" id="{137E68E0-4856-45BF-835A-D078D80FDAA4}"/>
              </a:ext>
            </a:extLst>
          </p:cNvPr>
          <p:cNvSpPr>
            <a:spLocks xmlns:a="http://schemas.openxmlformats.org/drawingml/2006/main" noGrp="1"/>
          </p:cNvSpPr>
          <p:nvPr/>
        </p:nvSpPr>
        <p:spPr>
          <a:xfrm xmlns:a="http://schemas.openxmlformats.org/drawingml/2006/main">
            <a:off x="952500" y="17002125"/>
            <a:ext cx="81026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58">
            <a:extLst xmlns:a="http://schemas.openxmlformats.org/drawingml/2006/main">
              <a:ext uri="{FF2B5EF4-FFF2-40B4-BE49-F238E27FC236}">
                <a16:creationId xmlns:a16="http://schemas.microsoft.com/office/drawing/2014/main" id="{4997E578-96ED-4DF6-ACA6-F0A93466B90D}"/>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394154939"/>
      </p:ext>
    </p:extLst>
  </p:cSld>
</p:sld>
</file>

<file path=ppt/slides/slide59.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 name="section-59">
            <a:extLst xmlns:a="http://schemas.openxmlformats.org/drawingml/2006/main">
              <a:ext uri="{FF2B5EF4-FFF2-40B4-BE49-F238E27FC236}">
                <a16:creationId xmlns:a16="http://schemas.microsoft.com/office/drawing/2014/main" id="{C40843F8-9CF3-422F-94FA-0F8C5815EAB5}"/>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86A4B9"/>
                </a:solidFill>
                <a:latin typeface="Arial"/>
                <a:ea typeface="Arial"/>
                <a:cs typeface="Arial"/>
              </a:defRPr>
            </a:pPr>
            <a:r>
              <a:rPr sz="1650" b="1">
                <a:solidFill>
                  <a:srgbClr val="86A4B9"/>
                </a:solidFill>
                <a:latin typeface="Arial"/>
                <a:ea typeface="Arial"/>
                <a:cs typeface="Arial"/>
              </a:rPr>
              <a:t>NOTEBOOK - EXÉCUTION</a:t>
            </a:r>
          </a:p>
        </p:txBody>
      </p:sp>
      <p:sp>
        <p:nvSpPr>
          <p:cNvPr id="2" name="progress-59">
            <a:extLst xmlns:a="http://schemas.openxmlformats.org/drawingml/2006/main">
              <a:ext uri="{FF2B5EF4-FFF2-40B4-BE49-F238E27FC236}">
                <a16:creationId xmlns:a16="http://schemas.microsoft.com/office/drawing/2014/main" id="{0BC4982E-37E7-44D2-B275-DFC6D274E176}"/>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86A4B9"/>
                </a:solidFill>
                <a:latin typeface="Arial"/>
                <a:ea typeface="Arial"/>
                <a:cs typeface="Arial"/>
              </a:defRPr>
            </a:pPr>
            <a:r>
              <a:rPr sz="1800" b="1">
                <a:solidFill>
                  <a:srgbClr val="86A4B9"/>
                </a:solidFill>
                <a:latin typeface="Arial"/>
                <a:ea typeface="Arial"/>
                <a:cs typeface="Arial"/>
              </a:rPr>
              <a:t>59 / 60</a:t>
            </a:r>
          </a:p>
        </p:txBody>
      </p:sp>
      <p:sp>
        <p:nvSpPr>
          <p:cNvPr id="3" name="title-59">
            <a:extLst xmlns:a="http://schemas.openxmlformats.org/drawingml/2006/main">
              <a:ext uri="{FF2B5EF4-FFF2-40B4-BE49-F238E27FC236}">
                <a16:creationId xmlns:a16="http://schemas.microsoft.com/office/drawing/2014/main" id="{6FD85153-A811-4CD5-BD7A-105D14A30726}"/>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8BE7D5"/>
                </a:solidFill>
                <a:latin typeface="Arial"/>
                <a:ea typeface="Arial"/>
                <a:cs typeface="Arial"/>
              </a:defRPr>
            </a:pPr>
            <a:r>
              <a:rPr sz="2700" b="1">
                <a:solidFill>
                  <a:srgbClr val="8BE7D5"/>
                </a:solidFill>
                <a:latin typeface="Arial"/>
                <a:ea typeface="Arial"/>
                <a:cs typeface="Arial"/>
              </a:rPr>
              <a:t>PIPELINE COMPLET</a:t>
            </a:r>
          </a:p>
        </p:txBody>
      </p:sp>
      <p:sp>
        <p:nvSpPr>
          <p:cNvPr id="4" name="accent-59">
            <a:extLst xmlns:a="http://schemas.openxmlformats.org/drawingml/2006/main">
              <a:ext uri="{FF2B5EF4-FFF2-40B4-BE49-F238E27FC236}">
                <a16:creationId xmlns:a16="http://schemas.microsoft.com/office/drawing/2014/main" id="{B2343D7B-E9D2-4AE6-9408-1D822226020A}"/>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5" name="body-59">
            <a:extLst xmlns:a="http://schemas.openxmlformats.org/drawingml/2006/main">
              <a:ext uri="{FF2B5EF4-FFF2-40B4-BE49-F238E27FC236}">
                <a16:creationId xmlns:a16="http://schemas.microsoft.com/office/drawing/2014/main" id="{8F9613C7-D3B6-4312-992C-2420CB036F71}"/>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Donc, cette exécution permet de montrer que le pipeline fonctionne du début à la fin. Je charge un modèle déjà entraîné, je lui donne une nouvelle tuile, puis je récupère directement ses prédictions et les boîtes orientées qu'il a produites.</a:t>
            </a:r>
          </a:p>
          <a:p xmlns:a="http://schemas.openxmlformats.org/drawingml/2006/main">
            <a:r>
              <a:t/>
            </a:r>
          </a:p>
          <a:p xmlns:a="http://schemas.openxmlformats.org/drawingml/2006/main">
            <a:pPr algn="l">
              <a:defRPr sz="3450" b="0">
                <a:solidFill>
                  <a:srgbClr val="F6FAFC"/>
                </a:solidFill>
                <a:latin typeface="Arial"/>
                <a:ea typeface="Arial"/>
                <a:cs typeface="Arial"/>
              </a:defRPr>
            </a:pPr>
            <a:r>
              <a:rPr sz="3450" b="0">
                <a:solidFill>
                  <a:srgbClr val="F6FAFC"/>
                </a:solidFill>
                <a:latin typeface="Arial"/>
                <a:ea typeface="Arial"/>
                <a:cs typeface="Arial"/>
              </a:rPr>
              <a:t>Voilà, ça termine la partie démonstration.</a:t>
            </a:r>
          </a:p>
        </p:txBody>
      </p:sp>
      <p:sp>
        <p:nvSpPr>
          <p:cNvPr id="6" name="progress-track-59">
            <a:extLst xmlns:a="http://schemas.openxmlformats.org/drawingml/2006/main">
              <a:ext uri="{FF2B5EF4-FFF2-40B4-BE49-F238E27FC236}">
                <a16:creationId xmlns:a16="http://schemas.microsoft.com/office/drawing/2014/main" id="{FA995871-85D7-4AAF-8C67-1CF6B104505B}"/>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59">
            <a:extLst xmlns:a="http://schemas.openxmlformats.org/drawingml/2006/main">
              <a:ext uri="{FF2B5EF4-FFF2-40B4-BE49-F238E27FC236}">
                <a16:creationId xmlns:a16="http://schemas.microsoft.com/office/drawing/2014/main" id="{D04E241A-86E8-4996-A66E-DBCBA6330A70}"/>
              </a:ext>
            </a:extLst>
          </p:cNvPr>
          <p:cNvSpPr>
            <a:spLocks xmlns:a="http://schemas.openxmlformats.org/drawingml/2006/main" noGrp="1"/>
          </p:cNvSpPr>
          <p:nvPr/>
        </p:nvSpPr>
        <p:spPr>
          <a:xfrm xmlns:a="http://schemas.openxmlformats.org/drawingml/2006/main">
            <a:off x="952500" y="17002125"/>
            <a:ext cx="8242300" cy="57150"/>
          </a:xfrm>
          <a:prstGeom xmlns:a="http://schemas.openxmlformats.org/drawingml/2006/main" prst="rect">
            <a:avLst/>
          </a:prstGeom>
          <a:solidFill xmlns:a="http://schemas.openxmlformats.org/drawingml/2006/main">
            <a:srgbClr val="27D3B3"/>
          </a:solidFill>
          <a:ln xmlns:a="http://schemas.openxmlformats.org/drawingml/2006/main" w="0">
            <a:solidFill>
              <a:srgbClr val="27D3B3"/>
            </a:solidFill>
            <a:prstDash val="solid"/>
          </a:ln>
        </p:spPr>
      </p:sp>
      <p:sp>
        <p:nvSpPr>
          <p:cNvPr id="8" name="footer-59">
            <a:extLst xmlns:a="http://schemas.openxmlformats.org/drawingml/2006/main">
              <a:ext uri="{FF2B5EF4-FFF2-40B4-BE49-F238E27FC236}">
                <a16:creationId xmlns:a16="http://schemas.microsoft.com/office/drawing/2014/main" id="{EDCF440B-6897-4E87-973E-5E6BD58A6673}"/>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86A4B9"/>
                </a:solidFill>
                <a:latin typeface="Arial"/>
                <a:ea typeface="Arial"/>
                <a:cs typeface="Arial"/>
              </a:defRPr>
            </a:pPr>
            <a:r>
              <a:rPr sz="1350" b="1">
                <a:solidFill>
                  <a:srgbClr val="86A4B9"/>
                </a:solidFill>
                <a:latin typeface="Arial"/>
                <a:ea typeface="Arial"/>
                <a:cs typeface="Arial"/>
              </a:rPr>
              <a:t>SCRIPT MOBILE - SOUTENANCE YOLO-OBB</a:t>
            </a:r>
          </a:p>
        </p:txBody>
      </p:sp>
    </p:spTree>
    <p:extLst>
      <p:ext uri="{BB962C8B-B14F-4D97-AF65-F5344CB8AC3E}">
        <p14:creationId xmlns:p14="http://schemas.microsoft.com/office/powerpoint/2010/main" val="1523567621"/>
      </p:ext>
    </p:extLst>
  </p:cSld>
</p:sld>
</file>

<file path=ppt/slides/slide60.xml><?xml version="1.0" encoding="utf-8"?>
<p:sld xmlns:p="http://schemas.openxmlformats.org/presentationml/2006/main">
  <p:cSld>
    <p:bg>
      <p:bgPr>
        <a:solidFill xmlns:a="http://schemas.openxmlformats.org/drawingml/2006/main">
          <a:srgbClr val="1D1608"/>
        </a:solidFill>
      </p:bgPr>
    </p:bg>
    <p:spTree>
      <p:nvGrpSpPr>
        <p:cNvPr id="1" name=""/>
        <p:cNvGrpSpPr/>
        <p:nvPr/>
      </p:nvGrpSpPr>
      <p:grpSpPr>
        <a:xfrm xmlns:a="http://schemas.openxmlformats.org/drawingml/2006/main"/>
      </p:grpSpPr>
      <p:sp>
        <p:nvSpPr>
          <p:cNvPr id="1" name="section-60">
            <a:extLst xmlns:a="http://schemas.openxmlformats.org/drawingml/2006/main">
              <a:ext uri="{FF2B5EF4-FFF2-40B4-BE49-F238E27FC236}">
                <a16:creationId xmlns:a16="http://schemas.microsoft.com/office/drawing/2014/main" id="{6F03A860-B84F-4C13-B191-04C6DDC736AE}"/>
              </a:ext>
            </a:extLst>
          </p:cNvPr>
          <p:cNvSpPr>
            <a:spLocks xmlns:a="http://schemas.openxmlformats.org/drawingml/2006/main" noGrp="1"/>
          </p:cNvSpPr>
          <p:nvPr/>
        </p:nvSpPr>
        <p:spPr>
          <a:xfrm xmlns:a="http://schemas.openxmlformats.org/drawingml/2006/main">
            <a:off x="952500" y="857250"/>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9B96C"/>
                </a:solidFill>
                <a:latin typeface="Arial"/>
                <a:ea typeface="Arial"/>
                <a:cs typeface="Arial"/>
              </a:defRPr>
            </a:pPr>
            <a:r>
              <a:rPr sz="1650" b="1">
                <a:solidFill>
                  <a:srgbClr val="D9B96C"/>
                </a:solidFill>
                <a:latin typeface="Arial"/>
                <a:ea typeface="Arial"/>
                <a:cs typeface="Arial"/>
              </a:rPr>
              <a:t>NOTEBOOK - PLAN B</a:t>
            </a:r>
          </a:p>
        </p:txBody>
      </p:sp>
      <p:sp>
        <p:nvSpPr>
          <p:cNvPr id="2" name="progress-60">
            <a:extLst xmlns:a="http://schemas.openxmlformats.org/drawingml/2006/main">
              <a:ext uri="{FF2B5EF4-FFF2-40B4-BE49-F238E27FC236}">
                <a16:creationId xmlns:a16="http://schemas.microsoft.com/office/drawing/2014/main" id="{5BB85E08-10C2-4A5A-90F6-1907CF88A04B}"/>
              </a:ext>
            </a:extLst>
          </p:cNvPr>
          <p:cNvSpPr>
            <a:spLocks xmlns:a="http://schemas.openxmlformats.org/drawingml/2006/main" noGrp="1"/>
          </p:cNvSpPr>
          <p:nvPr/>
        </p:nvSpPr>
        <p:spPr>
          <a:xfrm xmlns:a="http://schemas.openxmlformats.org/drawingml/2006/main">
            <a:off x="7810500" y="800100"/>
            <a:ext cx="152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800" b="1">
                <a:solidFill>
                  <a:srgbClr val="D9B96C"/>
                </a:solidFill>
                <a:latin typeface="Arial"/>
                <a:ea typeface="Arial"/>
                <a:cs typeface="Arial"/>
              </a:defRPr>
            </a:pPr>
            <a:r>
              <a:rPr sz="1800" b="1">
                <a:solidFill>
                  <a:srgbClr val="D9B96C"/>
                </a:solidFill>
                <a:latin typeface="Arial"/>
                <a:ea typeface="Arial"/>
                <a:cs typeface="Arial"/>
              </a:rPr>
              <a:t>60 / 60</a:t>
            </a:r>
          </a:p>
        </p:txBody>
      </p:sp>
      <p:sp>
        <p:nvSpPr>
          <p:cNvPr id="3" name="title-60">
            <a:extLst xmlns:a="http://schemas.openxmlformats.org/drawingml/2006/main">
              <a:ext uri="{FF2B5EF4-FFF2-40B4-BE49-F238E27FC236}">
                <a16:creationId xmlns:a16="http://schemas.microsoft.com/office/drawing/2014/main" id="{23321F16-865D-42EB-9CC4-4DC8734B776F}"/>
              </a:ext>
            </a:extLst>
          </p:cNvPr>
          <p:cNvSpPr>
            <a:spLocks xmlns:a="http://schemas.openxmlformats.org/drawingml/2006/main" noGrp="1"/>
          </p:cNvSpPr>
          <p:nvPr/>
        </p:nvSpPr>
        <p:spPr>
          <a:xfrm xmlns:a="http://schemas.openxmlformats.org/drawingml/2006/main">
            <a:off x="952500" y="2000250"/>
            <a:ext cx="8382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BBF24"/>
                </a:solidFill>
                <a:latin typeface="Arial"/>
                <a:ea typeface="Arial"/>
                <a:cs typeface="Arial"/>
              </a:defRPr>
            </a:pPr>
            <a:r>
              <a:rPr sz="2700" b="1">
                <a:solidFill>
                  <a:srgbClr val="FBBF24"/>
                </a:solidFill>
                <a:latin typeface="Arial"/>
                <a:ea typeface="Arial"/>
                <a:cs typeface="Arial"/>
              </a:rPr>
              <a:t>SI L'EXÉCUTION ÉCHOUE</a:t>
            </a:r>
          </a:p>
        </p:txBody>
      </p:sp>
      <p:sp>
        <p:nvSpPr>
          <p:cNvPr id="4" name="accent-60">
            <a:extLst xmlns:a="http://schemas.openxmlformats.org/drawingml/2006/main">
              <a:ext uri="{FF2B5EF4-FFF2-40B4-BE49-F238E27FC236}">
                <a16:creationId xmlns:a16="http://schemas.microsoft.com/office/drawing/2014/main" id="{A811F78F-DC55-4E94-8732-40B3A33752F1}"/>
              </a:ext>
            </a:extLst>
          </p:cNvPr>
          <p:cNvSpPr>
            <a:spLocks xmlns:a="http://schemas.openxmlformats.org/drawingml/2006/main" noGrp="1"/>
          </p:cNvSpPr>
          <p:nvPr/>
        </p:nvSpPr>
        <p:spPr>
          <a:xfrm xmlns:a="http://schemas.openxmlformats.org/drawingml/2006/main">
            <a:off x="952500" y="3286125"/>
            <a:ext cx="1143000" cy="7620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5" name="body-60">
            <a:extLst xmlns:a="http://schemas.openxmlformats.org/drawingml/2006/main">
              <a:ext uri="{FF2B5EF4-FFF2-40B4-BE49-F238E27FC236}">
                <a16:creationId xmlns:a16="http://schemas.microsoft.com/office/drawing/2014/main" id="{E2C614F0-4165-4ED0-9FB5-71F4E325681D}"/>
              </a:ext>
            </a:extLst>
          </p:cNvPr>
          <p:cNvSpPr>
            <a:spLocks xmlns:a="http://schemas.openxmlformats.org/drawingml/2006/main" noGrp="1"/>
          </p:cNvSpPr>
          <p:nvPr/>
        </p:nvSpPr>
        <p:spPr>
          <a:xfrm xmlns:a="http://schemas.openxmlformats.org/drawingml/2006/main">
            <a:off x="952500" y="4000500"/>
            <a:ext cx="8382000" cy="11334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0">
                <a:solidFill>
                  <a:srgbClr val="FFF7D6"/>
                </a:solidFill>
                <a:latin typeface="Arial"/>
                <a:ea typeface="Arial"/>
                <a:cs typeface="Arial"/>
              </a:defRPr>
            </a:pPr>
            <a:r>
              <a:rPr sz="3450" b="0">
                <a:solidFill>
                  <a:srgbClr val="FFF7D6"/>
                </a:solidFill>
                <a:latin typeface="Arial"/>
                <a:ea typeface="Arial"/>
                <a:cs typeface="Arial"/>
              </a:rPr>
              <a:t>Ne pas relancer la cellule plusieurs fois. Montrer la sortie déjà enregistrée dans le notebook et dire :</a:t>
            </a:r>
          </a:p>
          <a:p xmlns:a="http://schemas.openxmlformats.org/drawingml/2006/main">
            <a:r>
              <a:t/>
            </a:r>
          </a:p>
          <a:p xmlns:a="http://schemas.openxmlformats.org/drawingml/2006/main">
            <a:pPr algn="l">
              <a:defRPr sz="3450" b="0">
                <a:solidFill>
                  <a:srgbClr val="FFF7D6"/>
                </a:solidFill>
                <a:latin typeface="Arial"/>
                <a:ea typeface="Arial"/>
                <a:cs typeface="Arial"/>
              </a:defRPr>
            </a:pPr>
            <a:r>
              <a:rPr sz="3450" b="0">
                <a:solidFill>
                  <a:srgbClr val="FFF7D6"/>
                </a:solidFill>
                <a:latin typeface="Arial"/>
                <a:ea typeface="Arial"/>
                <a:cs typeface="Arial"/>
              </a:rPr>
              <a:t>« La sortie est déjà enregistrée ici. On retrouve exactement la même exécution, avec les seize détections et les boîtes orientées affichées sur la tuile de validation. »</a:t>
            </a:r>
          </a:p>
        </p:txBody>
      </p:sp>
      <p:sp>
        <p:nvSpPr>
          <p:cNvPr id="6" name="progress-track-60">
            <a:extLst xmlns:a="http://schemas.openxmlformats.org/drawingml/2006/main">
              <a:ext uri="{FF2B5EF4-FFF2-40B4-BE49-F238E27FC236}">
                <a16:creationId xmlns:a16="http://schemas.microsoft.com/office/drawing/2014/main" id="{85D8D838-5C9C-423B-AA18-1C7C639072AF}"/>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294052"/>
          </a:solidFill>
          <a:ln xmlns:a="http://schemas.openxmlformats.org/drawingml/2006/main" w="0">
            <a:solidFill>
              <a:srgbClr val="294052"/>
            </a:solidFill>
            <a:prstDash val="solid"/>
          </a:ln>
        </p:spPr>
      </p:sp>
      <p:sp>
        <p:nvSpPr>
          <p:cNvPr id="7" name="progress-fill-60">
            <a:extLst xmlns:a="http://schemas.openxmlformats.org/drawingml/2006/main">
              <a:ext uri="{FF2B5EF4-FFF2-40B4-BE49-F238E27FC236}">
                <a16:creationId xmlns:a16="http://schemas.microsoft.com/office/drawing/2014/main" id="{1C428416-5F5B-4994-85E0-A92D07FA8A1B}"/>
              </a:ext>
            </a:extLst>
          </p:cNvPr>
          <p:cNvSpPr>
            <a:spLocks xmlns:a="http://schemas.openxmlformats.org/drawingml/2006/main" noGrp="1"/>
          </p:cNvSpPr>
          <p:nvPr/>
        </p:nvSpPr>
        <p:spPr>
          <a:xfrm xmlns:a="http://schemas.openxmlformats.org/drawingml/2006/main">
            <a:off x="952500" y="17002125"/>
            <a:ext cx="8382000" cy="571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8" name="footer-60">
            <a:extLst xmlns:a="http://schemas.openxmlformats.org/drawingml/2006/main">
              <a:ext uri="{FF2B5EF4-FFF2-40B4-BE49-F238E27FC236}">
                <a16:creationId xmlns:a16="http://schemas.microsoft.com/office/drawing/2014/main" id="{9740513B-44A7-4C14-BC77-9D736A84A095}"/>
              </a:ext>
            </a:extLst>
          </p:cNvPr>
          <p:cNvSpPr>
            <a:spLocks xmlns:a="http://schemas.openxmlformats.org/drawingml/2006/main" noGrp="1"/>
          </p:cNvSpPr>
          <p:nvPr/>
        </p:nvSpPr>
        <p:spPr>
          <a:xfrm xmlns:a="http://schemas.openxmlformats.org/drawingml/2006/main">
            <a:off x="952500" y="173355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D9B96C"/>
                </a:solidFill>
                <a:latin typeface="Arial"/>
                <a:ea typeface="Arial"/>
                <a:cs typeface="Arial"/>
              </a:defRPr>
            </a:pPr>
            <a:r>
              <a:rPr sz="1350" b="1">
                <a:solidFill>
                  <a:srgbClr val="D9B96C"/>
                </a:solidFill>
                <a:latin typeface="Arial"/>
                <a:ea typeface="Arial"/>
                <a:cs typeface="Arial"/>
              </a:rPr>
              <a:t>PLAN B - A UTILISER UNIQUEMENT SI NECESSAIRE</a:t>
            </a:r>
          </a:p>
        </p:txBody>
      </p:sp>
    </p:spTree>
    <p:extLst>
      <p:ext uri="{BB962C8B-B14F-4D97-AF65-F5344CB8AC3E}">
        <p14:creationId xmlns:p14="http://schemas.microsoft.com/office/powerpoint/2010/main" val="1815430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2026-08-06T23:04:38.8850000Z</dcterms:created>
  <dcterms:modified xsi:type="dcterms:W3CDTF">2026-08-06T23:04:38.8850000Z</dcterms:modified>
</coreProperties>
</file>